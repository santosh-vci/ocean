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this as the scheduling spine, not a vessel-tracking add-on. The repo already implements the Phase 1 move away from spreadsheet planning: structured demand, constraints, approvals, audit, and governed export inside Coalflow Tower.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scale figures to show why coordination matters: Berau contributes grade-specific mining and jetty flow, while ABL contributes the marine and transshipment network. Throughput depends on the full chain, not on any one asset class in isolation.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present pain is not a lack of data; it is the lack of one governed planning truth. Phase 1 intentionally starts with manual operational inputs and leaves AIS/GPS integration for later, because the first win is eliminating spreadsheet drift and surfacing constraint conflicts.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product thesis: schedule the complete chain from cargo source to customer commitment while keeping planned, live, confirmed, inferred, and recommended state separate. In the repo, that discipline appears in plan versions, trips, assignments, conflicts, overrides, approvals, and audit.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Treat the roadmap as layered capability, not a rewrite. Phase 1 is already proven end to end in the repo: demand intake, tide and bridge windows, schedule generation, dual approval, publishing, audit, and governed export. Phase 2 expands the current scenario shell into real what-if planning.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later phases turn a governed scheduler into an operational control tower. The sequence is deliberate: first capture truth, then simulate, then ingest live events, then optimize and expose role-shaped views across parties.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open questions are the rulebook required for faithful simulation, not loose discovery. The fastest path forward is to validate grade substitution, river windows, fleet pairing, CTS rules, and source-system ownership with operators before hard-coding assumptions.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B45"/>
        </a:solidFill>
      </p:bgPr>
    </p:bg>
    <p:spTree>
      <p:nvGrpSpPr>
        <p:cNvPr id="1" name=""/>
        <p:cNvGrpSpPr/>
        <p:nvPr/>
      </p:nvGrpSpPr>
      <p:grpSpPr>
        <a:xfrm>
          <a:off x="0" y="0"/>
          <a:ext cx="0" cy="0"/>
          <a:chOff x="0" y="0"/>
          <a:chExt cx="0" cy="0"/>
        </a:xfrm>
      </p:grpSpPr>
      <p:sp>
        <p:nvSpPr>
          <p:cNvPr id="2" name="Shape 0"/>
          <p:cNvSpPr/>
          <p:nvPr/>
        </p:nvSpPr>
        <p:spPr>
          <a:xfrm>
            <a:off x="0" y="0"/>
            <a:ext cx="0" cy="5143500"/>
          </a:xfrm>
          <a:prstGeom prst="line">
            <a:avLst/>
          </a:prstGeom>
          <a:noFill/>
          <a:ln w="3810">
            <a:solidFill>
              <a:srgbClr val="FFFFFF">
                <a:alpha val="12000"/>
              </a:srgbClr>
            </a:solidFill>
            <a:prstDash val="solid"/>
          </a:ln>
        </p:spPr>
      </p:sp>
      <p:sp>
        <p:nvSpPr>
          <p:cNvPr id="3" name="Shape 1"/>
          <p:cNvSpPr/>
          <p:nvPr/>
        </p:nvSpPr>
        <p:spPr>
          <a:xfrm>
            <a:off x="475488" y="0"/>
            <a:ext cx="0" cy="5143500"/>
          </a:xfrm>
          <a:prstGeom prst="line">
            <a:avLst/>
          </a:prstGeom>
          <a:noFill/>
          <a:ln w="3810">
            <a:solidFill>
              <a:srgbClr val="FFFFFF">
                <a:alpha val="12000"/>
              </a:srgbClr>
            </a:solidFill>
            <a:prstDash val="solid"/>
          </a:ln>
        </p:spPr>
      </p:sp>
      <p:sp>
        <p:nvSpPr>
          <p:cNvPr id="4" name="Shape 2"/>
          <p:cNvSpPr/>
          <p:nvPr/>
        </p:nvSpPr>
        <p:spPr>
          <a:xfrm>
            <a:off x="950976" y="0"/>
            <a:ext cx="0" cy="5143500"/>
          </a:xfrm>
          <a:prstGeom prst="line">
            <a:avLst/>
          </a:prstGeom>
          <a:noFill/>
          <a:ln w="3810">
            <a:solidFill>
              <a:srgbClr val="FFFFFF">
                <a:alpha val="12000"/>
              </a:srgbClr>
            </a:solidFill>
            <a:prstDash val="solid"/>
          </a:ln>
        </p:spPr>
      </p:sp>
      <p:sp>
        <p:nvSpPr>
          <p:cNvPr id="5" name="Shape 3"/>
          <p:cNvSpPr/>
          <p:nvPr/>
        </p:nvSpPr>
        <p:spPr>
          <a:xfrm>
            <a:off x="1426464" y="0"/>
            <a:ext cx="0" cy="5143500"/>
          </a:xfrm>
          <a:prstGeom prst="line">
            <a:avLst/>
          </a:prstGeom>
          <a:noFill/>
          <a:ln w="3810">
            <a:solidFill>
              <a:srgbClr val="FFFFFF">
                <a:alpha val="12000"/>
              </a:srgbClr>
            </a:solidFill>
            <a:prstDash val="solid"/>
          </a:ln>
        </p:spPr>
      </p:sp>
      <p:sp>
        <p:nvSpPr>
          <p:cNvPr id="6" name="Shape 4"/>
          <p:cNvSpPr/>
          <p:nvPr/>
        </p:nvSpPr>
        <p:spPr>
          <a:xfrm>
            <a:off x="1901952" y="0"/>
            <a:ext cx="0" cy="5143500"/>
          </a:xfrm>
          <a:prstGeom prst="line">
            <a:avLst/>
          </a:prstGeom>
          <a:noFill/>
          <a:ln w="3810">
            <a:solidFill>
              <a:srgbClr val="FFFFFF">
                <a:alpha val="12000"/>
              </a:srgbClr>
            </a:solidFill>
            <a:prstDash val="solid"/>
          </a:ln>
        </p:spPr>
      </p:sp>
      <p:sp>
        <p:nvSpPr>
          <p:cNvPr id="7" name="Shape 5"/>
          <p:cNvSpPr/>
          <p:nvPr/>
        </p:nvSpPr>
        <p:spPr>
          <a:xfrm>
            <a:off x="2377440" y="0"/>
            <a:ext cx="0" cy="5143500"/>
          </a:xfrm>
          <a:prstGeom prst="line">
            <a:avLst/>
          </a:prstGeom>
          <a:noFill/>
          <a:ln w="3810">
            <a:solidFill>
              <a:srgbClr val="FFFFFF">
                <a:alpha val="12000"/>
              </a:srgbClr>
            </a:solidFill>
            <a:prstDash val="solid"/>
          </a:ln>
        </p:spPr>
      </p:sp>
      <p:sp>
        <p:nvSpPr>
          <p:cNvPr id="8" name="Shape 6"/>
          <p:cNvSpPr/>
          <p:nvPr/>
        </p:nvSpPr>
        <p:spPr>
          <a:xfrm>
            <a:off x="2852928" y="0"/>
            <a:ext cx="0" cy="5143500"/>
          </a:xfrm>
          <a:prstGeom prst="line">
            <a:avLst/>
          </a:prstGeom>
          <a:noFill/>
          <a:ln w="3810">
            <a:solidFill>
              <a:srgbClr val="FFFFFF">
                <a:alpha val="12000"/>
              </a:srgbClr>
            </a:solidFill>
            <a:prstDash val="solid"/>
          </a:ln>
        </p:spPr>
      </p:sp>
      <p:sp>
        <p:nvSpPr>
          <p:cNvPr id="9" name="Shape 7"/>
          <p:cNvSpPr/>
          <p:nvPr/>
        </p:nvSpPr>
        <p:spPr>
          <a:xfrm>
            <a:off x="3328416" y="0"/>
            <a:ext cx="0" cy="5143500"/>
          </a:xfrm>
          <a:prstGeom prst="line">
            <a:avLst/>
          </a:prstGeom>
          <a:noFill/>
          <a:ln w="3810">
            <a:solidFill>
              <a:srgbClr val="FFFFFF">
                <a:alpha val="12000"/>
              </a:srgbClr>
            </a:solidFill>
            <a:prstDash val="solid"/>
          </a:ln>
        </p:spPr>
      </p:sp>
      <p:sp>
        <p:nvSpPr>
          <p:cNvPr id="10" name="Shape 8"/>
          <p:cNvSpPr/>
          <p:nvPr/>
        </p:nvSpPr>
        <p:spPr>
          <a:xfrm>
            <a:off x="3803904" y="0"/>
            <a:ext cx="0" cy="5143500"/>
          </a:xfrm>
          <a:prstGeom prst="line">
            <a:avLst/>
          </a:prstGeom>
          <a:noFill/>
          <a:ln w="3810">
            <a:solidFill>
              <a:srgbClr val="FFFFFF">
                <a:alpha val="12000"/>
              </a:srgbClr>
            </a:solidFill>
            <a:prstDash val="solid"/>
          </a:ln>
        </p:spPr>
      </p:sp>
      <p:sp>
        <p:nvSpPr>
          <p:cNvPr id="11" name="Shape 9"/>
          <p:cNvSpPr/>
          <p:nvPr/>
        </p:nvSpPr>
        <p:spPr>
          <a:xfrm>
            <a:off x="4279392" y="0"/>
            <a:ext cx="0" cy="5143500"/>
          </a:xfrm>
          <a:prstGeom prst="line">
            <a:avLst/>
          </a:prstGeom>
          <a:noFill/>
          <a:ln w="3810">
            <a:solidFill>
              <a:srgbClr val="FFFFFF">
                <a:alpha val="12000"/>
              </a:srgbClr>
            </a:solidFill>
            <a:prstDash val="solid"/>
          </a:ln>
        </p:spPr>
      </p:sp>
      <p:sp>
        <p:nvSpPr>
          <p:cNvPr id="12" name="Shape 10"/>
          <p:cNvSpPr/>
          <p:nvPr/>
        </p:nvSpPr>
        <p:spPr>
          <a:xfrm>
            <a:off x="4754880" y="0"/>
            <a:ext cx="0" cy="5143500"/>
          </a:xfrm>
          <a:prstGeom prst="line">
            <a:avLst/>
          </a:prstGeom>
          <a:noFill/>
          <a:ln w="3810">
            <a:solidFill>
              <a:srgbClr val="FFFFFF">
                <a:alpha val="12000"/>
              </a:srgbClr>
            </a:solidFill>
            <a:prstDash val="solid"/>
          </a:ln>
        </p:spPr>
      </p:sp>
      <p:sp>
        <p:nvSpPr>
          <p:cNvPr id="13" name="Shape 11"/>
          <p:cNvSpPr/>
          <p:nvPr/>
        </p:nvSpPr>
        <p:spPr>
          <a:xfrm>
            <a:off x="5230368" y="0"/>
            <a:ext cx="0" cy="5143500"/>
          </a:xfrm>
          <a:prstGeom prst="line">
            <a:avLst/>
          </a:prstGeom>
          <a:noFill/>
          <a:ln w="3810">
            <a:solidFill>
              <a:srgbClr val="FFFFFF">
                <a:alpha val="12000"/>
              </a:srgbClr>
            </a:solidFill>
            <a:prstDash val="solid"/>
          </a:ln>
        </p:spPr>
      </p:sp>
      <p:sp>
        <p:nvSpPr>
          <p:cNvPr id="14" name="Shape 12"/>
          <p:cNvSpPr/>
          <p:nvPr/>
        </p:nvSpPr>
        <p:spPr>
          <a:xfrm>
            <a:off x="5705856" y="0"/>
            <a:ext cx="0" cy="5143500"/>
          </a:xfrm>
          <a:prstGeom prst="line">
            <a:avLst/>
          </a:prstGeom>
          <a:noFill/>
          <a:ln w="3810">
            <a:solidFill>
              <a:srgbClr val="FFFFFF">
                <a:alpha val="12000"/>
              </a:srgbClr>
            </a:solidFill>
            <a:prstDash val="solid"/>
          </a:ln>
        </p:spPr>
      </p:sp>
      <p:sp>
        <p:nvSpPr>
          <p:cNvPr id="15" name="Shape 13"/>
          <p:cNvSpPr/>
          <p:nvPr/>
        </p:nvSpPr>
        <p:spPr>
          <a:xfrm>
            <a:off x="6181344" y="0"/>
            <a:ext cx="0" cy="5143500"/>
          </a:xfrm>
          <a:prstGeom prst="line">
            <a:avLst/>
          </a:prstGeom>
          <a:noFill/>
          <a:ln w="3810">
            <a:solidFill>
              <a:srgbClr val="FFFFFF">
                <a:alpha val="12000"/>
              </a:srgbClr>
            </a:solidFill>
            <a:prstDash val="solid"/>
          </a:ln>
        </p:spPr>
      </p:sp>
      <p:sp>
        <p:nvSpPr>
          <p:cNvPr id="16" name="Shape 14"/>
          <p:cNvSpPr/>
          <p:nvPr/>
        </p:nvSpPr>
        <p:spPr>
          <a:xfrm>
            <a:off x="6656832" y="0"/>
            <a:ext cx="0" cy="5143500"/>
          </a:xfrm>
          <a:prstGeom prst="line">
            <a:avLst/>
          </a:prstGeom>
          <a:noFill/>
          <a:ln w="3810">
            <a:solidFill>
              <a:srgbClr val="FFFFFF">
                <a:alpha val="12000"/>
              </a:srgbClr>
            </a:solidFill>
            <a:prstDash val="solid"/>
          </a:ln>
        </p:spPr>
      </p:sp>
      <p:sp>
        <p:nvSpPr>
          <p:cNvPr id="17" name="Shape 15"/>
          <p:cNvSpPr/>
          <p:nvPr/>
        </p:nvSpPr>
        <p:spPr>
          <a:xfrm>
            <a:off x="7132320" y="0"/>
            <a:ext cx="0" cy="5143500"/>
          </a:xfrm>
          <a:prstGeom prst="line">
            <a:avLst/>
          </a:prstGeom>
          <a:noFill/>
          <a:ln w="3810">
            <a:solidFill>
              <a:srgbClr val="FFFFFF">
                <a:alpha val="12000"/>
              </a:srgbClr>
            </a:solidFill>
            <a:prstDash val="solid"/>
          </a:ln>
        </p:spPr>
      </p:sp>
      <p:sp>
        <p:nvSpPr>
          <p:cNvPr id="18" name="Shape 16"/>
          <p:cNvSpPr/>
          <p:nvPr/>
        </p:nvSpPr>
        <p:spPr>
          <a:xfrm>
            <a:off x="7607808" y="0"/>
            <a:ext cx="0" cy="5143500"/>
          </a:xfrm>
          <a:prstGeom prst="line">
            <a:avLst/>
          </a:prstGeom>
          <a:noFill/>
          <a:ln w="3810">
            <a:solidFill>
              <a:srgbClr val="FFFFFF">
                <a:alpha val="12000"/>
              </a:srgbClr>
            </a:solidFill>
            <a:prstDash val="solid"/>
          </a:ln>
        </p:spPr>
      </p:sp>
      <p:sp>
        <p:nvSpPr>
          <p:cNvPr id="19" name="Shape 17"/>
          <p:cNvSpPr/>
          <p:nvPr/>
        </p:nvSpPr>
        <p:spPr>
          <a:xfrm>
            <a:off x="8083296" y="0"/>
            <a:ext cx="0" cy="5143500"/>
          </a:xfrm>
          <a:prstGeom prst="line">
            <a:avLst/>
          </a:prstGeom>
          <a:noFill/>
          <a:ln w="3810">
            <a:solidFill>
              <a:srgbClr val="FFFFFF">
                <a:alpha val="12000"/>
              </a:srgbClr>
            </a:solidFill>
            <a:prstDash val="solid"/>
          </a:ln>
        </p:spPr>
      </p:sp>
      <p:sp>
        <p:nvSpPr>
          <p:cNvPr id="20" name="Shape 18"/>
          <p:cNvSpPr/>
          <p:nvPr/>
        </p:nvSpPr>
        <p:spPr>
          <a:xfrm>
            <a:off x="8558784" y="0"/>
            <a:ext cx="0" cy="5143500"/>
          </a:xfrm>
          <a:prstGeom prst="line">
            <a:avLst/>
          </a:prstGeom>
          <a:noFill/>
          <a:ln w="3810">
            <a:solidFill>
              <a:srgbClr val="FFFFFF">
                <a:alpha val="12000"/>
              </a:srgbClr>
            </a:solidFill>
            <a:prstDash val="solid"/>
          </a:ln>
        </p:spPr>
      </p:sp>
      <p:sp>
        <p:nvSpPr>
          <p:cNvPr id="21" name="Shape 19"/>
          <p:cNvSpPr/>
          <p:nvPr/>
        </p:nvSpPr>
        <p:spPr>
          <a:xfrm>
            <a:off x="9034272" y="0"/>
            <a:ext cx="0" cy="5143500"/>
          </a:xfrm>
          <a:prstGeom prst="line">
            <a:avLst/>
          </a:prstGeom>
          <a:noFill/>
          <a:ln w="3810">
            <a:solidFill>
              <a:srgbClr val="FFFFFF">
                <a:alpha val="12000"/>
              </a:srgbClr>
            </a:solidFill>
            <a:prstDash val="solid"/>
          </a:ln>
        </p:spPr>
      </p:sp>
      <p:sp>
        <p:nvSpPr>
          <p:cNvPr id="22" name="Text 20"/>
          <p:cNvSpPr/>
          <p:nvPr/>
        </p:nvSpPr>
        <p:spPr>
          <a:xfrm>
            <a:off x="594360" y="1005840"/>
            <a:ext cx="7315200" cy="548640"/>
          </a:xfrm>
          <a:prstGeom prst="rect">
            <a:avLst/>
          </a:prstGeom>
          <a:noFill/>
          <a:ln/>
        </p:spPr>
        <p:txBody>
          <a:bodyPr wrap="square" lIns="0" tIns="0" rIns="0" bIns="0" rtlCol="0" anchor="ctr"/>
          <a:lstStyle/>
          <a:p>
            <a:pPr algn="l" indent="0" marL="0">
              <a:buNone/>
            </a:pPr>
            <a:r>
              <a:rPr lang="en-US" sz="1300" spc="600" kern="0" dirty="0">
                <a:solidFill>
                  <a:srgbClr val="F59E0B"/>
                </a:solidFill>
                <a:latin typeface="Calibri" pitchFamily="34" charset="0"/>
                <a:ea typeface="Calibri" pitchFamily="34" charset="-122"/>
                <a:cs typeface="Calibri" pitchFamily="34" charset="-120"/>
              </a:rPr>
              <a:t>BERAU COAL × ABL</a:t>
            </a:r>
            <a:endParaRPr lang="en-US" sz="1300" dirty="0"/>
          </a:p>
        </p:txBody>
      </p:sp>
      <p:sp>
        <p:nvSpPr>
          <p:cNvPr id="23" name="Text 21"/>
          <p:cNvSpPr/>
          <p:nvPr/>
        </p:nvSpPr>
        <p:spPr>
          <a:xfrm>
            <a:off x="594360" y="1554480"/>
            <a:ext cx="7772400" cy="1371600"/>
          </a:xfrm>
          <a:prstGeom prst="rect">
            <a:avLst/>
          </a:prstGeom>
          <a:noFill/>
          <a:ln/>
        </p:spPr>
        <p:txBody>
          <a:bodyPr wrap="square" lIns="0" tIns="0" rIns="0" bIns="0" rtlCol="0" anchor="ctr"/>
          <a:lstStyle/>
          <a:p>
            <a:pPr algn="l" indent="0" marL="0">
              <a:buNone/>
            </a:pPr>
            <a:r>
              <a:rPr lang="en-US" sz="3600" b="1" dirty="0">
                <a:solidFill>
                  <a:srgbClr val="FFFFFF"/>
                </a:solidFill>
                <a:latin typeface="Calibri" pitchFamily="34" charset="0"/>
                <a:ea typeface="Calibri" pitchFamily="34" charset="-122"/>
                <a:cs typeface="Calibri" pitchFamily="34" charset="-120"/>
              </a:rPr>
              <a:t>Scheduling Simulation</a:t>
            </a:r>
            <a:endParaRPr lang="en-US" sz="3600" dirty="0"/>
          </a:p>
          <a:p>
            <a:pPr algn="l" indent="0" marL="0">
              <a:buNone/>
            </a:pPr>
            <a:r>
              <a:rPr lang="en-US" sz="3600" b="1" dirty="0">
                <a:solidFill>
                  <a:srgbClr val="FFFFFF"/>
                </a:solidFill>
                <a:latin typeface="Calibri" pitchFamily="34" charset="0"/>
                <a:ea typeface="Calibri" pitchFamily="34" charset="-122"/>
                <a:cs typeface="Calibri" pitchFamily="34" charset="-120"/>
              </a:rPr>
              <a:t>&amp; Live Planning Platform</a:t>
            </a:r>
            <a:endParaRPr lang="en-US" sz="3600" dirty="0"/>
          </a:p>
        </p:txBody>
      </p:sp>
      <p:sp>
        <p:nvSpPr>
          <p:cNvPr id="24" name="Text 22"/>
          <p:cNvSpPr/>
          <p:nvPr/>
        </p:nvSpPr>
        <p:spPr>
          <a:xfrm>
            <a:off x="594360" y="3063240"/>
            <a:ext cx="6858000" cy="502920"/>
          </a:xfrm>
          <a:prstGeom prst="rect">
            <a:avLst/>
          </a:prstGeom>
          <a:noFill/>
          <a:ln/>
        </p:spPr>
        <p:txBody>
          <a:bodyPr wrap="square" lIns="0" tIns="0" rIns="0" bIns="0" rtlCol="0" anchor="ctr"/>
          <a:lstStyle/>
          <a:p>
            <a:pPr algn="l" indent="0" marL="0">
              <a:buNone/>
            </a:pPr>
            <a:r>
              <a:rPr lang="en-US" sz="1400" i="1" dirty="0">
                <a:solidFill>
                  <a:srgbClr val="94A3B8"/>
                </a:solidFill>
                <a:latin typeface="Calibri" pitchFamily="34" charset="0"/>
                <a:ea typeface="Calibri" pitchFamily="34" charset="-122"/>
                <a:cs typeface="Calibri" pitchFamily="34" charset="-120"/>
              </a:rPr>
              <a:t>From reactive Excel planning to constraint-aware, real-time operations intelligence</a:t>
            </a:r>
            <a:endParaRPr lang="en-US" sz="1400" dirty="0"/>
          </a:p>
        </p:txBody>
      </p:sp>
      <p:sp>
        <p:nvSpPr>
          <p:cNvPr id="25" name="Shape 23"/>
          <p:cNvSpPr/>
          <p:nvPr/>
        </p:nvSpPr>
        <p:spPr>
          <a:xfrm>
            <a:off x="594360" y="3794760"/>
            <a:ext cx="2286000" cy="0"/>
          </a:xfrm>
          <a:prstGeom prst="line">
            <a:avLst/>
          </a:prstGeom>
          <a:noFill/>
          <a:ln w="25400">
            <a:solidFill>
              <a:srgbClr val="F59E0B"/>
            </a:solidFill>
            <a:prstDash val="solid"/>
          </a:ln>
        </p:spPr>
      </p:sp>
      <p:sp>
        <p:nvSpPr>
          <p:cNvPr id="26" name="Text 24"/>
          <p:cNvSpPr/>
          <p:nvPr/>
        </p:nvSpPr>
        <p:spPr>
          <a:xfrm>
            <a:off x="594360" y="3931920"/>
            <a:ext cx="6400800" cy="320040"/>
          </a:xfrm>
          <a:prstGeom prst="rect">
            <a:avLst/>
          </a:prstGeom>
          <a:noFill/>
          <a:ln/>
        </p:spPr>
        <p:txBody>
          <a:bodyPr wrap="square" lIns="0" tIns="0" rIns="0" bIns="0" rtlCol="0" anchor="ctr"/>
          <a:lstStyle/>
          <a:p>
            <a:pPr algn="l" indent="0" marL="0">
              <a:buNone/>
            </a:pPr>
            <a:r>
              <a:rPr lang="en-US" sz="1050" dirty="0">
                <a:solidFill>
                  <a:srgbClr val="94A3B8"/>
                </a:solidFill>
                <a:latin typeface="Calibri" pitchFamily="34" charset="0"/>
                <a:ea typeface="Calibri" pitchFamily="34" charset="-122"/>
                <a:cs typeface="Calibri" pitchFamily="34" charset="-120"/>
              </a:rPr>
              <a:t>Business Context · Solution Scope · Roadmap</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411480" y="201168"/>
            <a:ext cx="8321040" cy="502920"/>
          </a:xfrm>
          <a:prstGeom prst="rect">
            <a:avLst/>
          </a:prstGeom>
          <a:noFill/>
          <a:ln/>
        </p:spPr>
        <p:txBody>
          <a:bodyPr wrap="square" lIns="0" tIns="0" rIns="0" bIns="0" rtlCol="0" anchor="ctr"/>
          <a:lstStyle/>
          <a:p>
            <a:pPr algn="l" indent="0" marL="0">
              <a:buNone/>
            </a:pPr>
            <a:r>
              <a:rPr lang="en-US" sz="2200" b="1" dirty="0">
                <a:solidFill>
                  <a:srgbClr val="1A2B45"/>
                </a:solidFill>
                <a:latin typeface="Calibri" pitchFamily="34" charset="0"/>
                <a:ea typeface="Calibri" pitchFamily="34" charset="-122"/>
                <a:cs typeface="Calibri" pitchFamily="34" charset="-120"/>
              </a:rPr>
              <a:t>The Two Principals — Scale &amp; Capability</a:t>
            </a:r>
            <a:endParaRPr lang="en-US" sz="2200" dirty="0"/>
          </a:p>
        </p:txBody>
      </p:sp>
      <p:sp>
        <p:nvSpPr>
          <p:cNvPr id="3" name="Shape 1"/>
          <p:cNvSpPr/>
          <p:nvPr/>
        </p:nvSpPr>
        <p:spPr>
          <a:xfrm>
            <a:off x="274320" y="804672"/>
            <a:ext cx="4114800" cy="3977640"/>
          </a:xfrm>
          <a:prstGeom prst="rect">
            <a:avLst/>
          </a:prstGeom>
          <a:solidFill>
            <a:srgbClr val="FFFFFF"/>
          </a:solidFill>
          <a:ln/>
          <a:effectLst>
            <a:outerShdw sx="100000" sy="100000" kx="0" ky="0" algn="bl" rotWithShape="0" blurRad="127000" dist="25400" dir="8100000">
              <a:srgbClr val="000000">
                <a:alpha val="7000"/>
              </a:srgbClr>
            </a:outerShdw>
          </a:effectLst>
        </p:spPr>
      </p:sp>
      <p:sp>
        <p:nvSpPr>
          <p:cNvPr id="4" name="Shape 2"/>
          <p:cNvSpPr/>
          <p:nvPr/>
        </p:nvSpPr>
        <p:spPr>
          <a:xfrm>
            <a:off x="274320" y="804672"/>
            <a:ext cx="4114800" cy="420624"/>
          </a:xfrm>
          <a:prstGeom prst="rect">
            <a:avLst/>
          </a:prstGeom>
          <a:solidFill>
            <a:srgbClr val="1A2B45"/>
          </a:solidFill>
          <a:ln/>
        </p:spPr>
      </p:sp>
      <p:sp>
        <p:nvSpPr>
          <p:cNvPr id="5" name="Text 3"/>
          <p:cNvSpPr/>
          <p:nvPr/>
        </p:nvSpPr>
        <p:spPr>
          <a:xfrm>
            <a:off x="320040" y="804672"/>
            <a:ext cx="4023360" cy="420624"/>
          </a:xfrm>
          <a:prstGeom prst="rect">
            <a:avLst/>
          </a:prstGeom>
          <a:noFill/>
          <a:ln/>
        </p:spPr>
        <p:txBody>
          <a:bodyPr wrap="square" lIns="50800" tIns="50800" rIns="50800" bIns="5080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BERAU COAL ENERGY — Mining Operations</a:t>
            </a:r>
            <a:endParaRPr lang="en-US" sz="950" dirty="0"/>
          </a:p>
        </p:txBody>
      </p:sp>
      <p:sp>
        <p:nvSpPr>
          <p:cNvPr id="6" name="Shape 4"/>
          <p:cNvSpPr/>
          <p:nvPr/>
        </p:nvSpPr>
        <p:spPr>
          <a:xfrm>
            <a:off x="384048" y="1298448"/>
            <a:ext cx="1783080" cy="804672"/>
          </a:xfrm>
          <a:prstGeom prst="rect">
            <a:avLst/>
          </a:prstGeom>
          <a:solidFill>
            <a:srgbClr val="F7F9FC"/>
          </a:solidFill>
          <a:ln/>
          <a:effectLst>
            <a:outerShdw sx="100000" sy="100000" kx="0" ky="0" algn="bl" rotWithShape="0" blurRad="101600" dist="25400" dir="8100000">
              <a:srgbClr val="000000">
                <a:alpha val="8000"/>
              </a:srgbClr>
            </a:outerShdw>
          </a:effectLst>
        </p:spPr>
      </p:sp>
      <p:sp>
        <p:nvSpPr>
          <p:cNvPr id="7" name="Text 5"/>
          <p:cNvSpPr/>
          <p:nvPr/>
        </p:nvSpPr>
        <p:spPr>
          <a:xfrm>
            <a:off x="384048" y="1371600"/>
            <a:ext cx="1783080" cy="442570"/>
          </a:xfrm>
          <a:prstGeom prst="rect">
            <a:avLst/>
          </a:prstGeom>
          <a:noFill/>
          <a:ln/>
        </p:spPr>
        <p:txBody>
          <a:bodyPr wrap="square" lIns="0" tIns="0" rIns="0" bIns="0" rtlCol="0" anchor="b"/>
          <a:lstStyle/>
          <a:p>
            <a:pPr algn="ctr" indent="0" marL="0">
              <a:buNone/>
            </a:pPr>
            <a:r>
              <a:rPr lang="en-US" sz="2800" b="1" dirty="0">
                <a:solidFill>
                  <a:srgbClr val="2563EB"/>
                </a:solidFill>
                <a:latin typeface="Calibri" pitchFamily="34" charset="0"/>
                <a:ea typeface="Calibri" pitchFamily="34" charset="-122"/>
                <a:cs typeface="Calibri" pitchFamily="34" charset="-120"/>
              </a:rPr>
              <a:t>108,900 ha</a:t>
            </a:r>
            <a:endParaRPr lang="en-US" sz="2800" dirty="0"/>
          </a:p>
        </p:txBody>
      </p:sp>
      <p:sp>
        <p:nvSpPr>
          <p:cNvPr id="8" name="Text 6"/>
          <p:cNvSpPr/>
          <p:nvPr/>
        </p:nvSpPr>
        <p:spPr>
          <a:xfrm>
            <a:off x="384048" y="1781251"/>
            <a:ext cx="1783080" cy="321869"/>
          </a:xfrm>
          <a:prstGeom prst="rect">
            <a:avLst/>
          </a:prstGeom>
          <a:noFill/>
          <a:ln/>
        </p:spPr>
        <p:txBody>
          <a:bodyPr wrap="square" lIns="0" tIns="0" rIns="0" bIns="0" rtlCol="0" anchor="t"/>
          <a:lstStyle/>
          <a:p>
            <a:pPr algn="ctr" indent="0" marL="0">
              <a:buNone/>
            </a:pPr>
            <a:r>
              <a:rPr lang="en-US" sz="950" dirty="0">
                <a:solidFill>
                  <a:srgbClr val="475569"/>
                </a:solidFill>
                <a:latin typeface="Calibri" pitchFamily="34" charset="0"/>
                <a:ea typeface="Calibri" pitchFamily="34" charset="-122"/>
                <a:cs typeface="Calibri" pitchFamily="34" charset="-120"/>
              </a:rPr>
              <a:t>Mining Concession</a:t>
            </a:r>
            <a:endParaRPr lang="en-US" sz="950" dirty="0"/>
          </a:p>
          <a:p>
            <a:pPr algn="ctr" indent="0" marL="0">
              <a:buNone/>
            </a:pPr>
            <a:r>
              <a:rPr lang="en-US" sz="950" dirty="0">
                <a:solidFill>
                  <a:srgbClr val="475569"/>
                </a:solidFill>
                <a:latin typeface="Calibri" pitchFamily="34" charset="0"/>
                <a:ea typeface="Calibri" pitchFamily="34" charset="-122"/>
                <a:cs typeface="Calibri" pitchFamily="34" charset="-120"/>
              </a:rPr>
              <a:t>(Berau Regency, E. Kalimantan)</a:t>
            </a:r>
            <a:endParaRPr lang="en-US" sz="950" dirty="0"/>
          </a:p>
        </p:txBody>
      </p:sp>
      <p:sp>
        <p:nvSpPr>
          <p:cNvPr id="9" name="Shape 7"/>
          <p:cNvSpPr/>
          <p:nvPr/>
        </p:nvSpPr>
        <p:spPr>
          <a:xfrm>
            <a:off x="2240280" y="1298448"/>
            <a:ext cx="1783080" cy="804672"/>
          </a:xfrm>
          <a:prstGeom prst="rect">
            <a:avLst/>
          </a:prstGeom>
          <a:solidFill>
            <a:srgbClr val="F7F9FC"/>
          </a:solidFill>
          <a:ln/>
          <a:effectLst>
            <a:outerShdw sx="100000" sy="100000" kx="0" ky="0" algn="bl" rotWithShape="0" blurRad="101600" dist="25400" dir="8100000">
              <a:srgbClr val="000000">
                <a:alpha val="8000"/>
              </a:srgbClr>
            </a:outerShdw>
          </a:effectLst>
        </p:spPr>
      </p:sp>
      <p:sp>
        <p:nvSpPr>
          <p:cNvPr id="10" name="Text 8"/>
          <p:cNvSpPr/>
          <p:nvPr/>
        </p:nvSpPr>
        <p:spPr>
          <a:xfrm>
            <a:off x="2240280" y="1371600"/>
            <a:ext cx="1783080" cy="442570"/>
          </a:xfrm>
          <a:prstGeom prst="rect">
            <a:avLst/>
          </a:prstGeom>
          <a:noFill/>
          <a:ln/>
        </p:spPr>
        <p:txBody>
          <a:bodyPr wrap="square" lIns="0" tIns="0" rIns="0" bIns="0" rtlCol="0" anchor="b"/>
          <a:lstStyle/>
          <a:p>
            <a:pPr algn="ctr" indent="0" marL="0">
              <a:buNone/>
            </a:pPr>
            <a:r>
              <a:rPr lang="en-US" sz="2800" b="1" dirty="0">
                <a:solidFill>
                  <a:srgbClr val="2563EB"/>
                </a:solidFill>
                <a:latin typeface="Calibri" pitchFamily="34" charset="0"/>
                <a:ea typeface="Calibri" pitchFamily="34" charset="-122"/>
                <a:cs typeface="Calibri" pitchFamily="34" charset="-120"/>
              </a:rPr>
              <a:t>~300 km</a:t>
            </a:r>
            <a:endParaRPr lang="en-US" sz="2800" dirty="0"/>
          </a:p>
        </p:txBody>
      </p:sp>
      <p:sp>
        <p:nvSpPr>
          <p:cNvPr id="11" name="Text 9"/>
          <p:cNvSpPr/>
          <p:nvPr/>
        </p:nvSpPr>
        <p:spPr>
          <a:xfrm>
            <a:off x="2240280" y="1781251"/>
            <a:ext cx="1783080" cy="321869"/>
          </a:xfrm>
          <a:prstGeom prst="rect">
            <a:avLst/>
          </a:prstGeom>
          <a:noFill/>
          <a:ln/>
        </p:spPr>
        <p:txBody>
          <a:bodyPr wrap="square" lIns="0" tIns="0" rIns="0" bIns="0" rtlCol="0" anchor="t"/>
          <a:lstStyle/>
          <a:p>
            <a:pPr algn="ctr" indent="0" marL="0">
              <a:buNone/>
            </a:pPr>
            <a:r>
              <a:rPr lang="en-US" sz="950" dirty="0">
                <a:solidFill>
                  <a:srgbClr val="475569"/>
                </a:solidFill>
                <a:latin typeface="Calibri" pitchFamily="34" charset="0"/>
                <a:ea typeface="Calibri" pitchFamily="34" charset="-122"/>
                <a:cs typeface="Calibri" pitchFamily="34" charset="-120"/>
              </a:rPr>
              <a:t>North of Samarinda —</a:t>
            </a:r>
            <a:endParaRPr lang="en-US" sz="950" dirty="0"/>
          </a:p>
          <a:p>
            <a:pPr algn="ctr" indent="0" marL="0">
              <a:buNone/>
            </a:pPr>
            <a:r>
              <a:rPr lang="en-US" sz="950" dirty="0">
                <a:solidFill>
                  <a:srgbClr val="475569"/>
                </a:solidFill>
                <a:latin typeface="Calibri" pitchFamily="34" charset="0"/>
                <a:ea typeface="Calibri" pitchFamily="34" charset="-122"/>
                <a:cs typeface="Calibri" pitchFamily="34" charset="-120"/>
              </a:rPr>
              <a:t>Remote River Logistics</a:t>
            </a:r>
            <a:endParaRPr lang="en-US" sz="950" dirty="0"/>
          </a:p>
        </p:txBody>
      </p:sp>
      <p:sp>
        <p:nvSpPr>
          <p:cNvPr id="12" name="Shape 10"/>
          <p:cNvSpPr/>
          <p:nvPr/>
        </p:nvSpPr>
        <p:spPr>
          <a:xfrm>
            <a:off x="384048" y="2176272"/>
            <a:ext cx="1783080" cy="804672"/>
          </a:xfrm>
          <a:prstGeom prst="rect">
            <a:avLst/>
          </a:prstGeom>
          <a:solidFill>
            <a:srgbClr val="F7F9FC"/>
          </a:solidFill>
          <a:ln/>
          <a:effectLst>
            <a:outerShdw sx="100000" sy="100000" kx="0" ky="0" algn="bl" rotWithShape="0" blurRad="101600" dist="25400" dir="8100000">
              <a:srgbClr val="000000">
                <a:alpha val="8000"/>
              </a:srgbClr>
            </a:outerShdw>
          </a:effectLst>
        </p:spPr>
      </p:sp>
      <p:sp>
        <p:nvSpPr>
          <p:cNvPr id="13" name="Text 11"/>
          <p:cNvSpPr/>
          <p:nvPr/>
        </p:nvSpPr>
        <p:spPr>
          <a:xfrm>
            <a:off x="384048" y="2249424"/>
            <a:ext cx="1783080" cy="442570"/>
          </a:xfrm>
          <a:prstGeom prst="rect">
            <a:avLst/>
          </a:prstGeom>
          <a:noFill/>
          <a:ln/>
        </p:spPr>
        <p:txBody>
          <a:bodyPr wrap="square" lIns="0" tIns="0" rIns="0" bIns="0" rtlCol="0" anchor="b"/>
          <a:lstStyle/>
          <a:p>
            <a:pPr algn="ctr" indent="0" marL="0">
              <a:buNone/>
            </a:pPr>
            <a:r>
              <a:rPr lang="en-US" sz="2800" b="1" dirty="0">
                <a:solidFill>
                  <a:srgbClr val="2563EB"/>
                </a:solidFill>
                <a:latin typeface="Calibri" pitchFamily="34" charset="0"/>
                <a:ea typeface="Calibri" pitchFamily="34" charset="-122"/>
                <a:cs typeface="Calibri" pitchFamily="34" charset="-120"/>
              </a:rPr>
              <a:t>3 Mines</a:t>
            </a:r>
            <a:endParaRPr lang="en-US" sz="2800" dirty="0"/>
          </a:p>
        </p:txBody>
      </p:sp>
      <p:sp>
        <p:nvSpPr>
          <p:cNvPr id="14" name="Text 12"/>
          <p:cNvSpPr/>
          <p:nvPr/>
        </p:nvSpPr>
        <p:spPr>
          <a:xfrm>
            <a:off x="384048" y="2659075"/>
            <a:ext cx="1783080" cy="321869"/>
          </a:xfrm>
          <a:prstGeom prst="rect">
            <a:avLst/>
          </a:prstGeom>
          <a:noFill/>
          <a:ln/>
        </p:spPr>
        <p:txBody>
          <a:bodyPr wrap="square" lIns="0" tIns="0" rIns="0" bIns="0" rtlCol="0" anchor="t"/>
          <a:lstStyle/>
          <a:p>
            <a:pPr algn="ctr" indent="0" marL="0">
              <a:buNone/>
            </a:pPr>
            <a:r>
              <a:rPr lang="en-US" sz="950" dirty="0">
                <a:solidFill>
                  <a:srgbClr val="475569"/>
                </a:solidFill>
                <a:latin typeface="Calibri" pitchFamily="34" charset="0"/>
                <a:ea typeface="Calibri" pitchFamily="34" charset="-122"/>
                <a:cs typeface="Calibri" pitchFamily="34" charset="-120"/>
              </a:rPr>
              <a:t>Lati · Binungan</a:t>
            </a:r>
            <a:endParaRPr lang="en-US" sz="950" dirty="0"/>
          </a:p>
          <a:p>
            <a:pPr algn="ctr" indent="0" marL="0">
              <a:buNone/>
            </a:pPr>
            <a:r>
              <a:rPr lang="en-US" sz="950" dirty="0">
                <a:solidFill>
                  <a:srgbClr val="475569"/>
                </a:solidFill>
                <a:latin typeface="Calibri" pitchFamily="34" charset="0"/>
                <a:ea typeface="Calibri" pitchFamily="34" charset="-122"/>
                <a:cs typeface="Calibri" pitchFamily="34" charset="-120"/>
              </a:rPr>
              <a:t>· Sambarata</a:t>
            </a:r>
            <a:endParaRPr lang="en-US" sz="950" dirty="0"/>
          </a:p>
        </p:txBody>
      </p:sp>
      <p:sp>
        <p:nvSpPr>
          <p:cNvPr id="15" name="Shape 13"/>
          <p:cNvSpPr/>
          <p:nvPr/>
        </p:nvSpPr>
        <p:spPr>
          <a:xfrm>
            <a:off x="2240280" y="2176272"/>
            <a:ext cx="1783080" cy="804672"/>
          </a:xfrm>
          <a:prstGeom prst="rect">
            <a:avLst/>
          </a:prstGeom>
          <a:solidFill>
            <a:srgbClr val="F7F9FC"/>
          </a:solidFill>
          <a:ln/>
          <a:effectLst>
            <a:outerShdw sx="100000" sy="100000" kx="0" ky="0" algn="bl" rotWithShape="0" blurRad="101600" dist="25400" dir="8100000">
              <a:srgbClr val="000000">
                <a:alpha val="8000"/>
              </a:srgbClr>
            </a:outerShdw>
          </a:effectLst>
        </p:spPr>
      </p:sp>
      <p:sp>
        <p:nvSpPr>
          <p:cNvPr id="16" name="Text 14"/>
          <p:cNvSpPr/>
          <p:nvPr/>
        </p:nvSpPr>
        <p:spPr>
          <a:xfrm>
            <a:off x="2240280" y="2249424"/>
            <a:ext cx="1783080" cy="442570"/>
          </a:xfrm>
          <a:prstGeom prst="rect">
            <a:avLst/>
          </a:prstGeom>
          <a:noFill/>
          <a:ln/>
        </p:spPr>
        <p:txBody>
          <a:bodyPr wrap="square" lIns="0" tIns="0" rIns="0" bIns="0" rtlCol="0" anchor="b"/>
          <a:lstStyle/>
          <a:p>
            <a:pPr algn="ctr" indent="0" marL="0">
              <a:buNone/>
            </a:pPr>
            <a:r>
              <a:rPr lang="en-US" sz="2800" b="1" dirty="0">
                <a:solidFill>
                  <a:srgbClr val="2563EB"/>
                </a:solidFill>
                <a:latin typeface="Calibri" pitchFamily="34" charset="0"/>
                <a:ea typeface="Calibri" pitchFamily="34" charset="-122"/>
                <a:cs typeface="Calibri" pitchFamily="34" charset="-120"/>
              </a:rPr>
              <a:t>5 Brands</a:t>
            </a:r>
            <a:endParaRPr lang="en-US" sz="2800" dirty="0"/>
          </a:p>
        </p:txBody>
      </p:sp>
      <p:sp>
        <p:nvSpPr>
          <p:cNvPr id="17" name="Text 15"/>
          <p:cNvSpPr/>
          <p:nvPr/>
        </p:nvSpPr>
        <p:spPr>
          <a:xfrm>
            <a:off x="2240280" y="2659075"/>
            <a:ext cx="1783080" cy="321869"/>
          </a:xfrm>
          <a:prstGeom prst="rect">
            <a:avLst/>
          </a:prstGeom>
          <a:noFill/>
          <a:ln/>
        </p:spPr>
        <p:txBody>
          <a:bodyPr wrap="square" lIns="0" tIns="0" rIns="0" bIns="0" rtlCol="0" anchor="t"/>
          <a:lstStyle/>
          <a:p>
            <a:pPr algn="ctr" indent="0" marL="0">
              <a:buNone/>
            </a:pPr>
            <a:r>
              <a:rPr lang="en-US" sz="950" dirty="0">
                <a:solidFill>
                  <a:srgbClr val="475569"/>
                </a:solidFill>
                <a:latin typeface="Calibri" pitchFamily="34" charset="0"/>
                <a:ea typeface="Calibri" pitchFamily="34" charset="-122"/>
                <a:cs typeface="Calibri" pitchFamily="34" charset="-120"/>
              </a:rPr>
              <a:t>Ebony · Mahoni</a:t>
            </a:r>
            <a:endParaRPr lang="en-US" sz="950" dirty="0"/>
          </a:p>
          <a:p>
            <a:pPr algn="ctr" indent="0" marL="0">
              <a:buNone/>
            </a:pPr>
            <a:r>
              <a:rPr lang="en-US" sz="950" dirty="0">
                <a:solidFill>
                  <a:srgbClr val="475569"/>
                </a:solidFill>
                <a:latin typeface="Calibri" pitchFamily="34" charset="0"/>
                <a:ea typeface="Calibri" pitchFamily="34" charset="-122"/>
                <a:cs typeface="Calibri" pitchFamily="34" charset="-120"/>
              </a:rPr>
              <a:t>Agathis · Sungkai · Mahoni-B</a:t>
            </a:r>
            <a:endParaRPr lang="en-US" sz="950" dirty="0"/>
          </a:p>
        </p:txBody>
      </p:sp>
      <p:sp>
        <p:nvSpPr>
          <p:cNvPr id="18" name="Shape 16"/>
          <p:cNvSpPr/>
          <p:nvPr/>
        </p:nvSpPr>
        <p:spPr>
          <a:xfrm>
            <a:off x="384048" y="3054096"/>
            <a:ext cx="1783080" cy="804672"/>
          </a:xfrm>
          <a:prstGeom prst="rect">
            <a:avLst/>
          </a:prstGeom>
          <a:solidFill>
            <a:srgbClr val="F7F9FC"/>
          </a:solidFill>
          <a:ln/>
          <a:effectLst>
            <a:outerShdw sx="100000" sy="100000" kx="0" ky="0" algn="bl" rotWithShape="0" blurRad="101600" dist="25400" dir="8100000">
              <a:srgbClr val="000000">
                <a:alpha val="8000"/>
              </a:srgbClr>
            </a:outerShdw>
          </a:effectLst>
        </p:spPr>
      </p:sp>
      <p:sp>
        <p:nvSpPr>
          <p:cNvPr id="19" name="Text 17"/>
          <p:cNvSpPr/>
          <p:nvPr/>
        </p:nvSpPr>
        <p:spPr>
          <a:xfrm>
            <a:off x="384048" y="3127248"/>
            <a:ext cx="1783080" cy="442570"/>
          </a:xfrm>
          <a:prstGeom prst="rect">
            <a:avLst/>
          </a:prstGeom>
          <a:noFill/>
          <a:ln/>
        </p:spPr>
        <p:txBody>
          <a:bodyPr wrap="square" lIns="0" tIns="0" rIns="0" bIns="0" rtlCol="0" anchor="b"/>
          <a:lstStyle/>
          <a:p>
            <a:pPr algn="ctr" indent="0" marL="0">
              <a:buNone/>
            </a:pPr>
            <a:r>
              <a:rPr lang="en-US" sz="2800" b="1" dirty="0">
                <a:solidFill>
                  <a:srgbClr val="2563EB"/>
                </a:solidFill>
                <a:latin typeface="Calibri" pitchFamily="34" charset="0"/>
                <a:ea typeface="Calibri" pitchFamily="34" charset="-122"/>
                <a:cs typeface="Calibri" pitchFamily="34" charset="-120"/>
              </a:rPr>
              <a:t>~6 MT/yr</a:t>
            </a:r>
            <a:endParaRPr lang="en-US" sz="2800" dirty="0"/>
          </a:p>
        </p:txBody>
      </p:sp>
      <p:sp>
        <p:nvSpPr>
          <p:cNvPr id="20" name="Text 18"/>
          <p:cNvSpPr/>
          <p:nvPr/>
        </p:nvSpPr>
        <p:spPr>
          <a:xfrm>
            <a:off x="384048" y="3536899"/>
            <a:ext cx="1783080" cy="321869"/>
          </a:xfrm>
          <a:prstGeom prst="rect">
            <a:avLst/>
          </a:prstGeom>
          <a:noFill/>
          <a:ln/>
        </p:spPr>
        <p:txBody>
          <a:bodyPr wrap="square" lIns="0" tIns="0" rIns="0" bIns="0" rtlCol="0" anchor="t"/>
          <a:lstStyle/>
          <a:p>
            <a:pPr algn="ctr" indent="0" marL="0">
              <a:buNone/>
            </a:pPr>
            <a:r>
              <a:rPr lang="en-US" sz="950" dirty="0">
                <a:solidFill>
                  <a:srgbClr val="475569"/>
                </a:solidFill>
                <a:latin typeface="Calibri" pitchFamily="34" charset="0"/>
                <a:ea typeface="Calibri" pitchFamily="34" charset="-122"/>
                <a:cs typeface="Calibri" pitchFamily="34" charset="-120"/>
              </a:rPr>
              <a:t>Jetty Gurimbang</a:t>
            </a:r>
            <a:endParaRPr lang="en-US" sz="950" dirty="0"/>
          </a:p>
          <a:p>
            <a:pPr algn="ctr" indent="0" marL="0">
              <a:buNone/>
            </a:pPr>
            <a:r>
              <a:rPr lang="en-US" sz="950" dirty="0">
                <a:solidFill>
                  <a:srgbClr val="475569"/>
                </a:solidFill>
                <a:latin typeface="Calibri" pitchFamily="34" charset="0"/>
                <a:ea typeface="Calibri" pitchFamily="34" charset="-122"/>
                <a:cs typeface="Calibri" pitchFamily="34" charset="-120"/>
              </a:rPr>
              <a:t>Port Throughput</a:t>
            </a:r>
            <a:endParaRPr lang="en-US" sz="950" dirty="0"/>
          </a:p>
        </p:txBody>
      </p:sp>
      <p:sp>
        <p:nvSpPr>
          <p:cNvPr id="21" name="Shape 19"/>
          <p:cNvSpPr/>
          <p:nvPr/>
        </p:nvSpPr>
        <p:spPr>
          <a:xfrm>
            <a:off x="2240280" y="3054096"/>
            <a:ext cx="1783080" cy="804672"/>
          </a:xfrm>
          <a:prstGeom prst="rect">
            <a:avLst/>
          </a:prstGeom>
          <a:solidFill>
            <a:srgbClr val="F7F9FC"/>
          </a:solidFill>
          <a:ln/>
          <a:effectLst>
            <a:outerShdw sx="100000" sy="100000" kx="0" ky="0" algn="bl" rotWithShape="0" blurRad="101600" dist="25400" dir="8100000">
              <a:srgbClr val="000000">
                <a:alpha val="8000"/>
              </a:srgbClr>
            </a:outerShdw>
          </a:effectLst>
        </p:spPr>
      </p:sp>
      <p:sp>
        <p:nvSpPr>
          <p:cNvPr id="22" name="Text 20"/>
          <p:cNvSpPr/>
          <p:nvPr/>
        </p:nvSpPr>
        <p:spPr>
          <a:xfrm>
            <a:off x="2240280" y="3127248"/>
            <a:ext cx="1783080" cy="442570"/>
          </a:xfrm>
          <a:prstGeom prst="rect">
            <a:avLst/>
          </a:prstGeom>
          <a:noFill/>
          <a:ln/>
        </p:spPr>
        <p:txBody>
          <a:bodyPr wrap="square" lIns="0" tIns="0" rIns="0" bIns="0" rtlCol="0" anchor="b"/>
          <a:lstStyle/>
          <a:p>
            <a:pPr algn="ctr" indent="0" marL="0">
              <a:buNone/>
            </a:pPr>
            <a:r>
              <a:rPr lang="en-US" sz="2800" b="1" dirty="0">
                <a:solidFill>
                  <a:srgbClr val="2563EB"/>
                </a:solidFill>
                <a:latin typeface="Calibri" pitchFamily="34" charset="0"/>
                <a:ea typeface="Calibri" pitchFamily="34" charset="-122"/>
                <a:cs typeface="Calibri" pitchFamily="34" charset="-120"/>
              </a:rPr>
              <a:t>Asia</a:t>
            </a:r>
            <a:endParaRPr lang="en-US" sz="2800" dirty="0"/>
          </a:p>
        </p:txBody>
      </p:sp>
      <p:sp>
        <p:nvSpPr>
          <p:cNvPr id="23" name="Text 21"/>
          <p:cNvSpPr/>
          <p:nvPr/>
        </p:nvSpPr>
        <p:spPr>
          <a:xfrm>
            <a:off x="2240280" y="3536899"/>
            <a:ext cx="1783080" cy="321869"/>
          </a:xfrm>
          <a:prstGeom prst="rect">
            <a:avLst/>
          </a:prstGeom>
          <a:noFill/>
          <a:ln/>
        </p:spPr>
        <p:txBody>
          <a:bodyPr wrap="square" lIns="0" tIns="0" rIns="0" bIns="0" rtlCol="0" anchor="t"/>
          <a:lstStyle/>
          <a:p>
            <a:pPr algn="ctr" indent="0" marL="0">
              <a:buNone/>
            </a:pPr>
            <a:r>
              <a:rPr lang="en-US" sz="950" dirty="0">
                <a:solidFill>
                  <a:srgbClr val="475569"/>
                </a:solidFill>
                <a:latin typeface="Calibri" pitchFamily="34" charset="0"/>
                <a:ea typeface="Calibri" pitchFamily="34" charset="-122"/>
                <a:cs typeface="Calibri" pitchFamily="34" charset="-120"/>
              </a:rPr>
              <a:t>Key Export Markets:</a:t>
            </a:r>
            <a:endParaRPr lang="en-US" sz="950" dirty="0"/>
          </a:p>
          <a:p>
            <a:pPr algn="ctr" indent="0" marL="0">
              <a:buNone/>
            </a:pPr>
            <a:r>
              <a:rPr lang="en-US" sz="950" dirty="0">
                <a:solidFill>
                  <a:srgbClr val="475569"/>
                </a:solidFill>
                <a:latin typeface="Calibri" pitchFamily="34" charset="0"/>
                <a:ea typeface="Calibri" pitchFamily="34" charset="-122"/>
                <a:cs typeface="Calibri" pitchFamily="34" charset="-120"/>
              </a:rPr>
              <a:t>China · India · S. Korea · Taiwan</a:t>
            </a:r>
            <a:endParaRPr lang="en-US" sz="950" dirty="0"/>
          </a:p>
        </p:txBody>
      </p:sp>
      <p:sp>
        <p:nvSpPr>
          <p:cNvPr id="24" name="Text 22"/>
          <p:cNvSpPr/>
          <p:nvPr/>
        </p:nvSpPr>
        <p:spPr>
          <a:xfrm>
            <a:off x="384048" y="3931920"/>
            <a:ext cx="3749040" cy="201168"/>
          </a:xfrm>
          <a:prstGeom prst="rect">
            <a:avLst/>
          </a:prstGeom>
          <a:noFill/>
          <a:ln/>
        </p:spPr>
        <p:txBody>
          <a:bodyPr wrap="square" lIns="0" tIns="0" rIns="0" bIns="0" rtlCol="0" anchor="ctr"/>
          <a:lstStyle/>
          <a:p>
            <a:pPr indent="0" marL="0">
              <a:buNone/>
            </a:pPr>
            <a:r>
              <a:rPr lang="en-US" sz="800" b="1" dirty="0">
                <a:solidFill>
                  <a:srgbClr val="475569"/>
                </a:solidFill>
                <a:latin typeface="Calibri" pitchFamily="34" charset="0"/>
                <a:ea typeface="Calibri" pitchFamily="34" charset="-122"/>
                <a:cs typeface="Calibri" pitchFamily="34" charset="-120"/>
              </a:rPr>
              <a:t>Transshipment Assets (Berau-listed)</a:t>
            </a:r>
            <a:endParaRPr lang="en-US" sz="8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384048" y="4160520"/>
          <a:ext cx="3749040" cy="502920"/>
        </p:xfrm>
        <a:graphic>
          <a:graphicData uri="http://schemas.openxmlformats.org/drawingml/2006/table">
            <a:tbl>
              <a:tblPr/>
              <a:tblGrid>
                <a:gridCol w="1874520"/>
                <a:gridCol w="1874520"/>
              </a:tblGrid>
              <a:tr h="100584">
                <a:tc>
                  <a:txBody>
                    <a:bodyPr/>
                    <a:lstStyle/>
                    <a:p>
                      <a:pPr indent="0" marL="0">
                        <a:buNone/>
                      </a:pPr>
                      <a:r>
                        <a:rPr lang="en-US" sz="750" b="1" dirty="0">
                          <a:solidFill>
                            <a:srgbClr val="1A2B45"/>
                          </a:solidFill>
                          <a:latin typeface="Calibri" pitchFamily="34" charset="0"/>
                          <a:ea typeface="Calibri" pitchFamily="34" charset="-122"/>
                          <a:cs typeface="Calibri" pitchFamily="34" charset="-120"/>
                        </a:rPr>
                        <a:t>Asset</a:t>
                      </a:r>
                      <a:endParaRPr lang="en-US" sz="750" dirty="0">
                        <a:latin typeface="Calibri" charset="0"/>
                        <a:ea typeface="Calibri" charset="0"/>
                        <a:cs typeface="Calibri" charset="0"/>
                      </a:endParaRPr>
                    </a:p>
                  </a:txBody>
                  <a:tcPr marL="91440" marR="91440" marT="45720" marB="45720">
                    <a:lnL w="6350" cap="flat" cmpd="sng" algn="ctr">
                      <a:solidFill>
                        <a:srgbClr val="E8EDF4"/>
                      </a:solidFill>
                      <a:prstDash val="solid"/>
                      <a:round/>
                      <a:headEnd type="none" w="med" len="med"/>
                      <a:tailEnd type="none" w="med" len="med"/>
                    </a:lnL>
                    <a:lnR w="6350" cap="flat" cmpd="sng" algn="ctr">
                      <a:solidFill>
                        <a:srgbClr val="E8EDF4"/>
                      </a:solidFill>
                      <a:prstDash val="solid"/>
                      <a:round/>
                      <a:headEnd type="none" w="med" len="med"/>
                      <a:tailEnd type="none" w="med" len="med"/>
                    </a:lnR>
                    <a:lnT w="6350" cap="flat" cmpd="sng" algn="ctr">
                      <a:solidFill>
                        <a:srgbClr val="E8EDF4"/>
                      </a:solidFill>
                      <a:prstDash val="solid"/>
                      <a:round/>
                      <a:headEnd type="none" w="med" len="med"/>
                      <a:tailEnd type="none" w="med" len="med"/>
                    </a:lnT>
                    <a:lnB w="6350" cap="flat" cmpd="sng" algn="ctr">
                      <a:solidFill>
                        <a:srgbClr val="E8EDF4"/>
                      </a:solidFill>
                      <a:prstDash val="solid"/>
                      <a:round/>
                      <a:headEnd type="none" w="med" len="med"/>
                      <a:tailEnd type="none" w="med" len="med"/>
                    </a:lnB>
                    <a:solidFill>
                      <a:srgbClr val="E8EDF4"/>
                    </a:solidFill>
                  </a:tcPr>
                </a:tc>
                <a:tc>
                  <a:txBody>
                    <a:bodyPr/>
                    <a:lstStyle/>
                    <a:p>
                      <a:pPr indent="0" marL="0">
                        <a:buNone/>
                      </a:pPr>
                      <a:r>
                        <a:rPr lang="en-US" sz="750" b="1" dirty="0">
                          <a:solidFill>
                            <a:srgbClr val="1A2B45"/>
                          </a:solidFill>
                          <a:latin typeface="Calibri" pitchFamily="34" charset="0"/>
                          <a:ea typeface="Calibri" pitchFamily="34" charset="-122"/>
                          <a:cs typeface="Calibri" pitchFamily="34" charset="-120"/>
                        </a:rPr>
                        <a:t>Capacity (MT/day)</a:t>
                      </a:r>
                      <a:endParaRPr lang="en-US" sz="750" dirty="0">
                        <a:latin typeface="Calibri" charset="0"/>
                        <a:ea typeface="Calibri" charset="0"/>
                        <a:cs typeface="Calibri" charset="0"/>
                      </a:endParaRPr>
                    </a:p>
                  </a:txBody>
                  <a:tcPr marL="91440" marR="91440" marT="45720" marB="45720">
                    <a:lnL w="6350" cap="flat" cmpd="sng" algn="ctr">
                      <a:solidFill>
                        <a:srgbClr val="E8EDF4"/>
                      </a:solidFill>
                      <a:prstDash val="solid"/>
                      <a:round/>
                      <a:headEnd type="none" w="med" len="med"/>
                      <a:tailEnd type="none" w="med" len="med"/>
                    </a:lnL>
                    <a:lnR w="6350" cap="flat" cmpd="sng" algn="ctr">
                      <a:solidFill>
                        <a:srgbClr val="E8EDF4"/>
                      </a:solidFill>
                      <a:prstDash val="solid"/>
                      <a:round/>
                      <a:headEnd type="none" w="med" len="med"/>
                      <a:tailEnd type="none" w="med" len="med"/>
                    </a:lnR>
                    <a:lnT w="6350" cap="flat" cmpd="sng" algn="ctr">
                      <a:solidFill>
                        <a:srgbClr val="E8EDF4"/>
                      </a:solidFill>
                      <a:prstDash val="solid"/>
                      <a:round/>
                      <a:headEnd type="none" w="med" len="med"/>
                      <a:tailEnd type="none" w="med" len="med"/>
                    </a:lnT>
                    <a:lnB w="6350" cap="flat" cmpd="sng" algn="ctr">
                      <a:solidFill>
                        <a:srgbClr val="E8EDF4"/>
                      </a:solidFill>
                      <a:prstDash val="solid"/>
                      <a:round/>
                      <a:headEnd type="none" w="med" len="med"/>
                      <a:tailEnd type="none" w="med" len="med"/>
                    </a:lnB>
                    <a:solidFill>
                      <a:srgbClr val="E8EDF4"/>
                    </a:solidFill>
                  </a:tcPr>
                </a:tc>
              </a:tr>
              <a:tr h="100584">
                <a:tc>
                  <a:txBody>
                    <a:bodyPr/>
                    <a:lstStyle/>
                    <a:p>
                      <a:pPr indent="0" marL="0">
                        <a:buNone/>
                      </a:pPr>
                      <a:r>
                        <a:rPr lang="en-US" sz="750" dirty="0">
                          <a:solidFill>
                            <a:srgbClr val="1A2B45"/>
                          </a:solidFill>
                          <a:latin typeface="Calibri" pitchFamily="34" charset="0"/>
                          <a:ea typeface="Calibri" pitchFamily="34" charset="-122"/>
                          <a:cs typeface="Calibri" pitchFamily="34" charset="-120"/>
                        </a:rPr>
                        <a:t>FTS Bulk Borneo</a:t>
                      </a:r>
                      <a:endParaRPr lang="en-US" sz="750" dirty="0">
                        <a:latin typeface="Calibri" charset="0"/>
                        <a:ea typeface="Calibri" charset="0"/>
                        <a:cs typeface="Calibri" charset="0"/>
                      </a:endParaRPr>
                    </a:p>
                  </a:txBody>
                  <a:tcPr marL="91440" marR="91440" marT="45720" marB="45720">
                    <a:lnL w="6350" cap="flat" cmpd="sng" algn="ctr">
                      <a:solidFill>
                        <a:srgbClr val="E8EDF4"/>
                      </a:solidFill>
                      <a:prstDash val="solid"/>
                      <a:round/>
                      <a:headEnd type="none" w="med" len="med"/>
                      <a:tailEnd type="none" w="med" len="med"/>
                    </a:lnL>
                    <a:lnR w="6350" cap="flat" cmpd="sng" algn="ctr">
                      <a:solidFill>
                        <a:srgbClr val="E8EDF4"/>
                      </a:solidFill>
                      <a:prstDash val="solid"/>
                      <a:round/>
                      <a:headEnd type="none" w="med" len="med"/>
                      <a:tailEnd type="none" w="med" len="med"/>
                    </a:lnR>
                    <a:lnT w="6350" cap="flat" cmpd="sng" algn="ctr">
                      <a:solidFill>
                        <a:srgbClr val="E8EDF4"/>
                      </a:solidFill>
                      <a:prstDash val="solid"/>
                      <a:round/>
                      <a:headEnd type="none" w="med" len="med"/>
                      <a:tailEnd type="none" w="med" len="med"/>
                    </a:lnT>
                    <a:lnB w="6350" cap="flat" cmpd="sng" algn="ctr">
                      <a:solidFill>
                        <a:srgbClr val="E8EDF4"/>
                      </a:solidFill>
                      <a:prstDash val="solid"/>
                      <a:round/>
                      <a:headEnd type="none" w="med" len="med"/>
                      <a:tailEnd type="none" w="med" len="med"/>
                    </a:lnB>
                  </a:tcPr>
                </a:tc>
                <a:tc>
                  <a:txBody>
                    <a:bodyPr/>
                    <a:lstStyle/>
                    <a:p>
                      <a:pPr indent="0" marL="0">
                        <a:buNone/>
                      </a:pPr>
                      <a:r>
                        <a:rPr lang="en-US" sz="750" dirty="0">
                          <a:solidFill>
                            <a:srgbClr val="1A2B45"/>
                          </a:solidFill>
                          <a:latin typeface="Calibri" pitchFamily="34" charset="0"/>
                          <a:ea typeface="Calibri" pitchFamily="34" charset="-122"/>
                          <a:cs typeface="Calibri" pitchFamily="34" charset="-120"/>
                        </a:rPr>
                        <a:t>32,000</a:t>
                      </a:r>
                      <a:endParaRPr lang="en-US" sz="750" dirty="0">
                        <a:latin typeface="Calibri" charset="0"/>
                        <a:ea typeface="Calibri" charset="0"/>
                        <a:cs typeface="Calibri" charset="0"/>
                      </a:endParaRPr>
                    </a:p>
                  </a:txBody>
                  <a:tcPr marL="91440" marR="91440" marT="45720" marB="45720">
                    <a:lnL w="6350" cap="flat" cmpd="sng" algn="ctr">
                      <a:solidFill>
                        <a:srgbClr val="E8EDF4"/>
                      </a:solidFill>
                      <a:prstDash val="solid"/>
                      <a:round/>
                      <a:headEnd type="none" w="med" len="med"/>
                      <a:tailEnd type="none" w="med" len="med"/>
                    </a:lnL>
                    <a:lnR w="6350" cap="flat" cmpd="sng" algn="ctr">
                      <a:solidFill>
                        <a:srgbClr val="E8EDF4"/>
                      </a:solidFill>
                      <a:prstDash val="solid"/>
                      <a:round/>
                      <a:headEnd type="none" w="med" len="med"/>
                      <a:tailEnd type="none" w="med" len="med"/>
                    </a:lnR>
                    <a:lnT w="6350" cap="flat" cmpd="sng" algn="ctr">
                      <a:solidFill>
                        <a:srgbClr val="E8EDF4"/>
                      </a:solidFill>
                      <a:prstDash val="solid"/>
                      <a:round/>
                      <a:headEnd type="none" w="med" len="med"/>
                      <a:tailEnd type="none" w="med" len="med"/>
                    </a:lnT>
                    <a:lnB w="6350" cap="flat" cmpd="sng" algn="ctr">
                      <a:solidFill>
                        <a:srgbClr val="E8EDF4"/>
                      </a:solidFill>
                      <a:prstDash val="solid"/>
                      <a:round/>
                      <a:headEnd type="none" w="med" len="med"/>
                      <a:tailEnd type="none" w="med" len="med"/>
                    </a:lnB>
                  </a:tcPr>
                </a:tc>
              </a:tr>
              <a:tr h="100584">
                <a:tc>
                  <a:txBody>
                    <a:bodyPr/>
                    <a:lstStyle/>
                    <a:p>
                      <a:pPr indent="0" marL="0">
                        <a:buNone/>
                      </a:pPr>
                      <a:r>
                        <a:rPr lang="en-US" sz="750" dirty="0">
                          <a:solidFill>
                            <a:srgbClr val="1A2B45"/>
                          </a:solidFill>
                          <a:latin typeface="Calibri" pitchFamily="34" charset="0"/>
                          <a:ea typeface="Calibri" pitchFamily="34" charset="-122"/>
                          <a:cs typeface="Calibri" pitchFamily="34" charset="-120"/>
                        </a:rPr>
                        <a:t>FTS Bulk Sumatera</a:t>
                      </a:r>
                      <a:endParaRPr lang="en-US" sz="750" dirty="0">
                        <a:latin typeface="Calibri" charset="0"/>
                        <a:ea typeface="Calibri" charset="0"/>
                        <a:cs typeface="Calibri" charset="0"/>
                      </a:endParaRPr>
                    </a:p>
                  </a:txBody>
                  <a:tcPr marL="91440" marR="91440" marT="45720" marB="45720">
                    <a:lnL w="6350" cap="flat" cmpd="sng" algn="ctr">
                      <a:solidFill>
                        <a:srgbClr val="E8EDF4"/>
                      </a:solidFill>
                      <a:prstDash val="solid"/>
                      <a:round/>
                      <a:headEnd type="none" w="med" len="med"/>
                      <a:tailEnd type="none" w="med" len="med"/>
                    </a:lnL>
                    <a:lnR w="6350" cap="flat" cmpd="sng" algn="ctr">
                      <a:solidFill>
                        <a:srgbClr val="E8EDF4"/>
                      </a:solidFill>
                      <a:prstDash val="solid"/>
                      <a:round/>
                      <a:headEnd type="none" w="med" len="med"/>
                      <a:tailEnd type="none" w="med" len="med"/>
                    </a:lnR>
                    <a:lnT w="6350" cap="flat" cmpd="sng" algn="ctr">
                      <a:solidFill>
                        <a:srgbClr val="E8EDF4"/>
                      </a:solidFill>
                      <a:prstDash val="solid"/>
                      <a:round/>
                      <a:headEnd type="none" w="med" len="med"/>
                      <a:tailEnd type="none" w="med" len="med"/>
                    </a:lnT>
                    <a:lnB w="6350" cap="flat" cmpd="sng" algn="ctr">
                      <a:solidFill>
                        <a:srgbClr val="E8EDF4"/>
                      </a:solidFill>
                      <a:prstDash val="solid"/>
                      <a:round/>
                      <a:headEnd type="none" w="med" len="med"/>
                      <a:tailEnd type="none" w="med" len="med"/>
                    </a:lnB>
                  </a:tcPr>
                </a:tc>
                <a:tc>
                  <a:txBody>
                    <a:bodyPr/>
                    <a:lstStyle/>
                    <a:p>
                      <a:pPr indent="0" marL="0">
                        <a:buNone/>
                      </a:pPr>
                      <a:r>
                        <a:rPr lang="en-US" sz="750" dirty="0">
                          <a:solidFill>
                            <a:srgbClr val="1A2B45"/>
                          </a:solidFill>
                          <a:latin typeface="Calibri" pitchFamily="34" charset="0"/>
                          <a:ea typeface="Calibri" pitchFamily="34" charset="-122"/>
                          <a:cs typeface="Calibri" pitchFamily="34" charset="-120"/>
                        </a:rPr>
                        <a:t>30,000</a:t>
                      </a:r>
                      <a:endParaRPr lang="en-US" sz="750" dirty="0">
                        <a:latin typeface="Calibri" charset="0"/>
                        <a:ea typeface="Calibri" charset="0"/>
                        <a:cs typeface="Calibri" charset="0"/>
                      </a:endParaRPr>
                    </a:p>
                  </a:txBody>
                  <a:tcPr marL="91440" marR="91440" marT="45720" marB="45720">
                    <a:lnL w="6350" cap="flat" cmpd="sng" algn="ctr">
                      <a:solidFill>
                        <a:srgbClr val="E8EDF4"/>
                      </a:solidFill>
                      <a:prstDash val="solid"/>
                      <a:round/>
                      <a:headEnd type="none" w="med" len="med"/>
                      <a:tailEnd type="none" w="med" len="med"/>
                    </a:lnL>
                    <a:lnR w="6350" cap="flat" cmpd="sng" algn="ctr">
                      <a:solidFill>
                        <a:srgbClr val="E8EDF4"/>
                      </a:solidFill>
                      <a:prstDash val="solid"/>
                      <a:round/>
                      <a:headEnd type="none" w="med" len="med"/>
                      <a:tailEnd type="none" w="med" len="med"/>
                    </a:lnR>
                    <a:lnT w="6350" cap="flat" cmpd="sng" algn="ctr">
                      <a:solidFill>
                        <a:srgbClr val="E8EDF4"/>
                      </a:solidFill>
                      <a:prstDash val="solid"/>
                      <a:round/>
                      <a:headEnd type="none" w="med" len="med"/>
                      <a:tailEnd type="none" w="med" len="med"/>
                    </a:lnT>
                    <a:lnB w="6350" cap="flat" cmpd="sng" algn="ctr">
                      <a:solidFill>
                        <a:srgbClr val="E8EDF4"/>
                      </a:solidFill>
                      <a:prstDash val="solid"/>
                      <a:round/>
                      <a:headEnd type="none" w="med" len="med"/>
                      <a:tailEnd type="none" w="med" len="med"/>
                    </a:lnB>
                  </a:tcPr>
                </a:tc>
              </a:tr>
              <a:tr h="100584">
                <a:tc>
                  <a:txBody>
                    <a:bodyPr/>
                    <a:lstStyle/>
                    <a:p>
                      <a:pPr indent="0" marL="0">
                        <a:buNone/>
                      </a:pPr>
                      <a:r>
                        <a:rPr lang="en-US" sz="750" dirty="0">
                          <a:solidFill>
                            <a:srgbClr val="1A2B45"/>
                          </a:solidFill>
                          <a:latin typeface="Calibri" pitchFamily="34" charset="0"/>
                          <a:ea typeface="Calibri" pitchFamily="34" charset="-122"/>
                          <a:cs typeface="Calibri" pitchFamily="34" charset="-120"/>
                        </a:rPr>
                        <a:t>FC Chloe</a:t>
                      </a:r>
                      <a:endParaRPr lang="en-US" sz="750" dirty="0">
                        <a:latin typeface="Calibri" charset="0"/>
                        <a:ea typeface="Calibri" charset="0"/>
                        <a:cs typeface="Calibri" charset="0"/>
                      </a:endParaRPr>
                    </a:p>
                  </a:txBody>
                  <a:tcPr marL="91440" marR="91440" marT="45720" marB="45720">
                    <a:lnL w="6350" cap="flat" cmpd="sng" algn="ctr">
                      <a:solidFill>
                        <a:srgbClr val="E8EDF4"/>
                      </a:solidFill>
                      <a:prstDash val="solid"/>
                      <a:round/>
                      <a:headEnd type="none" w="med" len="med"/>
                      <a:tailEnd type="none" w="med" len="med"/>
                    </a:lnL>
                    <a:lnR w="6350" cap="flat" cmpd="sng" algn="ctr">
                      <a:solidFill>
                        <a:srgbClr val="E8EDF4"/>
                      </a:solidFill>
                      <a:prstDash val="solid"/>
                      <a:round/>
                      <a:headEnd type="none" w="med" len="med"/>
                      <a:tailEnd type="none" w="med" len="med"/>
                    </a:lnR>
                    <a:lnT w="6350" cap="flat" cmpd="sng" algn="ctr">
                      <a:solidFill>
                        <a:srgbClr val="E8EDF4"/>
                      </a:solidFill>
                      <a:prstDash val="solid"/>
                      <a:round/>
                      <a:headEnd type="none" w="med" len="med"/>
                      <a:tailEnd type="none" w="med" len="med"/>
                    </a:lnT>
                    <a:lnB w="6350" cap="flat" cmpd="sng" algn="ctr">
                      <a:solidFill>
                        <a:srgbClr val="E8EDF4"/>
                      </a:solidFill>
                      <a:prstDash val="solid"/>
                      <a:round/>
                      <a:headEnd type="none" w="med" len="med"/>
                      <a:tailEnd type="none" w="med" len="med"/>
                    </a:lnB>
                  </a:tcPr>
                </a:tc>
                <a:tc>
                  <a:txBody>
                    <a:bodyPr/>
                    <a:lstStyle/>
                    <a:p>
                      <a:pPr indent="0" marL="0">
                        <a:buNone/>
                      </a:pPr>
                      <a:r>
                        <a:rPr lang="en-US" sz="750" dirty="0">
                          <a:solidFill>
                            <a:srgbClr val="1A2B45"/>
                          </a:solidFill>
                          <a:latin typeface="Calibri" pitchFamily="34" charset="0"/>
                          <a:ea typeface="Calibri" pitchFamily="34" charset="-122"/>
                          <a:cs typeface="Calibri" pitchFamily="34" charset="-120"/>
                        </a:rPr>
                        <a:t>30,000</a:t>
                      </a:r>
                      <a:endParaRPr lang="en-US" sz="750" dirty="0">
                        <a:latin typeface="Calibri" charset="0"/>
                        <a:ea typeface="Calibri" charset="0"/>
                        <a:cs typeface="Calibri" charset="0"/>
                      </a:endParaRPr>
                    </a:p>
                  </a:txBody>
                  <a:tcPr marL="91440" marR="91440" marT="45720" marB="45720">
                    <a:lnL w="6350" cap="flat" cmpd="sng" algn="ctr">
                      <a:solidFill>
                        <a:srgbClr val="E8EDF4"/>
                      </a:solidFill>
                      <a:prstDash val="solid"/>
                      <a:round/>
                      <a:headEnd type="none" w="med" len="med"/>
                      <a:tailEnd type="none" w="med" len="med"/>
                    </a:lnL>
                    <a:lnR w="6350" cap="flat" cmpd="sng" algn="ctr">
                      <a:solidFill>
                        <a:srgbClr val="E8EDF4"/>
                      </a:solidFill>
                      <a:prstDash val="solid"/>
                      <a:round/>
                      <a:headEnd type="none" w="med" len="med"/>
                      <a:tailEnd type="none" w="med" len="med"/>
                    </a:lnR>
                    <a:lnT w="6350" cap="flat" cmpd="sng" algn="ctr">
                      <a:solidFill>
                        <a:srgbClr val="E8EDF4"/>
                      </a:solidFill>
                      <a:prstDash val="solid"/>
                      <a:round/>
                      <a:headEnd type="none" w="med" len="med"/>
                      <a:tailEnd type="none" w="med" len="med"/>
                    </a:lnT>
                    <a:lnB w="6350" cap="flat" cmpd="sng" algn="ctr">
                      <a:solidFill>
                        <a:srgbClr val="E8EDF4"/>
                      </a:solidFill>
                      <a:prstDash val="solid"/>
                      <a:round/>
                      <a:headEnd type="none" w="med" len="med"/>
                      <a:tailEnd type="none" w="med" len="med"/>
                    </a:lnB>
                  </a:tcPr>
                </a:tc>
              </a:tr>
              <a:tr h="100584">
                <a:tc>
                  <a:txBody>
                    <a:bodyPr/>
                    <a:lstStyle/>
                    <a:p>
                      <a:pPr indent="0" marL="0">
                        <a:buNone/>
                      </a:pPr>
                      <a:r>
                        <a:rPr lang="en-US" sz="750" dirty="0">
                          <a:solidFill>
                            <a:srgbClr val="1A2B45"/>
                          </a:solidFill>
                          <a:latin typeface="Calibri" pitchFamily="34" charset="0"/>
                          <a:ea typeface="Calibri" pitchFamily="34" charset="-122"/>
                          <a:cs typeface="Calibri" pitchFamily="34" charset="-120"/>
                        </a:rPr>
                        <a:t>FTS Bulk Java</a:t>
                      </a:r>
                      <a:endParaRPr lang="en-US" sz="750" dirty="0">
                        <a:latin typeface="Calibri" charset="0"/>
                        <a:ea typeface="Calibri" charset="0"/>
                        <a:cs typeface="Calibri" charset="0"/>
                      </a:endParaRPr>
                    </a:p>
                  </a:txBody>
                  <a:tcPr marL="91440" marR="91440" marT="45720" marB="45720">
                    <a:lnL w="6350" cap="flat" cmpd="sng" algn="ctr">
                      <a:solidFill>
                        <a:srgbClr val="E8EDF4"/>
                      </a:solidFill>
                      <a:prstDash val="solid"/>
                      <a:round/>
                      <a:headEnd type="none" w="med" len="med"/>
                      <a:tailEnd type="none" w="med" len="med"/>
                    </a:lnL>
                    <a:lnR w="6350" cap="flat" cmpd="sng" algn="ctr">
                      <a:solidFill>
                        <a:srgbClr val="E8EDF4"/>
                      </a:solidFill>
                      <a:prstDash val="solid"/>
                      <a:round/>
                      <a:headEnd type="none" w="med" len="med"/>
                      <a:tailEnd type="none" w="med" len="med"/>
                    </a:lnR>
                    <a:lnT w="6350" cap="flat" cmpd="sng" algn="ctr">
                      <a:solidFill>
                        <a:srgbClr val="E8EDF4"/>
                      </a:solidFill>
                      <a:prstDash val="solid"/>
                      <a:round/>
                      <a:headEnd type="none" w="med" len="med"/>
                      <a:tailEnd type="none" w="med" len="med"/>
                    </a:lnT>
                    <a:lnB w="6350" cap="flat" cmpd="sng" algn="ctr">
                      <a:solidFill>
                        <a:srgbClr val="E8EDF4"/>
                      </a:solidFill>
                      <a:prstDash val="solid"/>
                      <a:round/>
                      <a:headEnd type="none" w="med" len="med"/>
                      <a:tailEnd type="none" w="med" len="med"/>
                    </a:lnB>
                  </a:tcPr>
                </a:tc>
                <a:tc>
                  <a:txBody>
                    <a:bodyPr/>
                    <a:lstStyle/>
                    <a:p>
                      <a:pPr indent="0" marL="0">
                        <a:buNone/>
                      </a:pPr>
                      <a:r>
                        <a:rPr lang="en-US" sz="750" dirty="0">
                          <a:solidFill>
                            <a:srgbClr val="1A2B45"/>
                          </a:solidFill>
                          <a:latin typeface="Calibri" pitchFamily="34" charset="0"/>
                          <a:ea typeface="Calibri" pitchFamily="34" charset="-122"/>
                          <a:cs typeface="Calibri" pitchFamily="34" charset="-120"/>
                        </a:rPr>
                        <a:t>28,000</a:t>
                      </a:r>
                      <a:endParaRPr lang="en-US" sz="750" dirty="0">
                        <a:latin typeface="Calibri" charset="0"/>
                        <a:ea typeface="Calibri" charset="0"/>
                        <a:cs typeface="Calibri" charset="0"/>
                      </a:endParaRPr>
                    </a:p>
                  </a:txBody>
                  <a:tcPr marL="91440" marR="91440" marT="45720" marB="45720">
                    <a:lnL w="6350" cap="flat" cmpd="sng" algn="ctr">
                      <a:solidFill>
                        <a:srgbClr val="E8EDF4"/>
                      </a:solidFill>
                      <a:prstDash val="solid"/>
                      <a:round/>
                      <a:headEnd type="none" w="med" len="med"/>
                      <a:tailEnd type="none" w="med" len="med"/>
                    </a:lnL>
                    <a:lnR w="6350" cap="flat" cmpd="sng" algn="ctr">
                      <a:solidFill>
                        <a:srgbClr val="E8EDF4"/>
                      </a:solidFill>
                      <a:prstDash val="solid"/>
                      <a:round/>
                      <a:headEnd type="none" w="med" len="med"/>
                      <a:tailEnd type="none" w="med" len="med"/>
                    </a:lnR>
                    <a:lnT w="6350" cap="flat" cmpd="sng" algn="ctr">
                      <a:solidFill>
                        <a:srgbClr val="E8EDF4"/>
                      </a:solidFill>
                      <a:prstDash val="solid"/>
                      <a:round/>
                      <a:headEnd type="none" w="med" len="med"/>
                      <a:tailEnd type="none" w="med" len="med"/>
                    </a:lnT>
                    <a:lnB w="6350" cap="flat" cmpd="sng" algn="ctr">
                      <a:solidFill>
                        <a:srgbClr val="E8EDF4"/>
                      </a:solidFill>
                      <a:prstDash val="solid"/>
                      <a:round/>
                      <a:headEnd type="none" w="med" len="med"/>
                      <a:tailEnd type="none" w="med" len="med"/>
                    </a:lnB>
                  </a:tcPr>
                </a:tc>
              </a:tr>
            </a:tbl>
          </a:graphicData>
        </a:graphic>
      </p:graphicFrame>
      <p:sp>
        <p:nvSpPr>
          <p:cNvPr id="26" name="Shape 23"/>
          <p:cNvSpPr/>
          <p:nvPr/>
        </p:nvSpPr>
        <p:spPr>
          <a:xfrm>
            <a:off x="4617720" y="804672"/>
            <a:ext cx="4206240" cy="3977640"/>
          </a:xfrm>
          <a:prstGeom prst="rect">
            <a:avLst/>
          </a:prstGeom>
          <a:solidFill>
            <a:srgbClr val="FFFFFF"/>
          </a:solidFill>
          <a:ln/>
          <a:effectLst>
            <a:outerShdw sx="100000" sy="100000" kx="0" ky="0" algn="bl" rotWithShape="0" blurRad="127000" dist="25400" dir="8100000">
              <a:srgbClr val="000000">
                <a:alpha val="7000"/>
              </a:srgbClr>
            </a:outerShdw>
          </a:effectLst>
        </p:spPr>
      </p:sp>
      <p:sp>
        <p:nvSpPr>
          <p:cNvPr id="27" name="Shape 24"/>
          <p:cNvSpPr/>
          <p:nvPr/>
        </p:nvSpPr>
        <p:spPr>
          <a:xfrm>
            <a:off x="4617720" y="804672"/>
            <a:ext cx="4206240" cy="420624"/>
          </a:xfrm>
          <a:prstGeom prst="rect">
            <a:avLst/>
          </a:prstGeom>
          <a:solidFill>
            <a:srgbClr val="0D9488"/>
          </a:solidFill>
          <a:ln/>
        </p:spPr>
      </p:sp>
      <p:sp>
        <p:nvSpPr>
          <p:cNvPr id="28" name="Text 25"/>
          <p:cNvSpPr/>
          <p:nvPr/>
        </p:nvSpPr>
        <p:spPr>
          <a:xfrm>
            <a:off x="4663440" y="804672"/>
            <a:ext cx="4114800" cy="420624"/>
          </a:xfrm>
          <a:prstGeom prst="rect">
            <a:avLst/>
          </a:prstGeom>
          <a:noFill/>
          <a:ln/>
        </p:spPr>
        <p:txBody>
          <a:bodyPr wrap="square" lIns="50800" tIns="50800" rIns="50800" bIns="5080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ABL — Integrated Marine &amp; Logistics Operator</a:t>
            </a:r>
            <a:endParaRPr lang="en-US" sz="950" dirty="0"/>
          </a:p>
        </p:txBody>
      </p:sp>
      <p:sp>
        <p:nvSpPr>
          <p:cNvPr id="29" name="Shape 26"/>
          <p:cNvSpPr/>
          <p:nvPr/>
        </p:nvSpPr>
        <p:spPr>
          <a:xfrm>
            <a:off x="4709160" y="1298448"/>
            <a:ext cx="1920240" cy="804672"/>
          </a:xfrm>
          <a:prstGeom prst="rect">
            <a:avLst/>
          </a:prstGeom>
          <a:solidFill>
            <a:srgbClr val="F7F9FC"/>
          </a:solidFill>
          <a:ln/>
          <a:effectLst>
            <a:outerShdw sx="100000" sy="100000" kx="0" ky="0" algn="bl" rotWithShape="0" blurRad="101600" dist="25400" dir="8100000">
              <a:srgbClr val="000000">
                <a:alpha val="8000"/>
              </a:srgbClr>
            </a:outerShdw>
          </a:effectLst>
        </p:spPr>
      </p:sp>
      <p:sp>
        <p:nvSpPr>
          <p:cNvPr id="30" name="Text 27"/>
          <p:cNvSpPr/>
          <p:nvPr/>
        </p:nvSpPr>
        <p:spPr>
          <a:xfrm>
            <a:off x="4709160" y="1371600"/>
            <a:ext cx="1920240" cy="442570"/>
          </a:xfrm>
          <a:prstGeom prst="rect">
            <a:avLst/>
          </a:prstGeom>
          <a:noFill/>
          <a:ln/>
        </p:spPr>
        <p:txBody>
          <a:bodyPr wrap="square" lIns="0" tIns="0" rIns="0" bIns="0" rtlCol="0" anchor="b"/>
          <a:lstStyle/>
          <a:p>
            <a:pPr algn="ctr" indent="0" marL="0">
              <a:buNone/>
            </a:pPr>
            <a:r>
              <a:rPr lang="en-US" sz="2800" b="1" dirty="0">
                <a:solidFill>
                  <a:srgbClr val="2563EB"/>
                </a:solidFill>
                <a:latin typeface="Calibri" pitchFamily="34" charset="0"/>
                <a:ea typeface="Calibri" pitchFamily="34" charset="-122"/>
                <a:cs typeface="Calibri" pitchFamily="34" charset="-120"/>
              </a:rPr>
              <a:t>100M+ MT</a:t>
            </a:r>
            <a:endParaRPr lang="en-US" sz="2800" dirty="0"/>
          </a:p>
        </p:txBody>
      </p:sp>
      <p:sp>
        <p:nvSpPr>
          <p:cNvPr id="31" name="Text 28"/>
          <p:cNvSpPr/>
          <p:nvPr/>
        </p:nvSpPr>
        <p:spPr>
          <a:xfrm>
            <a:off x="4709160" y="1781251"/>
            <a:ext cx="1920240" cy="321869"/>
          </a:xfrm>
          <a:prstGeom prst="rect">
            <a:avLst/>
          </a:prstGeom>
          <a:noFill/>
          <a:ln/>
        </p:spPr>
        <p:txBody>
          <a:bodyPr wrap="square" lIns="0" tIns="0" rIns="0" bIns="0" rtlCol="0" anchor="t"/>
          <a:lstStyle/>
          <a:p>
            <a:pPr algn="ctr" indent="0" marL="0">
              <a:buNone/>
            </a:pPr>
            <a:r>
              <a:rPr lang="en-US" sz="950" dirty="0">
                <a:solidFill>
                  <a:srgbClr val="475569"/>
                </a:solidFill>
                <a:latin typeface="Calibri" pitchFamily="34" charset="0"/>
                <a:ea typeface="Calibri" pitchFamily="34" charset="-122"/>
                <a:cs typeface="Calibri" pitchFamily="34" charset="-120"/>
              </a:rPr>
              <a:t>Annual Transshipment</a:t>
            </a:r>
            <a:endParaRPr lang="en-US" sz="950" dirty="0"/>
          </a:p>
          <a:p>
            <a:pPr algn="ctr" indent="0" marL="0">
              <a:buNone/>
            </a:pPr>
            <a:r>
              <a:rPr lang="en-US" sz="950" dirty="0">
                <a:solidFill>
                  <a:srgbClr val="475569"/>
                </a:solidFill>
                <a:latin typeface="Calibri" pitchFamily="34" charset="0"/>
                <a:ea typeface="Calibri" pitchFamily="34" charset="-122"/>
                <a:cs typeface="Calibri" pitchFamily="34" charset="-120"/>
              </a:rPr>
              <a:t>Throughput</a:t>
            </a:r>
            <a:endParaRPr lang="en-US" sz="950" dirty="0"/>
          </a:p>
        </p:txBody>
      </p:sp>
      <p:sp>
        <p:nvSpPr>
          <p:cNvPr id="32" name="Shape 29"/>
          <p:cNvSpPr/>
          <p:nvPr/>
        </p:nvSpPr>
        <p:spPr>
          <a:xfrm>
            <a:off x="6720840" y="1298448"/>
            <a:ext cx="1920240" cy="804672"/>
          </a:xfrm>
          <a:prstGeom prst="rect">
            <a:avLst/>
          </a:prstGeom>
          <a:solidFill>
            <a:srgbClr val="F7F9FC"/>
          </a:solidFill>
          <a:ln/>
          <a:effectLst>
            <a:outerShdw sx="100000" sy="100000" kx="0" ky="0" algn="bl" rotWithShape="0" blurRad="101600" dist="25400" dir="8100000">
              <a:srgbClr val="000000">
                <a:alpha val="8000"/>
              </a:srgbClr>
            </a:outerShdw>
          </a:effectLst>
        </p:spPr>
      </p:sp>
      <p:sp>
        <p:nvSpPr>
          <p:cNvPr id="33" name="Text 30"/>
          <p:cNvSpPr/>
          <p:nvPr/>
        </p:nvSpPr>
        <p:spPr>
          <a:xfrm>
            <a:off x="6720840" y="1371600"/>
            <a:ext cx="1920240" cy="442570"/>
          </a:xfrm>
          <a:prstGeom prst="rect">
            <a:avLst/>
          </a:prstGeom>
          <a:noFill/>
          <a:ln/>
        </p:spPr>
        <p:txBody>
          <a:bodyPr wrap="square" lIns="0" tIns="0" rIns="0" bIns="0" rtlCol="0" anchor="b"/>
          <a:lstStyle/>
          <a:p>
            <a:pPr algn="ctr" indent="0" marL="0">
              <a:buNone/>
            </a:pPr>
            <a:r>
              <a:rPr lang="en-US" sz="2800" b="1" dirty="0">
                <a:solidFill>
                  <a:srgbClr val="2563EB"/>
                </a:solidFill>
                <a:latin typeface="Calibri" pitchFamily="34" charset="0"/>
                <a:ea typeface="Calibri" pitchFamily="34" charset="-122"/>
                <a:cs typeface="Calibri" pitchFamily="34" charset="-120"/>
              </a:rPr>
              <a:t>11 OGVs</a:t>
            </a:r>
            <a:endParaRPr lang="en-US" sz="2800" dirty="0"/>
          </a:p>
        </p:txBody>
      </p:sp>
      <p:sp>
        <p:nvSpPr>
          <p:cNvPr id="34" name="Text 31"/>
          <p:cNvSpPr/>
          <p:nvPr/>
        </p:nvSpPr>
        <p:spPr>
          <a:xfrm>
            <a:off x="6720840" y="1781251"/>
            <a:ext cx="1920240" cy="321869"/>
          </a:xfrm>
          <a:prstGeom prst="rect">
            <a:avLst/>
          </a:prstGeom>
          <a:noFill/>
          <a:ln/>
        </p:spPr>
        <p:txBody>
          <a:bodyPr wrap="square" lIns="0" tIns="0" rIns="0" bIns="0" rtlCol="0" anchor="t"/>
          <a:lstStyle/>
          <a:p>
            <a:pPr algn="ctr" indent="0" marL="0">
              <a:buNone/>
            </a:pPr>
            <a:r>
              <a:rPr lang="en-US" sz="950" dirty="0">
                <a:solidFill>
                  <a:srgbClr val="475569"/>
                </a:solidFill>
                <a:latin typeface="Calibri" pitchFamily="34" charset="0"/>
                <a:ea typeface="Calibri" pitchFamily="34" charset="-122"/>
                <a:cs typeface="Calibri" pitchFamily="34" charset="-120"/>
              </a:rPr>
              <a:t>Ocean-Going Vessels</a:t>
            </a:r>
            <a:endParaRPr lang="en-US" sz="950" dirty="0"/>
          </a:p>
          <a:p>
            <a:pPr algn="ctr" indent="0" marL="0">
              <a:buNone/>
            </a:pPr>
            <a:r>
              <a:rPr lang="en-US" sz="950" dirty="0">
                <a:solidFill>
                  <a:srgbClr val="475569"/>
                </a:solidFill>
                <a:latin typeface="Calibri" pitchFamily="34" charset="0"/>
                <a:ea typeface="Calibri" pitchFamily="34" charset="-122"/>
                <a:cs typeface="Calibri" pitchFamily="34" charset="-120"/>
              </a:rPr>
              <a:t>(~76,000 DWT each)</a:t>
            </a:r>
            <a:endParaRPr lang="en-US" sz="950" dirty="0"/>
          </a:p>
        </p:txBody>
      </p:sp>
      <p:sp>
        <p:nvSpPr>
          <p:cNvPr id="35" name="Shape 32"/>
          <p:cNvSpPr/>
          <p:nvPr/>
        </p:nvSpPr>
        <p:spPr>
          <a:xfrm>
            <a:off x="4709160" y="2176272"/>
            <a:ext cx="1920240" cy="804672"/>
          </a:xfrm>
          <a:prstGeom prst="rect">
            <a:avLst/>
          </a:prstGeom>
          <a:solidFill>
            <a:srgbClr val="F7F9FC"/>
          </a:solidFill>
          <a:ln/>
          <a:effectLst>
            <a:outerShdw sx="100000" sy="100000" kx="0" ky="0" algn="bl" rotWithShape="0" blurRad="101600" dist="25400" dir="8100000">
              <a:srgbClr val="000000">
                <a:alpha val="8000"/>
              </a:srgbClr>
            </a:outerShdw>
          </a:effectLst>
        </p:spPr>
      </p:sp>
      <p:sp>
        <p:nvSpPr>
          <p:cNvPr id="36" name="Text 33"/>
          <p:cNvSpPr/>
          <p:nvPr/>
        </p:nvSpPr>
        <p:spPr>
          <a:xfrm>
            <a:off x="4709160" y="2249424"/>
            <a:ext cx="1920240" cy="442570"/>
          </a:xfrm>
          <a:prstGeom prst="rect">
            <a:avLst/>
          </a:prstGeom>
          <a:noFill/>
          <a:ln/>
        </p:spPr>
        <p:txBody>
          <a:bodyPr wrap="square" lIns="0" tIns="0" rIns="0" bIns="0" rtlCol="0" anchor="b"/>
          <a:lstStyle/>
          <a:p>
            <a:pPr algn="ctr" indent="0" marL="0">
              <a:buNone/>
            </a:pPr>
            <a:r>
              <a:rPr lang="en-US" sz="2800" b="1" dirty="0">
                <a:solidFill>
                  <a:srgbClr val="2563EB"/>
                </a:solidFill>
                <a:latin typeface="Calibri" pitchFamily="34" charset="0"/>
                <a:ea typeface="Calibri" pitchFamily="34" charset="-122"/>
                <a:cs typeface="Calibri" pitchFamily="34" charset="-120"/>
              </a:rPr>
              <a:t>15 CTS</a:t>
            </a:r>
            <a:endParaRPr lang="en-US" sz="2800" dirty="0"/>
          </a:p>
        </p:txBody>
      </p:sp>
      <p:sp>
        <p:nvSpPr>
          <p:cNvPr id="37" name="Text 34"/>
          <p:cNvSpPr/>
          <p:nvPr/>
        </p:nvSpPr>
        <p:spPr>
          <a:xfrm>
            <a:off x="4709160" y="2659075"/>
            <a:ext cx="1920240" cy="321869"/>
          </a:xfrm>
          <a:prstGeom prst="rect">
            <a:avLst/>
          </a:prstGeom>
          <a:noFill/>
          <a:ln/>
        </p:spPr>
        <p:txBody>
          <a:bodyPr wrap="square" lIns="0" tIns="0" rIns="0" bIns="0" rtlCol="0" anchor="t"/>
          <a:lstStyle/>
          <a:p>
            <a:pPr algn="ctr" indent="0" marL="0">
              <a:buNone/>
            </a:pPr>
            <a:r>
              <a:rPr lang="en-US" sz="950" dirty="0">
                <a:solidFill>
                  <a:srgbClr val="475569"/>
                </a:solidFill>
                <a:latin typeface="Calibri" pitchFamily="34" charset="0"/>
                <a:ea typeface="Calibri" pitchFamily="34" charset="-122"/>
                <a:cs typeface="Calibri" pitchFamily="34" charset="-120"/>
              </a:rPr>
              <a:t>Cargo Transfer Ships</a:t>
            </a:r>
            <a:endParaRPr lang="en-US" sz="950" dirty="0"/>
          </a:p>
          <a:p>
            <a:pPr algn="ctr" indent="0" marL="0">
              <a:buNone/>
            </a:pPr>
            <a:r>
              <a:rPr lang="en-US" sz="950" dirty="0">
                <a:solidFill>
                  <a:srgbClr val="475569"/>
                </a:solidFill>
                <a:latin typeface="Calibri" pitchFamily="34" charset="0"/>
                <a:ea typeface="Calibri" pitchFamily="34" charset="-122"/>
                <a:cs typeface="Calibri" pitchFamily="34" charset="-120"/>
              </a:rPr>
              <a:t>(Conveyor &amp; Conventional)</a:t>
            </a:r>
            <a:endParaRPr lang="en-US" sz="950" dirty="0"/>
          </a:p>
        </p:txBody>
      </p:sp>
      <p:sp>
        <p:nvSpPr>
          <p:cNvPr id="38" name="Shape 35"/>
          <p:cNvSpPr/>
          <p:nvPr/>
        </p:nvSpPr>
        <p:spPr>
          <a:xfrm>
            <a:off x="6720840" y="2176272"/>
            <a:ext cx="1920240" cy="804672"/>
          </a:xfrm>
          <a:prstGeom prst="rect">
            <a:avLst/>
          </a:prstGeom>
          <a:solidFill>
            <a:srgbClr val="F7F9FC"/>
          </a:solidFill>
          <a:ln/>
          <a:effectLst>
            <a:outerShdw sx="100000" sy="100000" kx="0" ky="0" algn="bl" rotWithShape="0" blurRad="101600" dist="25400" dir="8100000">
              <a:srgbClr val="000000">
                <a:alpha val="8000"/>
              </a:srgbClr>
            </a:outerShdw>
          </a:effectLst>
        </p:spPr>
      </p:sp>
      <p:sp>
        <p:nvSpPr>
          <p:cNvPr id="39" name="Text 36"/>
          <p:cNvSpPr/>
          <p:nvPr/>
        </p:nvSpPr>
        <p:spPr>
          <a:xfrm>
            <a:off x="6720840" y="2249424"/>
            <a:ext cx="1920240" cy="442570"/>
          </a:xfrm>
          <a:prstGeom prst="rect">
            <a:avLst/>
          </a:prstGeom>
          <a:noFill/>
          <a:ln/>
        </p:spPr>
        <p:txBody>
          <a:bodyPr wrap="square" lIns="0" tIns="0" rIns="0" bIns="0" rtlCol="0" anchor="b"/>
          <a:lstStyle/>
          <a:p>
            <a:pPr algn="ctr" indent="0" marL="0">
              <a:buNone/>
            </a:pPr>
            <a:r>
              <a:rPr lang="en-US" sz="2800" b="1" dirty="0">
                <a:solidFill>
                  <a:srgbClr val="2563EB"/>
                </a:solidFill>
                <a:latin typeface="Calibri" pitchFamily="34" charset="0"/>
                <a:ea typeface="Calibri" pitchFamily="34" charset="-122"/>
                <a:cs typeface="Calibri" pitchFamily="34" charset="-120"/>
              </a:rPr>
              <a:t>61 Sets</a:t>
            </a:r>
            <a:endParaRPr lang="en-US" sz="2800" dirty="0"/>
          </a:p>
        </p:txBody>
      </p:sp>
      <p:sp>
        <p:nvSpPr>
          <p:cNvPr id="40" name="Text 37"/>
          <p:cNvSpPr/>
          <p:nvPr/>
        </p:nvSpPr>
        <p:spPr>
          <a:xfrm>
            <a:off x="6720840" y="2659075"/>
            <a:ext cx="1920240" cy="321869"/>
          </a:xfrm>
          <a:prstGeom prst="rect">
            <a:avLst/>
          </a:prstGeom>
          <a:noFill/>
          <a:ln/>
        </p:spPr>
        <p:txBody>
          <a:bodyPr wrap="square" lIns="0" tIns="0" rIns="0" bIns="0" rtlCol="0" anchor="t"/>
          <a:lstStyle/>
          <a:p>
            <a:pPr algn="ctr" indent="0" marL="0">
              <a:buNone/>
            </a:pPr>
            <a:r>
              <a:rPr lang="en-US" sz="950" dirty="0">
                <a:solidFill>
                  <a:srgbClr val="475569"/>
                </a:solidFill>
                <a:latin typeface="Calibri" pitchFamily="34" charset="0"/>
                <a:ea typeface="Calibri" pitchFamily="34" charset="-122"/>
                <a:cs typeface="Calibri" pitchFamily="34" charset="-120"/>
              </a:rPr>
              <a:t>Tug &amp; Barge Pairs</a:t>
            </a:r>
            <a:endParaRPr lang="en-US" sz="950" dirty="0"/>
          </a:p>
          <a:p>
            <a:pPr algn="ctr" indent="0" marL="0">
              <a:buNone/>
            </a:pPr>
            <a:r>
              <a:rPr lang="en-US" sz="950" dirty="0">
                <a:solidFill>
                  <a:srgbClr val="475569"/>
                </a:solidFill>
                <a:latin typeface="Calibri" pitchFamily="34" charset="0"/>
                <a:ea typeface="Calibri" pitchFamily="34" charset="-122"/>
                <a:cs typeface="Calibri" pitchFamily="34" charset="-120"/>
              </a:rPr>
              <a:t>Multi-HP Class Fleet</a:t>
            </a:r>
            <a:endParaRPr lang="en-US" sz="950" dirty="0"/>
          </a:p>
        </p:txBody>
      </p:sp>
      <p:sp>
        <p:nvSpPr>
          <p:cNvPr id="41" name="Shape 38"/>
          <p:cNvSpPr/>
          <p:nvPr/>
        </p:nvSpPr>
        <p:spPr>
          <a:xfrm>
            <a:off x="4709160" y="3054096"/>
            <a:ext cx="1920240" cy="804672"/>
          </a:xfrm>
          <a:prstGeom prst="rect">
            <a:avLst/>
          </a:prstGeom>
          <a:solidFill>
            <a:srgbClr val="F7F9FC"/>
          </a:solidFill>
          <a:ln/>
          <a:effectLst>
            <a:outerShdw sx="100000" sy="100000" kx="0" ky="0" algn="bl" rotWithShape="0" blurRad="101600" dist="25400" dir="8100000">
              <a:srgbClr val="000000">
                <a:alpha val="8000"/>
              </a:srgbClr>
            </a:outerShdw>
          </a:effectLst>
        </p:spPr>
      </p:sp>
      <p:sp>
        <p:nvSpPr>
          <p:cNvPr id="42" name="Text 39"/>
          <p:cNvSpPr/>
          <p:nvPr/>
        </p:nvSpPr>
        <p:spPr>
          <a:xfrm>
            <a:off x="4709160" y="3127248"/>
            <a:ext cx="1920240" cy="442570"/>
          </a:xfrm>
          <a:prstGeom prst="rect">
            <a:avLst/>
          </a:prstGeom>
          <a:noFill/>
          <a:ln/>
        </p:spPr>
        <p:txBody>
          <a:bodyPr wrap="square" lIns="0" tIns="0" rIns="0" bIns="0" rtlCol="0" anchor="b"/>
          <a:lstStyle/>
          <a:p>
            <a:pPr algn="ctr" indent="0" marL="0">
              <a:buNone/>
            </a:pPr>
            <a:r>
              <a:rPr lang="en-US" sz="2800" b="1" dirty="0">
                <a:solidFill>
                  <a:srgbClr val="2563EB"/>
                </a:solidFill>
                <a:latin typeface="Calibri" pitchFamily="34" charset="0"/>
                <a:ea typeface="Calibri" pitchFamily="34" charset="-122"/>
                <a:cs typeface="Calibri" pitchFamily="34" charset="-120"/>
              </a:rPr>
              <a:t>54 Trains</a:t>
            </a:r>
            <a:endParaRPr lang="en-US" sz="2800" dirty="0"/>
          </a:p>
        </p:txBody>
      </p:sp>
      <p:sp>
        <p:nvSpPr>
          <p:cNvPr id="43" name="Text 40"/>
          <p:cNvSpPr/>
          <p:nvPr/>
        </p:nvSpPr>
        <p:spPr>
          <a:xfrm>
            <a:off x="4709160" y="3536899"/>
            <a:ext cx="1920240" cy="321869"/>
          </a:xfrm>
          <a:prstGeom prst="rect">
            <a:avLst/>
          </a:prstGeom>
          <a:noFill/>
          <a:ln/>
        </p:spPr>
        <p:txBody>
          <a:bodyPr wrap="square" lIns="0" tIns="0" rIns="0" bIns="0" rtlCol="0" anchor="t"/>
          <a:lstStyle/>
          <a:p>
            <a:pPr algn="ctr" indent="0" marL="0">
              <a:buNone/>
            </a:pPr>
            <a:r>
              <a:rPr lang="en-US" sz="950" dirty="0">
                <a:solidFill>
                  <a:srgbClr val="475569"/>
                </a:solidFill>
                <a:latin typeface="Calibri" pitchFamily="34" charset="0"/>
                <a:ea typeface="Calibri" pitchFamily="34" charset="-122"/>
                <a:cs typeface="Calibri" pitchFamily="34" charset="-120"/>
              </a:rPr>
              <a:t>Rail Sets + 1,596</a:t>
            </a:r>
            <a:endParaRPr lang="en-US" sz="950" dirty="0"/>
          </a:p>
          <a:p>
            <a:pPr algn="ctr" indent="0" marL="0">
              <a:buNone/>
            </a:pPr>
            <a:r>
              <a:rPr lang="en-US" sz="950" dirty="0">
                <a:solidFill>
                  <a:srgbClr val="475569"/>
                </a:solidFill>
                <a:latin typeface="Calibri" pitchFamily="34" charset="0"/>
                <a:ea typeface="Calibri" pitchFamily="34" charset="-122"/>
                <a:cs typeface="Calibri" pitchFamily="34" charset="-120"/>
              </a:rPr>
              <a:t>Wagons (Inland)</a:t>
            </a:r>
            <a:endParaRPr lang="en-US" sz="950" dirty="0"/>
          </a:p>
        </p:txBody>
      </p:sp>
      <p:sp>
        <p:nvSpPr>
          <p:cNvPr id="44" name="Shape 41"/>
          <p:cNvSpPr/>
          <p:nvPr/>
        </p:nvSpPr>
        <p:spPr>
          <a:xfrm>
            <a:off x="6720840" y="3054096"/>
            <a:ext cx="1920240" cy="804672"/>
          </a:xfrm>
          <a:prstGeom prst="rect">
            <a:avLst/>
          </a:prstGeom>
          <a:solidFill>
            <a:srgbClr val="F7F9FC"/>
          </a:solidFill>
          <a:ln/>
          <a:effectLst>
            <a:outerShdw sx="100000" sy="100000" kx="0" ky="0" algn="bl" rotWithShape="0" blurRad="101600" dist="25400" dir="8100000">
              <a:srgbClr val="000000">
                <a:alpha val="8000"/>
              </a:srgbClr>
            </a:outerShdw>
          </a:effectLst>
        </p:spPr>
      </p:sp>
      <p:sp>
        <p:nvSpPr>
          <p:cNvPr id="45" name="Text 42"/>
          <p:cNvSpPr/>
          <p:nvPr/>
        </p:nvSpPr>
        <p:spPr>
          <a:xfrm>
            <a:off x="6720840" y="3127248"/>
            <a:ext cx="1920240" cy="442570"/>
          </a:xfrm>
          <a:prstGeom prst="rect">
            <a:avLst/>
          </a:prstGeom>
          <a:noFill/>
          <a:ln/>
        </p:spPr>
        <p:txBody>
          <a:bodyPr wrap="square" lIns="0" tIns="0" rIns="0" bIns="0" rtlCol="0" anchor="b"/>
          <a:lstStyle/>
          <a:p>
            <a:pPr algn="ctr" indent="0" marL="0">
              <a:buNone/>
            </a:pPr>
            <a:r>
              <a:rPr lang="en-US" sz="2800" b="1" dirty="0">
                <a:solidFill>
                  <a:srgbClr val="2563EB"/>
                </a:solidFill>
                <a:latin typeface="Calibri" pitchFamily="34" charset="0"/>
                <a:ea typeface="Calibri" pitchFamily="34" charset="-122"/>
                <a:cs typeface="Calibri" pitchFamily="34" charset="-120"/>
              </a:rPr>
              <a:t>14,000+</a:t>
            </a:r>
            <a:endParaRPr lang="en-US" sz="2800" dirty="0"/>
          </a:p>
        </p:txBody>
      </p:sp>
      <p:sp>
        <p:nvSpPr>
          <p:cNvPr id="46" name="Text 43"/>
          <p:cNvSpPr/>
          <p:nvPr/>
        </p:nvSpPr>
        <p:spPr>
          <a:xfrm>
            <a:off x="6720840" y="3536899"/>
            <a:ext cx="1920240" cy="321869"/>
          </a:xfrm>
          <a:prstGeom prst="rect">
            <a:avLst/>
          </a:prstGeom>
          <a:noFill/>
          <a:ln/>
        </p:spPr>
        <p:txBody>
          <a:bodyPr wrap="square" lIns="0" tIns="0" rIns="0" bIns="0" rtlCol="0" anchor="t"/>
          <a:lstStyle/>
          <a:p>
            <a:pPr algn="ctr" indent="0" marL="0">
              <a:buNone/>
            </a:pPr>
            <a:r>
              <a:rPr lang="en-US" sz="950" dirty="0">
                <a:solidFill>
                  <a:srgbClr val="475569"/>
                </a:solidFill>
                <a:latin typeface="Calibri" pitchFamily="34" charset="0"/>
                <a:ea typeface="Calibri" pitchFamily="34" charset="-122"/>
                <a:cs typeface="Calibri" pitchFamily="34" charset="-120"/>
              </a:rPr>
              <a:t>Containers</a:t>
            </a:r>
            <a:endParaRPr lang="en-US" sz="950" dirty="0"/>
          </a:p>
          <a:p>
            <a:pPr algn="ctr" indent="0" marL="0">
              <a:buNone/>
            </a:pPr>
            <a:r>
              <a:rPr lang="en-US" sz="950" dirty="0">
                <a:solidFill>
                  <a:srgbClr val="475569"/>
                </a:solidFill>
                <a:latin typeface="Calibri" pitchFamily="34" charset="0"/>
                <a:ea typeface="Calibri" pitchFamily="34" charset="-122"/>
                <a:cs typeface="Calibri" pitchFamily="34" charset="-120"/>
              </a:rPr>
              <a:t>+ 35 Heavy Equipment</a:t>
            </a:r>
            <a:endParaRPr lang="en-US" sz="950" dirty="0"/>
          </a:p>
        </p:txBody>
      </p:sp>
      <p:sp>
        <p:nvSpPr>
          <p:cNvPr id="47" name="Text 44"/>
          <p:cNvSpPr/>
          <p:nvPr/>
        </p:nvSpPr>
        <p:spPr>
          <a:xfrm>
            <a:off x="4709160" y="3977640"/>
            <a:ext cx="4023360" cy="320040"/>
          </a:xfrm>
          <a:prstGeom prst="rect">
            <a:avLst/>
          </a:prstGeom>
          <a:noFill/>
          <a:ln/>
        </p:spPr>
        <p:txBody>
          <a:bodyPr wrap="square" lIns="0" tIns="0" rIns="0" bIns="0" rtlCol="0" anchor="ctr"/>
          <a:lstStyle/>
          <a:p>
            <a:pPr algn="ctr" indent="0" marL="0">
              <a:buNone/>
            </a:pPr>
            <a:r>
              <a:rPr lang="en-US" sz="800" dirty="0">
                <a:solidFill>
                  <a:srgbClr val="0D9488"/>
                </a:solidFill>
                <a:latin typeface="Calibri" pitchFamily="34" charset="0"/>
                <a:ea typeface="Calibri" pitchFamily="34" charset="-122"/>
                <a:cs typeface="Calibri" pitchFamily="34" charset="-120"/>
              </a:rPr>
              <a:t>CTS Loading Rates  |  Conveyor: 40,000–55,000 MT/day  ·  Conventional: 20,000–30,000 MT/day</a:t>
            </a:r>
            <a:endParaRPr lang="en-US" sz="800" dirty="0"/>
          </a:p>
        </p:txBody>
      </p:sp>
      <p:sp>
        <p:nvSpPr>
          <p:cNvPr id="48" name="Text 45"/>
          <p:cNvSpPr/>
          <p:nvPr/>
        </p:nvSpPr>
        <p:spPr>
          <a:xfrm>
            <a:off x="4709160" y="4279392"/>
            <a:ext cx="4023360" cy="256032"/>
          </a:xfrm>
          <a:prstGeom prst="rect">
            <a:avLst/>
          </a:prstGeom>
          <a:noFill/>
          <a:ln/>
        </p:spPr>
        <p:txBody>
          <a:bodyPr wrap="square" lIns="0" tIns="0" rIns="0" bIns="0" rtlCol="0" anchor="ctr"/>
          <a:lstStyle/>
          <a:p>
            <a:pPr algn="ctr" indent="0" marL="0">
              <a:buNone/>
            </a:pPr>
            <a:r>
              <a:rPr lang="en-US" sz="750" i="1" dirty="0">
                <a:solidFill>
                  <a:srgbClr val="94A3B8"/>
                </a:solidFill>
                <a:latin typeface="Calibri" pitchFamily="34" charset="0"/>
                <a:ea typeface="Calibri" pitchFamily="34" charset="-122"/>
                <a:cs typeface="Calibri" pitchFamily="34" charset="-120"/>
              </a:rPr>
              <a:t>Berau office: Tanjung Redeb, East Kalimantan — embedded local operations</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411480" y="201168"/>
            <a:ext cx="8321040" cy="502920"/>
          </a:xfrm>
          <a:prstGeom prst="rect">
            <a:avLst/>
          </a:prstGeom>
          <a:noFill/>
          <a:ln/>
        </p:spPr>
        <p:txBody>
          <a:bodyPr wrap="square" lIns="0" tIns="0" rIns="0" bIns="0" rtlCol="0" anchor="ctr"/>
          <a:lstStyle/>
          <a:p>
            <a:pPr algn="l" indent="0" marL="0">
              <a:buNone/>
            </a:pPr>
            <a:r>
              <a:rPr lang="en-US" sz="2200" b="1" dirty="0">
                <a:solidFill>
                  <a:srgbClr val="1A2B45"/>
                </a:solidFill>
                <a:latin typeface="Calibri" pitchFamily="34" charset="0"/>
                <a:ea typeface="Calibri" pitchFamily="34" charset="-122"/>
                <a:cs typeface="Calibri" pitchFamily="34" charset="-120"/>
              </a:rPr>
              <a:t>Today's Planning Reality — The Challenge</a:t>
            </a:r>
            <a:endParaRPr lang="en-US" sz="2200" dirty="0"/>
          </a:p>
        </p:txBody>
      </p:sp>
      <p:sp>
        <p:nvSpPr>
          <p:cNvPr id="3" name="Shape 1"/>
          <p:cNvSpPr/>
          <p:nvPr/>
        </p:nvSpPr>
        <p:spPr>
          <a:xfrm>
            <a:off x="274320" y="822960"/>
            <a:ext cx="4754880" cy="896112"/>
          </a:xfrm>
          <a:prstGeom prst="rect">
            <a:avLst/>
          </a:prstGeom>
          <a:solidFill>
            <a:srgbClr val="FFFFFF"/>
          </a:solidFill>
          <a:ln/>
          <a:effectLst>
            <a:outerShdw sx="100000" sy="100000" kx="0" ky="0" algn="bl" rotWithShape="0" blurRad="76200" dist="12700" dir="8100000">
              <a:srgbClr val="000000">
                <a:alpha val="8000"/>
              </a:srgbClr>
            </a:outerShdw>
          </a:effectLst>
        </p:spPr>
      </p:sp>
      <p:sp>
        <p:nvSpPr>
          <p:cNvPr id="4" name="Shape 2"/>
          <p:cNvSpPr/>
          <p:nvPr/>
        </p:nvSpPr>
        <p:spPr>
          <a:xfrm>
            <a:off x="274320" y="822960"/>
            <a:ext cx="54864" cy="896112"/>
          </a:xfrm>
          <a:prstGeom prst="rect">
            <a:avLst/>
          </a:prstGeom>
          <a:solidFill>
            <a:srgbClr val="1A2B45"/>
          </a:solidFill>
          <a:ln/>
        </p:spPr>
      </p:sp>
      <p:pic>
        <p:nvPicPr>
          <p:cNvPr id="5" name="Image 0" descr="preencoded.png">    </p:cNvPr>
          <p:cNvPicPr>
            <a:picLocks noChangeAspect="1"/>
          </p:cNvPicPr>
          <p:nvPr/>
        </p:nvPicPr>
        <p:blipFill>
          <a:blip r:embed="rId1"/>
          <a:stretch>
            <a:fillRect/>
          </a:stretch>
        </p:blipFill>
        <p:spPr>
          <a:xfrm>
            <a:off x="411480" y="1024128"/>
            <a:ext cx="274320" cy="274320"/>
          </a:xfrm>
          <a:prstGeom prst="rect">
            <a:avLst/>
          </a:prstGeom>
        </p:spPr>
      </p:pic>
      <p:sp>
        <p:nvSpPr>
          <p:cNvPr id="6" name="Text 3"/>
          <p:cNvSpPr/>
          <p:nvPr/>
        </p:nvSpPr>
        <p:spPr>
          <a:xfrm>
            <a:off x="777240" y="868680"/>
            <a:ext cx="4160520" cy="274320"/>
          </a:xfrm>
          <a:prstGeom prst="rect">
            <a:avLst/>
          </a:prstGeom>
          <a:noFill/>
          <a:ln/>
        </p:spPr>
        <p:txBody>
          <a:bodyPr wrap="square" lIns="0" tIns="0" rIns="0" bIns="0" rtlCol="0" anchor="ctr"/>
          <a:lstStyle/>
          <a:p>
            <a:pPr indent="0" marL="0">
              <a:buNone/>
            </a:pPr>
            <a:r>
              <a:rPr lang="en-US" sz="1100" b="1" dirty="0">
                <a:solidFill>
                  <a:srgbClr val="1A2B45"/>
                </a:solidFill>
                <a:latin typeface="Calibri" pitchFamily="34" charset="0"/>
                <a:ea typeface="Calibri" pitchFamily="34" charset="-122"/>
                <a:cs typeface="Calibri" pitchFamily="34" charset="-120"/>
              </a:rPr>
              <a:t>Excel-Based Scheduling</a:t>
            </a:r>
            <a:endParaRPr lang="en-US" sz="1100" dirty="0"/>
          </a:p>
        </p:txBody>
      </p:sp>
      <p:sp>
        <p:nvSpPr>
          <p:cNvPr id="7" name="Text 4"/>
          <p:cNvSpPr/>
          <p:nvPr/>
        </p:nvSpPr>
        <p:spPr>
          <a:xfrm>
            <a:off x="777240" y="1152144"/>
            <a:ext cx="4160520" cy="530352"/>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All fleet assignments, jetty queues, tide windows and cargo sequences are manually maintained in spreadsheets. Updates are ad-hoc; no version control or conflict checks.</a:t>
            </a:r>
            <a:endParaRPr lang="en-US" sz="900" dirty="0"/>
          </a:p>
        </p:txBody>
      </p:sp>
      <p:sp>
        <p:nvSpPr>
          <p:cNvPr id="8" name="Shape 5"/>
          <p:cNvSpPr/>
          <p:nvPr/>
        </p:nvSpPr>
        <p:spPr>
          <a:xfrm>
            <a:off x="274320" y="1810512"/>
            <a:ext cx="4754880" cy="896112"/>
          </a:xfrm>
          <a:prstGeom prst="rect">
            <a:avLst/>
          </a:prstGeom>
          <a:solidFill>
            <a:srgbClr val="FFFFFF"/>
          </a:solidFill>
          <a:ln/>
          <a:effectLst>
            <a:outerShdw sx="100000" sy="100000" kx="0" ky="0" algn="bl" rotWithShape="0" blurRad="76200" dist="12700" dir="8100000">
              <a:srgbClr val="000000">
                <a:alpha val="8000"/>
              </a:srgbClr>
            </a:outerShdw>
          </a:effectLst>
        </p:spPr>
      </p:sp>
      <p:sp>
        <p:nvSpPr>
          <p:cNvPr id="9" name="Shape 6"/>
          <p:cNvSpPr/>
          <p:nvPr/>
        </p:nvSpPr>
        <p:spPr>
          <a:xfrm>
            <a:off x="274320" y="1810512"/>
            <a:ext cx="54864" cy="896112"/>
          </a:xfrm>
          <a:prstGeom prst="rect">
            <a:avLst/>
          </a:prstGeom>
          <a:solidFill>
            <a:srgbClr val="2563EB"/>
          </a:solidFill>
          <a:ln/>
        </p:spPr>
      </p:sp>
      <p:pic>
        <p:nvPicPr>
          <p:cNvPr id="10" name="Image 1" descr="preencoded.png">    </p:cNvPr>
          <p:cNvPicPr>
            <a:picLocks noChangeAspect="1"/>
          </p:cNvPicPr>
          <p:nvPr/>
        </p:nvPicPr>
        <p:blipFill>
          <a:blip r:embed="rId2"/>
          <a:stretch>
            <a:fillRect/>
          </a:stretch>
        </p:blipFill>
        <p:spPr>
          <a:xfrm>
            <a:off x="411480" y="2011680"/>
            <a:ext cx="274320" cy="274320"/>
          </a:xfrm>
          <a:prstGeom prst="rect">
            <a:avLst/>
          </a:prstGeom>
        </p:spPr>
      </p:pic>
      <p:sp>
        <p:nvSpPr>
          <p:cNvPr id="11" name="Text 7"/>
          <p:cNvSpPr/>
          <p:nvPr/>
        </p:nvSpPr>
        <p:spPr>
          <a:xfrm>
            <a:off x="777240" y="1856232"/>
            <a:ext cx="4160520" cy="274320"/>
          </a:xfrm>
          <a:prstGeom prst="rect">
            <a:avLst/>
          </a:prstGeom>
          <a:noFill/>
          <a:ln/>
        </p:spPr>
        <p:txBody>
          <a:bodyPr wrap="square" lIns="0" tIns="0" rIns="0" bIns="0" rtlCol="0" anchor="ctr"/>
          <a:lstStyle/>
          <a:p>
            <a:pPr indent="0" marL="0">
              <a:buNone/>
            </a:pPr>
            <a:r>
              <a:rPr lang="en-US" sz="1100" b="1" dirty="0">
                <a:solidFill>
                  <a:srgbClr val="1A2B45"/>
                </a:solidFill>
                <a:latin typeface="Calibri" pitchFamily="34" charset="0"/>
                <a:ea typeface="Calibri" pitchFamily="34" charset="-122"/>
                <a:cs typeface="Calibri" pitchFamily="34" charset="-120"/>
              </a:rPr>
              <a:t>Data Available, But Siloed</a:t>
            </a:r>
            <a:endParaRPr lang="en-US" sz="1100" dirty="0"/>
          </a:p>
        </p:txBody>
      </p:sp>
      <p:sp>
        <p:nvSpPr>
          <p:cNvPr id="12" name="Text 8"/>
          <p:cNvSpPr/>
          <p:nvPr/>
        </p:nvSpPr>
        <p:spPr>
          <a:xfrm>
            <a:off x="777240" y="2139696"/>
            <a:ext cx="4160520" cy="530352"/>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Operational data exists — barge status, OGV ETAs, stockpile levels — but sits in separate files and inboxes. There is no single source of truth.</a:t>
            </a:r>
            <a:endParaRPr lang="en-US" sz="900" dirty="0"/>
          </a:p>
        </p:txBody>
      </p:sp>
      <p:sp>
        <p:nvSpPr>
          <p:cNvPr id="13" name="Shape 9"/>
          <p:cNvSpPr/>
          <p:nvPr/>
        </p:nvSpPr>
        <p:spPr>
          <a:xfrm>
            <a:off x="274320" y="2798064"/>
            <a:ext cx="4754880" cy="896112"/>
          </a:xfrm>
          <a:prstGeom prst="rect">
            <a:avLst/>
          </a:prstGeom>
          <a:solidFill>
            <a:srgbClr val="FFFFFF"/>
          </a:solidFill>
          <a:ln/>
          <a:effectLst>
            <a:outerShdw sx="100000" sy="100000" kx="0" ky="0" algn="bl" rotWithShape="0" blurRad="76200" dist="12700" dir="8100000">
              <a:srgbClr val="000000">
                <a:alpha val="8000"/>
              </a:srgbClr>
            </a:outerShdw>
          </a:effectLst>
        </p:spPr>
      </p:sp>
      <p:sp>
        <p:nvSpPr>
          <p:cNvPr id="14" name="Shape 10"/>
          <p:cNvSpPr/>
          <p:nvPr/>
        </p:nvSpPr>
        <p:spPr>
          <a:xfrm>
            <a:off x="274320" y="2798064"/>
            <a:ext cx="54864" cy="896112"/>
          </a:xfrm>
          <a:prstGeom prst="rect">
            <a:avLst/>
          </a:prstGeom>
          <a:solidFill>
            <a:srgbClr val="0D9488"/>
          </a:solidFill>
          <a:ln/>
        </p:spPr>
      </p:sp>
      <p:pic>
        <p:nvPicPr>
          <p:cNvPr id="15" name="Image 2" descr="preencoded.png">    </p:cNvPr>
          <p:cNvPicPr>
            <a:picLocks noChangeAspect="1"/>
          </p:cNvPicPr>
          <p:nvPr/>
        </p:nvPicPr>
        <p:blipFill>
          <a:blip r:embed="rId3"/>
          <a:stretch>
            <a:fillRect/>
          </a:stretch>
        </p:blipFill>
        <p:spPr>
          <a:xfrm>
            <a:off x="411480" y="2999232"/>
            <a:ext cx="274320" cy="274320"/>
          </a:xfrm>
          <a:prstGeom prst="rect">
            <a:avLst/>
          </a:prstGeom>
        </p:spPr>
      </p:pic>
      <p:sp>
        <p:nvSpPr>
          <p:cNvPr id="16" name="Text 11"/>
          <p:cNvSpPr/>
          <p:nvPr/>
        </p:nvSpPr>
        <p:spPr>
          <a:xfrm>
            <a:off x="777240" y="2843784"/>
            <a:ext cx="4160520" cy="274320"/>
          </a:xfrm>
          <a:prstGeom prst="rect">
            <a:avLst/>
          </a:prstGeom>
          <a:noFill/>
          <a:ln/>
        </p:spPr>
        <p:txBody>
          <a:bodyPr wrap="square" lIns="0" tIns="0" rIns="0" bIns="0" rtlCol="0" anchor="ctr"/>
          <a:lstStyle/>
          <a:p>
            <a:pPr indent="0" marL="0">
              <a:buNone/>
            </a:pPr>
            <a:r>
              <a:rPr lang="en-US" sz="1100" b="1" dirty="0">
                <a:solidFill>
                  <a:srgbClr val="1A2B45"/>
                </a:solidFill>
                <a:latin typeface="Calibri" pitchFamily="34" charset="0"/>
                <a:ea typeface="Calibri" pitchFamily="34" charset="-122"/>
                <a:cs typeface="Calibri" pitchFamily="34" charset="-120"/>
              </a:rPr>
              <a:t>AIS / GPS via Spinergie</a:t>
            </a:r>
            <a:endParaRPr lang="en-US" sz="1100" dirty="0"/>
          </a:p>
        </p:txBody>
      </p:sp>
      <p:sp>
        <p:nvSpPr>
          <p:cNvPr id="17" name="Text 12"/>
          <p:cNvSpPr/>
          <p:nvPr/>
        </p:nvSpPr>
        <p:spPr>
          <a:xfrm>
            <a:off x="777240" y="3127248"/>
            <a:ext cx="4160520" cy="530352"/>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Vessel positions are accessible through Spinergie's platform (spinergie.com). However, these live signals are not yet wired into the planning workflow, so planned vs actual ETA diverges silently.</a:t>
            </a:r>
            <a:endParaRPr lang="en-US" sz="900" dirty="0"/>
          </a:p>
        </p:txBody>
      </p:sp>
      <p:sp>
        <p:nvSpPr>
          <p:cNvPr id="18" name="Shape 13"/>
          <p:cNvSpPr/>
          <p:nvPr/>
        </p:nvSpPr>
        <p:spPr>
          <a:xfrm>
            <a:off x="274320" y="3785616"/>
            <a:ext cx="4754880" cy="896112"/>
          </a:xfrm>
          <a:prstGeom prst="rect">
            <a:avLst/>
          </a:prstGeom>
          <a:solidFill>
            <a:srgbClr val="FFFFFF"/>
          </a:solidFill>
          <a:ln/>
          <a:effectLst>
            <a:outerShdw sx="100000" sy="100000" kx="0" ky="0" algn="bl" rotWithShape="0" blurRad="76200" dist="12700" dir="8100000">
              <a:srgbClr val="000000">
                <a:alpha val="8000"/>
              </a:srgbClr>
            </a:outerShdw>
          </a:effectLst>
        </p:spPr>
      </p:sp>
      <p:sp>
        <p:nvSpPr>
          <p:cNvPr id="19" name="Shape 14"/>
          <p:cNvSpPr/>
          <p:nvPr/>
        </p:nvSpPr>
        <p:spPr>
          <a:xfrm>
            <a:off x="274320" y="3785616"/>
            <a:ext cx="54864" cy="896112"/>
          </a:xfrm>
          <a:prstGeom prst="rect">
            <a:avLst/>
          </a:prstGeom>
          <a:solidFill>
            <a:srgbClr val="F59E0B"/>
          </a:solidFill>
          <a:ln/>
        </p:spPr>
      </p:sp>
      <p:pic>
        <p:nvPicPr>
          <p:cNvPr id="20" name="Image 3" descr="preencoded.png">    </p:cNvPr>
          <p:cNvPicPr>
            <a:picLocks noChangeAspect="1"/>
          </p:cNvPicPr>
          <p:nvPr/>
        </p:nvPicPr>
        <p:blipFill>
          <a:blip r:embed="rId4"/>
          <a:stretch>
            <a:fillRect/>
          </a:stretch>
        </p:blipFill>
        <p:spPr>
          <a:xfrm>
            <a:off x="411480" y="3986784"/>
            <a:ext cx="274320" cy="274320"/>
          </a:xfrm>
          <a:prstGeom prst="rect">
            <a:avLst/>
          </a:prstGeom>
        </p:spPr>
      </p:pic>
      <p:sp>
        <p:nvSpPr>
          <p:cNvPr id="21" name="Text 15"/>
          <p:cNvSpPr/>
          <p:nvPr/>
        </p:nvSpPr>
        <p:spPr>
          <a:xfrm>
            <a:off x="777240" y="3831336"/>
            <a:ext cx="4160520" cy="274320"/>
          </a:xfrm>
          <a:prstGeom prst="rect">
            <a:avLst/>
          </a:prstGeom>
          <a:noFill/>
          <a:ln/>
        </p:spPr>
        <p:txBody>
          <a:bodyPr wrap="square" lIns="0" tIns="0" rIns="0" bIns="0" rtlCol="0" anchor="ctr"/>
          <a:lstStyle/>
          <a:p>
            <a:pPr indent="0" marL="0">
              <a:buNone/>
            </a:pPr>
            <a:r>
              <a:rPr lang="en-US" sz="1100" b="1" dirty="0">
                <a:solidFill>
                  <a:srgbClr val="1A2B45"/>
                </a:solidFill>
                <a:latin typeface="Calibri" pitchFamily="34" charset="0"/>
                <a:ea typeface="Calibri" pitchFamily="34" charset="-122"/>
                <a:cs typeface="Calibri" pitchFamily="34" charset="-120"/>
              </a:rPr>
              <a:t>Reactive, Not Proactive</a:t>
            </a:r>
            <a:endParaRPr lang="en-US" sz="1100" dirty="0"/>
          </a:p>
        </p:txBody>
      </p:sp>
      <p:sp>
        <p:nvSpPr>
          <p:cNvPr id="22" name="Text 16"/>
          <p:cNvSpPr/>
          <p:nvPr/>
        </p:nvSpPr>
        <p:spPr>
          <a:xfrm>
            <a:off x="777240" y="4114800"/>
            <a:ext cx="4160520" cy="530352"/>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Disruptions (tide misses, breakdowns, grade conflicts) are handled ad-hoc via phone/WhatsApp. Recovery decisions depend entirely on individual expertise, with no scenario comparison.</a:t>
            </a:r>
            <a:endParaRPr lang="en-US" sz="900" dirty="0"/>
          </a:p>
        </p:txBody>
      </p:sp>
      <p:sp>
        <p:nvSpPr>
          <p:cNvPr id="23" name="Shape 17"/>
          <p:cNvSpPr/>
          <p:nvPr/>
        </p:nvSpPr>
        <p:spPr>
          <a:xfrm>
            <a:off x="5257800" y="822960"/>
            <a:ext cx="3566160" cy="3950208"/>
          </a:xfrm>
          <a:prstGeom prst="rect">
            <a:avLst/>
          </a:prstGeom>
          <a:solidFill>
            <a:srgbClr val="FFFFFF"/>
          </a:solidFill>
          <a:ln/>
          <a:effectLst>
            <a:outerShdw sx="100000" sy="100000" kx="0" ky="0" algn="bl" rotWithShape="0" blurRad="101600" dist="25400" dir="8100000">
              <a:srgbClr val="000000">
                <a:alpha val="7000"/>
              </a:srgbClr>
            </a:outerShdw>
          </a:effectLst>
        </p:spPr>
      </p:sp>
      <p:sp>
        <p:nvSpPr>
          <p:cNvPr id="24" name="Text 18"/>
          <p:cNvSpPr/>
          <p:nvPr/>
        </p:nvSpPr>
        <p:spPr>
          <a:xfrm>
            <a:off x="5349240" y="914400"/>
            <a:ext cx="3383280" cy="292608"/>
          </a:xfrm>
          <a:prstGeom prst="rect">
            <a:avLst/>
          </a:prstGeom>
          <a:noFill/>
          <a:ln/>
        </p:spPr>
        <p:txBody>
          <a:bodyPr wrap="square" lIns="0" tIns="0" rIns="0" bIns="0" rtlCol="0" anchor="ctr"/>
          <a:lstStyle/>
          <a:p>
            <a:pPr indent="0" marL="0">
              <a:buNone/>
            </a:pPr>
            <a:r>
              <a:rPr lang="en-US" sz="1050" b="1" dirty="0">
                <a:solidFill>
                  <a:srgbClr val="1A2B45"/>
                </a:solidFill>
                <a:latin typeface="Calibri" pitchFamily="34" charset="0"/>
                <a:ea typeface="Calibri" pitchFamily="34" charset="-122"/>
                <a:cs typeface="Calibri" pitchFamily="34" charset="-120"/>
              </a:rPr>
              <a:t>Where Value Leaks Today</a:t>
            </a:r>
            <a:endParaRPr lang="en-US" sz="1050" dirty="0"/>
          </a:p>
        </p:txBody>
      </p:sp>
      <p:sp>
        <p:nvSpPr>
          <p:cNvPr id="25" name="Shape 19"/>
          <p:cNvSpPr/>
          <p:nvPr/>
        </p:nvSpPr>
        <p:spPr>
          <a:xfrm>
            <a:off x="5376672" y="1344168"/>
            <a:ext cx="128016" cy="128016"/>
          </a:xfrm>
          <a:prstGeom prst="ellipse">
            <a:avLst/>
          </a:prstGeom>
          <a:solidFill>
            <a:srgbClr val="EF4444"/>
          </a:solidFill>
          <a:ln/>
        </p:spPr>
      </p:sp>
      <p:sp>
        <p:nvSpPr>
          <p:cNvPr id="26" name="Text 20"/>
          <p:cNvSpPr/>
          <p:nvPr/>
        </p:nvSpPr>
        <p:spPr>
          <a:xfrm>
            <a:off x="5577840" y="1298448"/>
            <a:ext cx="3108960" cy="274320"/>
          </a:xfrm>
          <a:prstGeom prst="rect">
            <a:avLst/>
          </a:prstGeom>
          <a:noFill/>
          <a:ln/>
        </p:spPr>
        <p:txBody>
          <a:bodyPr wrap="square" lIns="0" tIns="0" rIns="0" bIns="0" rtlCol="0" anchor="ctr"/>
          <a:lstStyle/>
          <a:p>
            <a:pPr indent="0" marL="0">
              <a:buNone/>
            </a:pPr>
            <a:r>
              <a:rPr lang="en-US" sz="950" dirty="0">
                <a:solidFill>
                  <a:srgbClr val="475569"/>
                </a:solidFill>
                <a:latin typeface="Calibri" pitchFamily="34" charset="0"/>
                <a:ea typeface="Calibri" pitchFamily="34" charset="-122"/>
                <a:cs typeface="Calibri" pitchFamily="34" charset="-120"/>
              </a:rPr>
              <a:t>Missed tide windows</a:t>
            </a:r>
            <a:endParaRPr lang="en-US" sz="950" dirty="0"/>
          </a:p>
        </p:txBody>
      </p:sp>
      <p:sp>
        <p:nvSpPr>
          <p:cNvPr id="27" name="Shape 21"/>
          <p:cNvSpPr/>
          <p:nvPr/>
        </p:nvSpPr>
        <p:spPr>
          <a:xfrm>
            <a:off x="5376672" y="1664208"/>
            <a:ext cx="128016" cy="128016"/>
          </a:xfrm>
          <a:prstGeom prst="ellipse">
            <a:avLst/>
          </a:prstGeom>
          <a:solidFill>
            <a:srgbClr val="EF4444"/>
          </a:solidFill>
          <a:ln/>
        </p:spPr>
      </p:sp>
      <p:sp>
        <p:nvSpPr>
          <p:cNvPr id="28" name="Text 22"/>
          <p:cNvSpPr/>
          <p:nvPr/>
        </p:nvSpPr>
        <p:spPr>
          <a:xfrm>
            <a:off x="5577840" y="1618488"/>
            <a:ext cx="3108960" cy="274320"/>
          </a:xfrm>
          <a:prstGeom prst="rect">
            <a:avLst/>
          </a:prstGeom>
          <a:noFill/>
          <a:ln/>
        </p:spPr>
        <p:txBody>
          <a:bodyPr wrap="square" lIns="0" tIns="0" rIns="0" bIns="0" rtlCol="0" anchor="ctr"/>
          <a:lstStyle/>
          <a:p>
            <a:pPr indent="0" marL="0">
              <a:buNone/>
            </a:pPr>
            <a:r>
              <a:rPr lang="en-US" sz="950" dirty="0">
                <a:solidFill>
                  <a:srgbClr val="475569"/>
                </a:solidFill>
                <a:latin typeface="Calibri" pitchFamily="34" charset="0"/>
                <a:ea typeface="Calibri" pitchFamily="34" charset="-122"/>
                <a:cs typeface="Calibri" pitchFamily="34" charset="-120"/>
              </a:rPr>
              <a:t>Barge queue congestion</a:t>
            </a:r>
            <a:endParaRPr lang="en-US" sz="950" dirty="0"/>
          </a:p>
        </p:txBody>
      </p:sp>
      <p:sp>
        <p:nvSpPr>
          <p:cNvPr id="29" name="Shape 23"/>
          <p:cNvSpPr/>
          <p:nvPr/>
        </p:nvSpPr>
        <p:spPr>
          <a:xfrm>
            <a:off x="5376672" y="1984248"/>
            <a:ext cx="128016" cy="128016"/>
          </a:xfrm>
          <a:prstGeom prst="ellipse">
            <a:avLst/>
          </a:prstGeom>
          <a:solidFill>
            <a:srgbClr val="F59E0B"/>
          </a:solidFill>
          <a:ln/>
        </p:spPr>
      </p:sp>
      <p:sp>
        <p:nvSpPr>
          <p:cNvPr id="30" name="Text 24"/>
          <p:cNvSpPr/>
          <p:nvPr/>
        </p:nvSpPr>
        <p:spPr>
          <a:xfrm>
            <a:off x="5577840" y="1938528"/>
            <a:ext cx="3108960" cy="274320"/>
          </a:xfrm>
          <a:prstGeom prst="rect">
            <a:avLst/>
          </a:prstGeom>
          <a:noFill/>
          <a:ln/>
        </p:spPr>
        <p:txBody>
          <a:bodyPr wrap="square" lIns="0" tIns="0" rIns="0" bIns="0" rtlCol="0" anchor="ctr"/>
          <a:lstStyle/>
          <a:p>
            <a:pPr indent="0" marL="0">
              <a:buNone/>
            </a:pPr>
            <a:r>
              <a:rPr lang="en-US" sz="950" dirty="0">
                <a:solidFill>
                  <a:srgbClr val="475569"/>
                </a:solidFill>
                <a:latin typeface="Calibri" pitchFamily="34" charset="0"/>
                <a:ea typeface="Calibri" pitchFamily="34" charset="-122"/>
                <a:cs typeface="Calibri" pitchFamily="34" charset="-120"/>
              </a:rPr>
              <a:t>Grade sequence errors</a:t>
            </a:r>
            <a:endParaRPr lang="en-US" sz="950" dirty="0"/>
          </a:p>
        </p:txBody>
      </p:sp>
      <p:sp>
        <p:nvSpPr>
          <p:cNvPr id="31" name="Shape 25"/>
          <p:cNvSpPr/>
          <p:nvPr/>
        </p:nvSpPr>
        <p:spPr>
          <a:xfrm>
            <a:off x="5376672" y="2304288"/>
            <a:ext cx="128016" cy="128016"/>
          </a:xfrm>
          <a:prstGeom prst="ellipse">
            <a:avLst/>
          </a:prstGeom>
          <a:solidFill>
            <a:srgbClr val="F59E0B"/>
          </a:solidFill>
          <a:ln/>
        </p:spPr>
      </p:sp>
      <p:sp>
        <p:nvSpPr>
          <p:cNvPr id="32" name="Text 26"/>
          <p:cNvSpPr/>
          <p:nvPr/>
        </p:nvSpPr>
        <p:spPr>
          <a:xfrm>
            <a:off x="5577840" y="2258568"/>
            <a:ext cx="3108960" cy="274320"/>
          </a:xfrm>
          <a:prstGeom prst="rect">
            <a:avLst/>
          </a:prstGeom>
          <a:noFill/>
          <a:ln/>
        </p:spPr>
        <p:txBody>
          <a:bodyPr wrap="square" lIns="0" tIns="0" rIns="0" bIns="0" rtlCol="0" anchor="ctr"/>
          <a:lstStyle/>
          <a:p>
            <a:pPr indent="0" marL="0">
              <a:buNone/>
            </a:pPr>
            <a:r>
              <a:rPr lang="en-US" sz="950" dirty="0">
                <a:solidFill>
                  <a:srgbClr val="475569"/>
                </a:solidFill>
                <a:latin typeface="Calibri" pitchFamily="34" charset="0"/>
                <a:ea typeface="Calibri" pitchFamily="34" charset="-122"/>
                <a:cs typeface="Calibri" pitchFamily="34" charset="-120"/>
              </a:rPr>
              <a:t>CTS underutilisation</a:t>
            </a:r>
            <a:endParaRPr lang="en-US" sz="950" dirty="0"/>
          </a:p>
        </p:txBody>
      </p:sp>
      <p:sp>
        <p:nvSpPr>
          <p:cNvPr id="33" name="Shape 27"/>
          <p:cNvSpPr/>
          <p:nvPr/>
        </p:nvSpPr>
        <p:spPr>
          <a:xfrm>
            <a:off x="5376672" y="2624328"/>
            <a:ext cx="128016" cy="128016"/>
          </a:xfrm>
          <a:prstGeom prst="ellipse">
            <a:avLst/>
          </a:prstGeom>
          <a:solidFill>
            <a:srgbClr val="EF4444"/>
          </a:solidFill>
          <a:ln/>
        </p:spPr>
      </p:sp>
      <p:sp>
        <p:nvSpPr>
          <p:cNvPr id="34" name="Text 28"/>
          <p:cNvSpPr/>
          <p:nvPr/>
        </p:nvSpPr>
        <p:spPr>
          <a:xfrm>
            <a:off x="5577840" y="2578608"/>
            <a:ext cx="3108960" cy="274320"/>
          </a:xfrm>
          <a:prstGeom prst="rect">
            <a:avLst/>
          </a:prstGeom>
          <a:noFill/>
          <a:ln/>
        </p:spPr>
        <p:txBody>
          <a:bodyPr wrap="square" lIns="0" tIns="0" rIns="0" bIns="0" rtlCol="0" anchor="ctr"/>
          <a:lstStyle/>
          <a:p>
            <a:pPr indent="0" marL="0">
              <a:buNone/>
            </a:pPr>
            <a:r>
              <a:rPr lang="en-US" sz="950" dirty="0">
                <a:solidFill>
                  <a:srgbClr val="475569"/>
                </a:solidFill>
                <a:latin typeface="Calibri" pitchFamily="34" charset="0"/>
                <a:ea typeface="Calibri" pitchFamily="34" charset="-122"/>
                <a:cs typeface="Calibri" pitchFamily="34" charset="-120"/>
              </a:rPr>
              <a:t>OGV demurrage exposure</a:t>
            </a:r>
            <a:endParaRPr lang="en-US" sz="950" dirty="0"/>
          </a:p>
        </p:txBody>
      </p:sp>
      <p:sp>
        <p:nvSpPr>
          <p:cNvPr id="35" name="Shape 29"/>
          <p:cNvSpPr/>
          <p:nvPr/>
        </p:nvSpPr>
        <p:spPr>
          <a:xfrm>
            <a:off x="5376672" y="2944368"/>
            <a:ext cx="128016" cy="128016"/>
          </a:xfrm>
          <a:prstGeom prst="ellipse">
            <a:avLst/>
          </a:prstGeom>
          <a:solidFill>
            <a:srgbClr val="F59E0B"/>
          </a:solidFill>
          <a:ln/>
        </p:spPr>
      </p:sp>
      <p:sp>
        <p:nvSpPr>
          <p:cNvPr id="36" name="Text 30"/>
          <p:cNvSpPr/>
          <p:nvPr/>
        </p:nvSpPr>
        <p:spPr>
          <a:xfrm>
            <a:off x="5577840" y="2898648"/>
            <a:ext cx="3108960" cy="274320"/>
          </a:xfrm>
          <a:prstGeom prst="rect">
            <a:avLst/>
          </a:prstGeom>
          <a:noFill/>
          <a:ln/>
        </p:spPr>
        <p:txBody>
          <a:bodyPr wrap="square" lIns="0" tIns="0" rIns="0" bIns="0" rtlCol="0" anchor="ctr"/>
          <a:lstStyle/>
          <a:p>
            <a:pPr indent="0" marL="0">
              <a:buNone/>
            </a:pPr>
            <a:r>
              <a:rPr lang="en-US" sz="950" dirty="0">
                <a:solidFill>
                  <a:srgbClr val="475569"/>
                </a:solidFill>
                <a:latin typeface="Calibri" pitchFamily="34" charset="0"/>
                <a:ea typeface="Calibri" pitchFamily="34" charset="-122"/>
                <a:cs typeface="Calibri" pitchFamily="34" charset="-120"/>
              </a:rPr>
              <a:t>Manual re-scheduling effort</a:t>
            </a:r>
            <a:endParaRPr lang="en-US" sz="950" dirty="0"/>
          </a:p>
        </p:txBody>
      </p:sp>
      <p:sp>
        <p:nvSpPr>
          <p:cNvPr id="37" name="Shape 31"/>
          <p:cNvSpPr/>
          <p:nvPr/>
        </p:nvSpPr>
        <p:spPr>
          <a:xfrm>
            <a:off x="5376672" y="3264408"/>
            <a:ext cx="128016" cy="128016"/>
          </a:xfrm>
          <a:prstGeom prst="ellipse">
            <a:avLst/>
          </a:prstGeom>
          <a:solidFill>
            <a:srgbClr val="EF4444"/>
          </a:solidFill>
          <a:ln/>
        </p:spPr>
      </p:sp>
      <p:sp>
        <p:nvSpPr>
          <p:cNvPr id="38" name="Text 32"/>
          <p:cNvSpPr/>
          <p:nvPr/>
        </p:nvSpPr>
        <p:spPr>
          <a:xfrm>
            <a:off x="5577840" y="3218688"/>
            <a:ext cx="3108960" cy="274320"/>
          </a:xfrm>
          <a:prstGeom prst="rect">
            <a:avLst/>
          </a:prstGeom>
          <a:noFill/>
          <a:ln/>
        </p:spPr>
        <p:txBody>
          <a:bodyPr wrap="square" lIns="0" tIns="0" rIns="0" bIns="0" rtlCol="0" anchor="ctr"/>
          <a:lstStyle/>
          <a:p>
            <a:pPr indent="0" marL="0">
              <a:buNone/>
            </a:pPr>
            <a:r>
              <a:rPr lang="en-US" sz="950" dirty="0">
                <a:solidFill>
                  <a:srgbClr val="475569"/>
                </a:solidFill>
                <a:latin typeface="Calibri" pitchFamily="34" charset="0"/>
                <a:ea typeface="Calibri" pitchFamily="34" charset="-122"/>
                <a:cs typeface="Calibri" pitchFamily="34" charset="-120"/>
              </a:rPr>
              <a:t>No AIS↔plan reconciliation</a:t>
            </a:r>
            <a:endParaRPr lang="en-US" sz="950" dirty="0"/>
          </a:p>
        </p:txBody>
      </p:sp>
      <p:sp>
        <p:nvSpPr>
          <p:cNvPr id="39" name="Shape 33"/>
          <p:cNvSpPr/>
          <p:nvPr/>
        </p:nvSpPr>
        <p:spPr>
          <a:xfrm>
            <a:off x="5376672" y="3584448"/>
            <a:ext cx="128016" cy="128016"/>
          </a:xfrm>
          <a:prstGeom prst="ellipse">
            <a:avLst/>
          </a:prstGeom>
          <a:solidFill>
            <a:srgbClr val="475569"/>
          </a:solidFill>
          <a:ln/>
        </p:spPr>
      </p:sp>
      <p:sp>
        <p:nvSpPr>
          <p:cNvPr id="40" name="Text 34"/>
          <p:cNvSpPr/>
          <p:nvPr/>
        </p:nvSpPr>
        <p:spPr>
          <a:xfrm>
            <a:off x="5577840" y="3538728"/>
            <a:ext cx="3108960" cy="274320"/>
          </a:xfrm>
          <a:prstGeom prst="rect">
            <a:avLst/>
          </a:prstGeom>
          <a:noFill/>
          <a:ln/>
        </p:spPr>
        <p:txBody>
          <a:bodyPr wrap="square" lIns="0" tIns="0" rIns="0" bIns="0" rtlCol="0" anchor="ctr"/>
          <a:lstStyle/>
          <a:p>
            <a:pPr indent="0" marL="0">
              <a:buNone/>
            </a:pPr>
            <a:r>
              <a:rPr lang="en-US" sz="950" dirty="0">
                <a:solidFill>
                  <a:srgbClr val="475569"/>
                </a:solidFill>
                <a:latin typeface="Calibri" pitchFamily="34" charset="0"/>
                <a:ea typeface="Calibri" pitchFamily="34" charset="-122"/>
                <a:cs typeface="Calibri" pitchFamily="34" charset="-120"/>
              </a:rPr>
              <a:t>Zero scenario versioning</a:t>
            </a:r>
            <a:endParaRPr lang="en-US" sz="950" dirty="0"/>
          </a:p>
        </p:txBody>
      </p:sp>
      <p:sp>
        <p:nvSpPr>
          <p:cNvPr id="41" name="Shape 35"/>
          <p:cNvSpPr/>
          <p:nvPr/>
        </p:nvSpPr>
        <p:spPr>
          <a:xfrm>
            <a:off x="5349240" y="3886200"/>
            <a:ext cx="3383280" cy="658368"/>
          </a:xfrm>
          <a:prstGeom prst="rect">
            <a:avLst/>
          </a:prstGeom>
          <a:solidFill>
            <a:srgbClr val="E8EDF4"/>
          </a:solidFill>
          <a:ln/>
        </p:spPr>
      </p:sp>
      <p:sp>
        <p:nvSpPr>
          <p:cNvPr id="42" name="Text 36"/>
          <p:cNvSpPr/>
          <p:nvPr/>
        </p:nvSpPr>
        <p:spPr>
          <a:xfrm>
            <a:off x="5394960" y="3904488"/>
            <a:ext cx="3291840" cy="621792"/>
          </a:xfrm>
          <a:prstGeom prst="rect">
            <a:avLst/>
          </a:prstGeom>
          <a:noFill/>
          <a:ln/>
        </p:spPr>
        <p:txBody>
          <a:bodyPr wrap="square" lIns="50800" tIns="50800" rIns="50800" bIns="50800" rtlCol="0" anchor="ctr"/>
          <a:lstStyle/>
          <a:p>
            <a:pPr algn="l" indent="0" marL="0">
              <a:buNone/>
            </a:pPr>
            <a:r>
              <a:rPr lang="en-US" sz="850" i="1" dirty="0">
                <a:solidFill>
                  <a:srgbClr val="1A2B45"/>
                </a:solidFill>
                <a:latin typeface="Calibri" pitchFamily="34" charset="0"/>
                <a:ea typeface="Calibri" pitchFamily="34" charset="-122"/>
                <a:cs typeface="Calibri" pitchFamily="34" charset="-120"/>
              </a:rPr>
              <a:t>Spinergie (spinergie.com) provides real-time AIS/GPS vessel tracking — but this intelligence is not yet connected to the scheduling workflow.</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411480" y="201168"/>
            <a:ext cx="8321040" cy="502920"/>
          </a:xfrm>
          <a:prstGeom prst="rect">
            <a:avLst/>
          </a:prstGeom>
          <a:noFill/>
          <a:ln/>
        </p:spPr>
        <p:txBody>
          <a:bodyPr wrap="square" lIns="0" tIns="0" rIns="0" bIns="0" rtlCol="0" anchor="ctr"/>
          <a:lstStyle/>
          <a:p>
            <a:pPr algn="l" indent="0" marL="0">
              <a:buNone/>
            </a:pPr>
            <a:r>
              <a:rPr lang="en-US" sz="2200" b="1" dirty="0">
                <a:solidFill>
                  <a:srgbClr val="1A2B45"/>
                </a:solidFill>
                <a:latin typeface="Calibri" pitchFamily="34" charset="0"/>
                <a:ea typeface="Calibri" pitchFamily="34" charset="-122"/>
                <a:cs typeface="Calibri" pitchFamily="34" charset="-120"/>
              </a:rPr>
              <a:t>End-to-End Solution Scope — The Full Chain</a:t>
            </a:r>
            <a:endParaRPr lang="en-US" sz="2200" dirty="0"/>
          </a:p>
        </p:txBody>
      </p:sp>
      <p:sp>
        <p:nvSpPr>
          <p:cNvPr id="3" name="Shape 1"/>
          <p:cNvSpPr/>
          <p:nvPr/>
        </p:nvSpPr>
        <p:spPr>
          <a:xfrm>
            <a:off x="256032" y="960120"/>
            <a:ext cx="1106424" cy="804672"/>
          </a:xfrm>
          <a:prstGeom prst="rect">
            <a:avLst/>
          </a:prstGeom>
          <a:solidFill>
            <a:srgbClr val="3B5288"/>
          </a:solidFill>
          <a:ln/>
        </p:spPr>
      </p:sp>
      <p:sp>
        <p:nvSpPr>
          <p:cNvPr id="4" name="Text 2"/>
          <p:cNvSpPr/>
          <p:nvPr/>
        </p:nvSpPr>
        <p:spPr>
          <a:xfrm>
            <a:off x="256032" y="960120"/>
            <a:ext cx="1106424" cy="804672"/>
          </a:xfrm>
          <a:prstGeom prst="rect">
            <a:avLst/>
          </a:prstGeom>
          <a:noFill/>
          <a:ln/>
        </p:spPr>
        <p:txBody>
          <a:bodyPr wrap="square" lIns="25400" tIns="25400" rIns="25400" bIns="2540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Mine /</a:t>
            </a:r>
            <a:endParaRPr lang="en-US" sz="850" dirty="0"/>
          </a:p>
          <a:p>
            <a:pPr algn="ctr" indent="0" marL="0">
              <a:buNone/>
            </a:pPr>
            <a:r>
              <a:rPr lang="en-US" sz="850" b="1" dirty="0">
                <a:solidFill>
                  <a:srgbClr val="FFFFFF"/>
                </a:solidFill>
                <a:latin typeface="Calibri" pitchFamily="34" charset="0"/>
                <a:ea typeface="Calibri" pitchFamily="34" charset="-122"/>
                <a:cs typeface="Calibri" pitchFamily="34" charset="-120"/>
              </a:rPr>
              <a:t>CPP /</a:t>
            </a:r>
            <a:endParaRPr lang="en-US" sz="850" dirty="0"/>
          </a:p>
          <a:p>
            <a:pPr algn="ctr" indent="0" marL="0">
              <a:buNone/>
            </a:pPr>
            <a:r>
              <a:rPr lang="en-US" sz="850" b="1" dirty="0">
                <a:solidFill>
                  <a:srgbClr val="FFFFFF"/>
                </a:solidFill>
                <a:latin typeface="Calibri" pitchFamily="34" charset="0"/>
                <a:ea typeface="Calibri" pitchFamily="34" charset="-122"/>
                <a:cs typeface="Calibri" pitchFamily="34" charset="-120"/>
              </a:rPr>
              <a:t>Stockpile</a:t>
            </a:r>
            <a:endParaRPr lang="en-US" sz="850" dirty="0"/>
          </a:p>
        </p:txBody>
      </p:sp>
      <p:sp>
        <p:nvSpPr>
          <p:cNvPr id="5" name="Shape 3"/>
          <p:cNvSpPr/>
          <p:nvPr/>
        </p:nvSpPr>
        <p:spPr>
          <a:xfrm>
            <a:off x="1362456" y="1362456"/>
            <a:ext cx="128016" cy="0"/>
          </a:xfrm>
          <a:prstGeom prst="line">
            <a:avLst/>
          </a:prstGeom>
          <a:noFill/>
          <a:ln w="19050">
            <a:solidFill>
              <a:srgbClr val="94A3B8"/>
            </a:solidFill>
            <a:prstDash val="solid"/>
            <a:tailEnd type="open"/>
          </a:ln>
        </p:spPr>
      </p:sp>
      <p:sp>
        <p:nvSpPr>
          <p:cNvPr id="6" name="Shape 4"/>
          <p:cNvSpPr/>
          <p:nvPr/>
        </p:nvSpPr>
        <p:spPr>
          <a:xfrm>
            <a:off x="1490472" y="960120"/>
            <a:ext cx="1106424" cy="804672"/>
          </a:xfrm>
          <a:prstGeom prst="rect">
            <a:avLst/>
          </a:prstGeom>
          <a:solidFill>
            <a:srgbClr val="1A2B45"/>
          </a:solidFill>
          <a:ln/>
        </p:spPr>
      </p:sp>
      <p:sp>
        <p:nvSpPr>
          <p:cNvPr id="7" name="Text 5"/>
          <p:cNvSpPr/>
          <p:nvPr/>
        </p:nvSpPr>
        <p:spPr>
          <a:xfrm>
            <a:off x="1490472" y="960120"/>
            <a:ext cx="1106424" cy="804672"/>
          </a:xfrm>
          <a:prstGeom prst="rect">
            <a:avLst/>
          </a:prstGeom>
          <a:noFill/>
          <a:ln/>
        </p:spPr>
        <p:txBody>
          <a:bodyPr wrap="square" lIns="25400" tIns="25400" rIns="25400" bIns="2540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Jetty /</a:t>
            </a:r>
            <a:endParaRPr lang="en-US" sz="850" dirty="0"/>
          </a:p>
          <a:p>
            <a:pPr algn="ctr" indent="0" marL="0">
              <a:buNone/>
            </a:pPr>
            <a:r>
              <a:rPr lang="en-US" sz="850" b="1" dirty="0">
                <a:solidFill>
                  <a:srgbClr val="FFFFFF"/>
                </a:solidFill>
                <a:latin typeface="Calibri" pitchFamily="34" charset="0"/>
                <a:ea typeface="Calibri" pitchFamily="34" charset="-122"/>
                <a:cs typeface="Calibri" pitchFamily="34" charset="-120"/>
              </a:rPr>
              <a:t>BLC</a:t>
            </a:r>
            <a:endParaRPr lang="en-US" sz="850" dirty="0"/>
          </a:p>
          <a:p>
            <a:pPr algn="ctr" indent="0" marL="0">
              <a:buNone/>
            </a:pPr>
            <a:r>
              <a:rPr lang="en-US" sz="850" b="1" dirty="0">
                <a:solidFill>
                  <a:srgbClr val="FFFFFF"/>
                </a:solidFill>
                <a:latin typeface="Calibri" pitchFamily="34" charset="0"/>
                <a:ea typeface="Calibri" pitchFamily="34" charset="-122"/>
                <a:cs typeface="Calibri" pitchFamily="34" charset="-120"/>
              </a:rPr>
              <a:t>Loading</a:t>
            </a:r>
            <a:endParaRPr lang="en-US" sz="850" dirty="0"/>
          </a:p>
        </p:txBody>
      </p:sp>
      <p:sp>
        <p:nvSpPr>
          <p:cNvPr id="8" name="Shape 6"/>
          <p:cNvSpPr/>
          <p:nvPr/>
        </p:nvSpPr>
        <p:spPr>
          <a:xfrm>
            <a:off x="2596896" y="1362456"/>
            <a:ext cx="128016" cy="0"/>
          </a:xfrm>
          <a:prstGeom prst="line">
            <a:avLst/>
          </a:prstGeom>
          <a:noFill/>
          <a:ln w="19050">
            <a:solidFill>
              <a:srgbClr val="94A3B8"/>
            </a:solidFill>
            <a:prstDash val="solid"/>
            <a:tailEnd type="open"/>
          </a:ln>
        </p:spPr>
      </p:sp>
      <p:sp>
        <p:nvSpPr>
          <p:cNvPr id="9" name="Shape 7"/>
          <p:cNvSpPr/>
          <p:nvPr/>
        </p:nvSpPr>
        <p:spPr>
          <a:xfrm>
            <a:off x="2724912" y="960120"/>
            <a:ext cx="1106424" cy="804672"/>
          </a:xfrm>
          <a:prstGeom prst="rect">
            <a:avLst/>
          </a:prstGeom>
          <a:solidFill>
            <a:srgbClr val="2563EB"/>
          </a:solidFill>
          <a:ln/>
        </p:spPr>
      </p:sp>
      <p:sp>
        <p:nvSpPr>
          <p:cNvPr id="10" name="Text 8"/>
          <p:cNvSpPr/>
          <p:nvPr/>
        </p:nvSpPr>
        <p:spPr>
          <a:xfrm>
            <a:off x="2724912" y="960120"/>
            <a:ext cx="1106424" cy="804672"/>
          </a:xfrm>
          <a:prstGeom prst="rect">
            <a:avLst/>
          </a:prstGeom>
          <a:noFill/>
          <a:ln/>
        </p:spPr>
        <p:txBody>
          <a:bodyPr wrap="square" lIns="25400" tIns="25400" rIns="25400" bIns="2540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Tug +</a:t>
            </a:r>
            <a:endParaRPr lang="en-US" sz="850" dirty="0"/>
          </a:p>
          <a:p>
            <a:pPr algn="ctr" indent="0" marL="0">
              <a:buNone/>
            </a:pPr>
            <a:r>
              <a:rPr lang="en-US" sz="850" b="1" dirty="0">
                <a:solidFill>
                  <a:srgbClr val="FFFFFF"/>
                </a:solidFill>
                <a:latin typeface="Calibri" pitchFamily="34" charset="0"/>
                <a:ea typeface="Calibri" pitchFamily="34" charset="-122"/>
                <a:cs typeface="Calibri" pitchFamily="34" charset="-120"/>
              </a:rPr>
              <a:t>Barge</a:t>
            </a:r>
            <a:endParaRPr lang="en-US" sz="850" dirty="0"/>
          </a:p>
          <a:p>
            <a:pPr algn="ctr" indent="0" marL="0">
              <a:buNone/>
            </a:pPr>
            <a:r>
              <a:rPr lang="en-US" sz="850" b="1" dirty="0">
                <a:solidFill>
                  <a:srgbClr val="FFFFFF"/>
                </a:solidFill>
                <a:latin typeface="Calibri" pitchFamily="34" charset="0"/>
                <a:ea typeface="Calibri" pitchFamily="34" charset="-122"/>
                <a:cs typeface="Calibri" pitchFamily="34" charset="-120"/>
              </a:rPr>
              <a:t>River Run</a:t>
            </a:r>
            <a:endParaRPr lang="en-US" sz="850" dirty="0"/>
          </a:p>
        </p:txBody>
      </p:sp>
      <p:sp>
        <p:nvSpPr>
          <p:cNvPr id="11" name="Shape 9"/>
          <p:cNvSpPr/>
          <p:nvPr/>
        </p:nvSpPr>
        <p:spPr>
          <a:xfrm>
            <a:off x="3831336" y="1362456"/>
            <a:ext cx="128016" cy="0"/>
          </a:xfrm>
          <a:prstGeom prst="line">
            <a:avLst/>
          </a:prstGeom>
          <a:noFill/>
          <a:ln w="19050">
            <a:solidFill>
              <a:srgbClr val="94A3B8"/>
            </a:solidFill>
            <a:prstDash val="solid"/>
            <a:tailEnd type="open"/>
          </a:ln>
        </p:spPr>
      </p:sp>
      <p:sp>
        <p:nvSpPr>
          <p:cNvPr id="12" name="Shape 10"/>
          <p:cNvSpPr/>
          <p:nvPr/>
        </p:nvSpPr>
        <p:spPr>
          <a:xfrm>
            <a:off x="3959352" y="960120"/>
            <a:ext cx="1106424" cy="804672"/>
          </a:xfrm>
          <a:prstGeom prst="rect">
            <a:avLst/>
          </a:prstGeom>
          <a:solidFill>
            <a:srgbClr val="6366F1"/>
          </a:solidFill>
          <a:ln/>
        </p:spPr>
      </p:sp>
      <p:sp>
        <p:nvSpPr>
          <p:cNvPr id="13" name="Text 11"/>
          <p:cNvSpPr/>
          <p:nvPr/>
        </p:nvSpPr>
        <p:spPr>
          <a:xfrm>
            <a:off x="3959352" y="960120"/>
            <a:ext cx="1106424" cy="804672"/>
          </a:xfrm>
          <a:prstGeom prst="rect">
            <a:avLst/>
          </a:prstGeom>
          <a:noFill/>
          <a:ln/>
        </p:spPr>
        <p:txBody>
          <a:bodyPr wrap="square" lIns="25400" tIns="25400" rIns="25400" bIns="2540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Tide ·</a:t>
            </a:r>
            <a:endParaRPr lang="en-US" sz="850" dirty="0"/>
          </a:p>
          <a:p>
            <a:pPr algn="ctr" indent="0" marL="0">
              <a:buNone/>
            </a:pPr>
            <a:r>
              <a:rPr lang="en-US" sz="850" b="1" dirty="0">
                <a:solidFill>
                  <a:srgbClr val="FFFFFF"/>
                </a:solidFill>
                <a:latin typeface="Calibri" pitchFamily="34" charset="0"/>
                <a:ea typeface="Calibri" pitchFamily="34" charset="-122"/>
                <a:cs typeface="Calibri" pitchFamily="34" charset="-120"/>
              </a:rPr>
              <a:t>Bridge</a:t>
            </a:r>
            <a:endParaRPr lang="en-US" sz="850" dirty="0"/>
          </a:p>
          <a:p>
            <a:pPr algn="ctr" indent="0" marL="0">
              <a:buNone/>
            </a:pPr>
            <a:r>
              <a:rPr lang="en-US" sz="850" b="1" dirty="0">
                <a:solidFill>
                  <a:srgbClr val="FFFFFF"/>
                </a:solidFill>
                <a:latin typeface="Calibri" pitchFamily="34" charset="0"/>
                <a:ea typeface="Calibri" pitchFamily="34" charset="-122"/>
                <a:cs typeface="Calibri" pitchFamily="34" charset="-120"/>
              </a:rPr>
              <a:t>Windows</a:t>
            </a:r>
            <a:endParaRPr lang="en-US" sz="850" dirty="0"/>
          </a:p>
        </p:txBody>
      </p:sp>
      <p:sp>
        <p:nvSpPr>
          <p:cNvPr id="14" name="Shape 12"/>
          <p:cNvSpPr/>
          <p:nvPr/>
        </p:nvSpPr>
        <p:spPr>
          <a:xfrm>
            <a:off x="5065776" y="1362456"/>
            <a:ext cx="128016" cy="0"/>
          </a:xfrm>
          <a:prstGeom prst="line">
            <a:avLst/>
          </a:prstGeom>
          <a:noFill/>
          <a:ln w="19050">
            <a:solidFill>
              <a:srgbClr val="94A3B8"/>
            </a:solidFill>
            <a:prstDash val="solid"/>
            <a:tailEnd type="open"/>
          </a:ln>
        </p:spPr>
      </p:sp>
      <p:sp>
        <p:nvSpPr>
          <p:cNvPr id="15" name="Shape 13"/>
          <p:cNvSpPr/>
          <p:nvPr/>
        </p:nvSpPr>
        <p:spPr>
          <a:xfrm>
            <a:off x="5193792" y="960120"/>
            <a:ext cx="1106424" cy="804672"/>
          </a:xfrm>
          <a:prstGeom prst="rect">
            <a:avLst/>
          </a:prstGeom>
          <a:solidFill>
            <a:srgbClr val="0D9488"/>
          </a:solidFill>
          <a:ln/>
        </p:spPr>
      </p:sp>
      <p:sp>
        <p:nvSpPr>
          <p:cNvPr id="16" name="Text 14"/>
          <p:cNvSpPr/>
          <p:nvPr/>
        </p:nvSpPr>
        <p:spPr>
          <a:xfrm>
            <a:off x="5193792" y="960120"/>
            <a:ext cx="1106424" cy="804672"/>
          </a:xfrm>
          <a:prstGeom prst="rect">
            <a:avLst/>
          </a:prstGeom>
          <a:noFill/>
          <a:ln/>
        </p:spPr>
        <p:txBody>
          <a:bodyPr wrap="square" lIns="25400" tIns="25400" rIns="25400" bIns="2540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CTS /</a:t>
            </a:r>
            <a:endParaRPr lang="en-US" sz="850" dirty="0"/>
          </a:p>
          <a:p>
            <a:pPr algn="ctr" indent="0" marL="0">
              <a:buNone/>
            </a:pPr>
            <a:r>
              <a:rPr lang="en-US" sz="850" b="1" dirty="0">
                <a:solidFill>
                  <a:srgbClr val="FFFFFF"/>
                </a:solidFill>
                <a:latin typeface="Calibri" pitchFamily="34" charset="0"/>
                <a:ea typeface="Calibri" pitchFamily="34" charset="-122"/>
                <a:cs typeface="Calibri" pitchFamily="34" charset="-120"/>
              </a:rPr>
              <a:t>FTS /</a:t>
            </a:r>
            <a:endParaRPr lang="en-US" sz="850" dirty="0"/>
          </a:p>
          <a:p>
            <a:pPr algn="ctr" indent="0" marL="0">
              <a:buNone/>
            </a:pPr>
            <a:r>
              <a:rPr lang="en-US" sz="850" b="1" dirty="0">
                <a:solidFill>
                  <a:srgbClr val="FFFFFF"/>
                </a:solidFill>
                <a:latin typeface="Calibri" pitchFamily="34" charset="0"/>
                <a:ea typeface="Calibri" pitchFamily="34" charset="-122"/>
                <a:cs typeface="Calibri" pitchFamily="34" charset="-120"/>
              </a:rPr>
              <a:t>Float.Crane</a:t>
            </a:r>
            <a:endParaRPr lang="en-US" sz="850" dirty="0"/>
          </a:p>
        </p:txBody>
      </p:sp>
      <p:sp>
        <p:nvSpPr>
          <p:cNvPr id="17" name="Shape 15"/>
          <p:cNvSpPr/>
          <p:nvPr/>
        </p:nvSpPr>
        <p:spPr>
          <a:xfrm>
            <a:off x="6300216" y="1362456"/>
            <a:ext cx="128016" cy="0"/>
          </a:xfrm>
          <a:prstGeom prst="line">
            <a:avLst/>
          </a:prstGeom>
          <a:noFill/>
          <a:ln w="19050">
            <a:solidFill>
              <a:srgbClr val="94A3B8"/>
            </a:solidFill>
            <a:prstDash val="solid"/>
            <a:tailEnd type="open"/>
          </a:ln>
        </p:spPr>
      </p:sp>
      <p:sp>
        <p:nvSpPr>
          <p:cNvPr id="18" name="Shape 16"/>
          <p:cNvSpPr/>
          <p:nvPr/>
        </p:nvSpPr>
        <p:spPr>
          <a:xfrm>
            <a:off x="6428232" y="960120"/>
            <a:ext cx="1106424" cy="804672"/>
          </a:xfrm>
          <a:prstGeom prst="rect">
            <a:avLst/>
          </a:prstGeom>
          <a:solidFill>
            <a:srgbClr val="0F766E"/>
          </a:solidFill>
          <a:ln/>
        </p:spPr>
      </p:sp>
      <p:sp>
        <p:nvSpPr>
          <p:cNvPr id="19" name="Text 17"/>
          <p:cNvSpPr/>
          <p:nvPr/>
        </p:nvSpPr>
        <p:spPr>
          <a:xfrm>
            <a:off x="6428232" y="960120"/>
            <a:ext cx="1106424" cy="804672"/>
          </a:xfrm>
          <a:prstGeom prst="rect">
            <a:avLst/>
          </a:prstGeom>
          <a:noFill/>
          <a:ln/>
        </p:spPr>
        <p:txBody>
          <a:bodyPr wrap="square" lIns="25400" tIns="25400" rIns="25400" bIns="2540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OGV</a:t>
            </a:r>
            <a:endParaRPr lang="en-US" sz="850" dirty="0"/>
          </a:p>
          <a:p>
            <a:pPr algn="ctr" indent="0" marL="0">
              <a:buNone/>
            </a:pPr>
            <a:r>
              <a:rPr lang="en-US" sz="850" b="1" dirty="0">
                <a:solidFill>
                  <a:srgbClr val="FFFFFF"/>
                </a:solidFill>
                <a:latin typeface="Calibri" pitchFamily="34" charset="0"/>
                <a:ea typeface="Calibri" pitchFamily="34" charset="-122"/>
                <a:cs typeface="Calibri" pitchFamily="34" charset="-120"/>
              </a:rPr>
              <a:t>Loading</a:t>
            </a:r>
            <a:endParaRPr lang="en-US" sz="850" dirty="0"/>
          </a:p>
        </p:txBody>
      </p:sp>
      <p:sp>
        <p:nvSpPr>
          <p:cNvPr id="20" name="Shape 18"/>
          <p:cNvSpPr/>
          <p:nvPr/>
        </p:nvSpPr>
        <p:spPr>
          <a:xfrm>
            <a:off x="7534656" y="1362456"/>
            <a:ext cx="128016" cy="0"/>
          </a:xfrm>
          <a:prstGeom prst="line">
            <a:avLst/>
          </a:prstGeom>
          <a:noFill/>
          <a:ln w="19050">
            <a:solidFill>
              <a:srgbClr val="94A3B8"/>
            </a:solidFill>
            <a:prstDash val="solid"/>
            <a:tailEnd type="open"/>
          </a:ln>
        </p:spPr>
      </p:sp>
      <p:sp>
        <p:nvSpPr>
          <p:cNvPr id="21" name="Shape 19"/>
          <p:cNvSpPr/>
          <p:nvPr/>
        </p:nvSpPr>
        <p:spPr>
          <a:xfrm>
            <a:off x="7662672" y="960120"/>
            <a:ext cx="1106424" cy="804672"/>
          </a:xfrm>
          <a:prstGeom prst="rect">
            <a:avLst/>
          </a:prstGeom>
          <a:solidFill>
            <a:srgbClr val="10B981"/>
          </a:solidFill>
          <a:ln/>
        </p:spPr>
      </p:sp>
      <p:sp>
        <p:nvSpPr>
          <p:cNvPr id="22" name="Text 20"/>
          <p:cNvSpPr/>
          <p:nvPr/>
        </p:nvSpPr>
        <p:spPr>
          <a:xfrm>
            <a:off x="7662672" y="960120"/>
            <a:ext cx="1106424" cy="804672"/>
          </a:xfrm>
          <a:prstGeom prst="rect">
            <a:avLst/>
          </a:prstGeom>
          <a:noFill/>
          <a:ln/>
        </p:spPr>
        <p:txBody>
          <a:bodyPr wrap="square" lIns="25400" tIns="25400" rIns="25400" bIns="2540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Customer</a:t>
            </a:r>
            <a:endParaRPr lang="en-US" sz="850" dirty="0"/>
          </a:p>
          <a:p>
            <a:pPr algn="ctr" indent="0" marL="0">
              <a:buNone/>
            </a:pPr>
            <a:r>
              <a:rPr lang="en-US" sz="850" b="1" dirty="0">
                <a:solidFill>
                  <a:srgbClr val="FFFFFF"/>
                </a:solidFill>
                <a:latin typeface="Calibri" pitchFamily="34" charset="0"/>
                <a:ea typeface="Calibri" pitchFamily="34" charset="-122"/>
                <a:cs typeface="Calibri" pitchFamily="34" charset="-120"/>
              </a:rPr>
              <a:t>Delivery</a:t>
            </a:r>
            <a:endParaRPr lang="en-US" sz="850" dirty="0"/>
          </a:p>
        </p:txBody>
      </p:sp>
      <p:sp>
        <p:nvSpPr>
          <p:cNvPr id="23" name="Shape 21"/>
          <p:cNvSpPr/>
          <p:nvPr/>
        </p:nvSpPr>
        <p:spPr>
          <a:xfrm>
            <a:off x="809244" y="1764792"/>
            <a:ext cx="0" cy="109728"/>
          </a:xfrm>
          <a:prstGeom prst="line">
            <a:avLst/>
          </a:prstGeom>
          <a:noFill/>
          <a:ln w="10160">
            <a:solidFill>
              <a:srgbClr val="F59E0B"/>
            </a:solidFill>
            <a:prstDash val="dash"/>
          </a:ln>
        </p:spPr>
      </p:sp>
      <p:sp>
        <p:nvSpPr>
          <p:cNvPr id="24" name="Shape 22"/>
          <p:cNvSpPr/>
          <p:nvPr/>
        </p:nvSpPr>
        <p:spPr>
          <a:xfrm>
            <a:off x="256032" y="1874520"/>
            <a:ext cx="1106424" cy="566928"/>
          </a:xfrm>
          <a:prstGeom prst="rect">
            <a:avLst/>
          </a:prstGeom>
          <a:solidFill>
            <a:srgbClr val="F59E0B">
              <a:alpha val="18000"/>
            </a:srgbClr>
          </a:solidFill>
          <a:ln w="12700">
            <a:solidFill>
              <a:srgbClr val="F59E0B"/>
            </a:solidFill>
            <a:prstDash val="solid"/>
          </a:ln>
        </p:spPr>
      </p:sp>
      <p:sp>
        <p:nvSpPr>
          <p:cNvPr id="25" name="Text 23"/>
          <p:cNvSpPr/>
          <p:nvPr/>
        </p:nvSpPr>
        <p:spPr>
          <a:xfrm>
            <a:off x="256032" y="1874520"/>
            <a:ext cx="1106424" cy="566928"/>
          </a:xfrm>
          <a:prstGeom prst="rect">
            <a:avLst/>
          </a:prstGeom>
          <a:noFill/>
          <a:ln/>
        </p:spPr>
        <p:txBody>
          <a:bodyPr wrap="square" lIns="25400" tIns="25400" rIns="25400" bIns="25400" rtlCol="0" anchor="ctr"/>
          <a:lstStyle/>
          <a:p>
            <a:pPr algn="ctr" indent="0" marL="0">
              <a:buNone/>
            </a:pPr>
            <a:r>
              <a:rPr lang="en-US" sz="750" b="1" dirty="0">
                <a:solidFill>
                  <a:srgbClr val="1A2B45"/>
                </a:solidFill>
                <a:latin typeface="Calibri" pitchFamily="34" charset="0"/>
                <a:ea typeface="Calibri" pitchFamily="34" charset="-122"/>
                <a:cs typeface="Calibri" pitchFamily="34" charset="-120"/>
              </a:rPr>
              <a:t>Grade/Brand</a:t>
            </a:r>
            <a:endParaRPr lang="en-US" sz="750" dirty="0"/>
          </a:p>
          <a:p>
            <a:pPr algn="ctr" indent="0" marL="0">
              <a:buNone/>
            </a:pPr>
            <a:r>
              <a:rPr lang="en-US" sz="750" b="1" dirty="0">
                <a:solidFill>
                  <a:srgbClr val="1A2B45"/>
                </a:solidFill>
                <a:latin typeface="Calibri" pitchFamily="34" charset="0"/>
                <a:ea typeface="Calibri" pitchFamily="34" charset="-122"/>
                <a:cs typeface="Calibri" pitchFamily="34" charset="-120"/>
              </a:rPr>
              <a:t>Compatibility</a:t>
            </a:r>
            <a:endParaRPr lang="en-US" sz="750" dirty="0"/>
          </a:p>
        </p:txBody>
      </p:sp>
      <p:sp>
        <p:nvSpPr>
          <p:cNvPr id="26" name="Shape 24"/>
          <p:cNvSpPr/>
          <p:nvPr/>
        </p:nvSpPr>
        <p:spPr>
          <a:xfrm>
            <a:off x="2043684" y="1764792"/>
            <a:ext cx="0" cy="109728"/>
          </a:xfrm>
          <a:prstGeom prst="line">
            <a:avLst/>
          </a:prstGeom>
          <a:noFill/>
          <a:ln w="10160">
            <a:solidFill>
              <a:srgbClr val="2563EB"/>
            </a:solidFill>
            <a:prstDash val="dash"/>
          </a:ln>
        </p:spPr>
      </p:sp>
      <p:sp>
        <p:nvSpPr>
          <p:cNvPr id="27" name="Shape 25"/>
          <p:cNvSpPr/>
          <p:nvPr/>
        </p:nvSpPr>
        <p:spPr>
          <a:xfrm>
            <a:off x="1490472" y="1874520"/>
            <a:ext cx="1106424" cy="566928"/>
          </a:xfrm>
          <a:prstGeom prst="rect">
            <a:avLst/>
          </a:prstGeom>
          <a:solidFill>
            <a:srgbClr val="2563EB">
              <a:alpha val="18000"/>
            </a:srgbClr>
          </a:solidFill>
          <a:ln w="12700">
            <a:solidFill>
              <a:srgbClr val="2563EB"/>
            </a:solidFill>
            <a:prstDash val="solid"/>
          </a:ln>
        </p:spPr>
      </p:sp>
      <p:sp>
        <p:nvSpPr>
          <p:cNvPr id="28" name="Text 26"/>
          <p:cNvSpPr/>
          <p:nvPr/>
        </p:nvSpPr>
        <p:spPr>
          <a:xfrm>
            <a:off x="1490472" y="1874520"/>
            <a:ext cx="1106424" cy="566928"/>
          </a:xfrm>
          <a:prstGeom prst="rect">
            <a:avLst/>
          </a:prstGeom>
          <a:noFill/>
          <a:ln/>
        </p:spPr>
        <p:txBody>
          <a:bodyPr wrap="square" lIns="25400" tIns="25400" rIns="25400" bIns="25400" rtlCol="0" anchor="ctr"/>
          <a:lstStyle/>
          <a:p>
            <a:pPr algn="ctr" indent="0" marL="0">
              <a:buNone/>
            </a:pPr>
            <a:r>
              <a:rPr lang="en-US" sz="750" b="1" dirty="0">
                <a:solidFill>
                  <a:srgbClr val="1A2B45"/>
                </a:solidFill>
                <a:latin typeface="Calibri" pitchFamily="34" charset="0"/>
                <a:ea typeface="Calibri" pitchFamily="34" charset="-122"/>
                <a:cs typeface="Calibri" pitchFamily="34" charset="-120"/>
              </a:rPr>
              <a:t>Jetty Queue</a:t>
            </a:r>
            <a:endParaRPr lang="en-US" sz="750" dirty="0"/>
          </a:p>
          <a:p>
            <a:pPr algn="ctr" indent="0" marL="0">
              <a:buNone/>
            </a:pPr>
            <a:r>
              <a:rPr lang="en-US" sz="750" b="1" dirty="0">
                <a:solidFill>
                  <a:srgbClr val="1A2B45"/>
                </a:solidFill>
                <a:latin typeface="Calibri" pitchFamily="34" charset="0"/>
                <a:ea typeface="Calibri" pitchFamily="34" charset="-122"/>
                <a:cs typeface="Calibri" pitchFamily="34" charset="-120"/>
              </a:rPr>
              <a:t>&amp; Loader Rate</a:t>
            </a:r>
            <a:endParaRPr lang="en-US" sz="750" dirty="0"/>
          </a:p>
        </p:txBody>
      </p:sp>
      <p:sp>
        <p:nvSpPr>
          <p:cNvPr id="29" name="Shape 27"/>
          <p:cNvSpPr/>
          <p:nvPr/>
        </p:nvSpPr>
        <p:spPr>
          <a:xfrm>
            <a:off x="3278124" y="1764792"/>
            <a:ext cx="0" cy="109728"/>
          </a:xfrm>
          <a:prstGeom prst="line">
            <a:avLst/>
          </a:prstGeom>
          <a:noFill/>
          <a:ln w="10160">
            <a:solidFill>
              <a:srgbClr val="1A2B45"/>
            </a:solidFill>
            <a:prstDash val="dash"/>
          </a:ln>
        </p:spPr>
      </p:sp>
      <p:sp>
        <p:nvSpPr>
          <p:cNvPr id="30" name="Shape 28"/>
          <p:cNvSpPr/>
          <p:nvPr/>
        </p:nvSpPr>
        <p:spPr>
          <a:xfrm>
            <a:off x="2724912" y="1874520"/>
            <a:ext cx="1106424" cy="566928"/>
          </a:xfrm>
          <a:prstGeom prst="rect">
            <a:avLst/>
          </a:prstGeom>
          <a:solidFill>
            <a:srgbClr val="1A2B45">
              <a:alpha val="18000"/>
            </a:srgbClr>
          </a:solidFill>
          <a:ln w="12700">
            <a:solidFill>
              <a:srgbClr val="1A2B45"/>
            </a:solidFill>
            <a:prstDash val="solid"/>
          </a:ln>
        </p:spPr>
      </p:sp>
      <p:sp>
        <p:nvSpPr>
          <p:cNvPr id="31" name="Text 29"/>
          <p:cNvSpPr/>
          <p:nvPr/>
        </p:nvSpPr>
        <p:spPr>
          <a:xfrm>
            <a:off x="2724912" y="1874520"/>
            <a:ext cx="1106424" cy="566928"/>
          </a:xfrm>
          <a:prstGeom prst="rect">
            <a:avLst/>
          </a:prstGeom>
          <a:noFill/>
          <a:ln/>
        </p:spPr>
        <p:txBody>
          <a:bodyPr wrap="square" lIns="25400" tIns="25400" rIns="25400" bIns="25400" rtlCol="0" anchor="ctr"/>
          <a:lstStyle/>
          <a:p>
            <a:pPr algn="ctr" indent="0" marL="0">
              <a:buNone/>
            </a:pPr>
            <a:r>
              <a:rPr lang="en-US" sz="750" b="1" dirty="0">
                <a:solidFill>
                  <a:srgbClr val="1A2B45"/>
                </a:solidFill>
                <a:latin typeface="Calibri" pitchFamily="34" charset="0"/>
                <a:ea typeface="Calibri" pitchFamily="34" charset="-122"/>
                <a:cs typeface="Calibri" pitchFamily="34" charset="-120"/>
              </a:rPr>
              <a:t>Tug HP &amp;</a:t>
            </a:r>
            <a:endParaRPr lang="en-US" sz="750" dirty="0"/>
          </a:p>
          <a:p>
            <a:pPr algn="ctr" indent="0" marL="0">
              <a:buNone/>
            </a:pPr>
            <a:r>
              <a:rPr lang="en-US" sz="750" b="1" dirty="0">
                <a:solidFill>
                  <a:srgbClr val="1A2B45"/>
                </a:solidFill>
                <a:latin typeface="Calibri" pitchFamily="34" charset="0"/>
                <a:ea typeface="Calibri" pitchFamily="34" charset="-122"/>
                <a:cs typeface="Calibri" pitchFamily="34" charset="-120"/>
              </a:rPr>
              <a:t>Barge Capacity</a:t>
            </a:r>
            <a:endParaRPr lang="en-US" sz="750" dirty="0"/>
          </a:p>
        </p:txBody>
      </p:sp>
      <p:sp>
        <p:nvSpPr>
          <p:cNvPr id="32" name="Shape 30"/>
          <p:cNvSpPr/>
          <p:nvPr/>
        </p:nvSpPr>
        <p:spPr>
          <a:xfrm>
            <a:off x="4512564" y="1764792"/>
            <a:ext cx="0" cy="109728"/>
          </a:xfrm>
          <a:prstGeom prst="line">
            <a:avLst/>
          </a:prstGeom>
          <a:noFill/>
          <a:ln w="10160">
            <a:solidFill>
              <a:srgbClr val="6366F1"/>
            </a:solidFill>
            <a:prstDash val="dash"/>
          </a:ln>
        </p:spPr>
      </p:sp>
      <p:sp>
        <p:nvSpPr>
          <p:cNvPr id="33" name="Shape 31"/>
          <p:cNvSpPr/>
          <p:nvPr/>
        </p:nvSpPr>
        <p:spPr>
          <a:xfrm>
            <a:off x="3959352" y="1874520"/>
            <a:ext cx="1106424" cy="566928"/>
          </a:xfrm>
          <a:prstGeom prst="rect">
            <a:avLst/>
          </a:prstGeom>
          <a:solidFill>
            <a:srgbClr val="6366F1">
              <a:alpha val="18000"/>
            </a:srgbClr>
          </a:solidFill>
          <a:ln w="12700">
            <a:solidFill>
              <a:srgbClr val="6366F1"/>
            </a:solidFill>
            <a:prstDash val="solid"/>
          </a:ln>
        </p:spPr>
      </p:sp>
      <p:sp>
        <p:nvSpPr>
          <p:cNvPr id="34" name="Text 32"/>
          <p:cNvSpPr/>
          <p:nvPr/>
        </p:nvSpPr>
        <p:spPr>
          <a:xfrm>
            <a:off x="3959352" y="1874520"/>
            <a:ext cx="1106424" cy="566928"/>
          </a:xfrm>
          <a:prstGeom prst="rect">
            <a:avLst/>
          </a:prstGeom>
          <a:noFill/>
          <a:ln/>
        </p:spPr>
        <p:txBody>
          <a:bodyPr wrap="square" lIns="25400" tIns="25400" rIns="25400" bIns="25400" rtlCol="0" anchor="ctr"/>
          <a:lstStyle/>
          <a:p>
            <a:pPr algn="ctr" indent="0" marL="0">
              <a:buNone/>
            </a:pPr>
            <a:r>
              <a:rPr lang="en-US" sz="750" b="1" dirty="0">
                <a:solidFill>
                  <a:srgbClr val="1A2B45"/>
                </a:solidFill>
                <a:latin typeface="Calibri" pitchFamily="34" charset="0"/>
                <a:ea typeface="Calibri" pitchFamily="34" charset="-122"/>
                <a:cs typeface="Calibri" pitchFamily="34" charset="-120"/>
              </a:rPr>
              <a:t>River Draft</a:t>
            </a:r>
            <a:endParaRPr lang="en-US" sz="750" dirty="0"/>
          </a:p>
          <a:p>
            <a:pPr algn="ctr" indent="0" marL="0">
              <a:buNone/>
            </a:pPr>
            <a:r>
              <a:rPr lang="en-US" sz="750" b="1" dirty="0">
                <a:solidFill>
                  <a:srgbClr val="1A2B45"/>
                </a:solidFill>
                <a:latin typeface="Calibri" pitchFamily="34" charset="0"/>
                <a:ea typeface="Calibri" pitchFamily="34" charset="-122"/>
                <a:cs typeface="Calibri" pitchFamily="34" charset="-120"/>
              </a:rPr>
              <a:t>&amp; Choke Points</a:t>
            </a:r>
            <a:endParaRPr lang="en-US" sz="750" dirty="0"/>
          </a:p>
        </p:txBody>
      </p:sp>
      <p:sp>
        <p:nvSpPr>
          <p:cNvPr id="35" name="Shape 33"/>
          <p:cNvSpPr/>
          <p:nvPr/>
        </p:nvSpPr>
        <p:spPr>
          <a:xfrm>
            <a:off x="5747004" y="1764792"/>
            <a:ext cx="0" cy="109728"/>
          </a:xfrm>
          <a:prstGeom prst="line">
            <a:avLst/>
          </a:prstGeom>
          <a:noFill/>
          <a:ln w="10160">
            <a:solidFill>
              <a:srgbClr val="0D9488"/>
            </a:solidFill>
            <a:prstDash val="dash"/>
          </a:ln>
        </p:spPr>
      </p:sp>
      <p:sp>
        <p:nvSpPr>
          <p:cNvPr id="36" name="Shape 34"/>
          <p:cNvSpPr/>
          <p:nvPr/>
        </p:nvSpPr>
        <p:spPr>
          <a:xfrm>
            <a:off x="5193792" y="1874520"/>
            <a:ext cx="1106424" cy="566928"/>
          </a:xfrm>
          <a:prstGeom prst="rect">
            <a:avLst/>
          </a:prstGeom>
          <a:solidFill>
            <a:srgbClr val="0D9488">
              <a:alpha val="18000"/>
            </a:srgbClr>
          </a:solidFill>
          <a:ln w="12700">
            <a:solidFill>
              <a:srgbClr val="0D9488"/>
            </a:solidFill>
            <a:prstDash val="solid"/>
          </a:ln>
        </p:spPr>
      </p:sp>
      <p:sp>
        <p:nvSpPr>
          <p:cNvPr id="37" name="Text 35"/>
          <p:cNvSpPr/>
          <p:nvPr/>
        </p:nvSpPr>
        <p:spPr>
          <a:xfrm>
            <a:off x="5193792" y="1874520"/>
            <a:ext cx="1106424" cy="566928"/>
          </a:xfrm>
          <a:prstGeom prst="rect">
            <a:avLst/>
          </a:prstGeom>
          <a:noFill/>
          <a:ln/>
        </p:spPr>
        <p:txBody>
          <a:bodyPr wrap="square" lIns="25400" tIns="25400" rIns="25400" bIns="25400" rtlCol="0" anchor="ctr"/>
          <a:lstStyle/>
          <a:p>
            <a:pPr algn="ctr" indent="0" marL="0">
              <a:buNone/>
            </a:pPr>
            <a:r>
              <a:rPr lang="en-US" sz="750" b="1" dirty="0">
                <a:solidFill>
                  <a:srgbClr val="1A2B45"/>
                </a:solidFill>
                <a:latin typeface="Calibri" pitchFamily="34" charset="0"/>
                <a:ea typeface="Calibri" pitchFamily="34" charset="-122"/>
                <a:cs typeface="Calibri" pitchFamily="34" charset="-120"/>
              </a:rPr>
              <a:t>CTS Type &amp;</a:t>
            </a:r>
            <a:endParaRPr lang="en-US" sz="750" dirty="0"/>
          </a:p>
          <a:p>
            <a:pPr algn="ctr" indent="0" marL="0">
              <a:buNone/>
            </a:pPr>
            <a:r>
              <a:rPr lang="en-US" sz="750" b="1" dirty="0">
                <a:solidFill>
                  <a:srgbClr val="1A2B45"/>
                </a:solidFill>
                <a:latin typeface="Calibri" pitchFamily="34" charset="0"/>
                <a:ea typeface="Calibri" pitchFamily="34" charset="-122"/>
                <a:cs typeface="Calibri" pitchFamily="34" charset="-120"/>
              </a:rPr>
              <a:t>Discharge Rate</a:t>
            </a:r>
            <a:endParaRPr lang="en-US" sz="750" dirty="0"/>
          </a:p>
        </p:txBody>
      </p:sp>
      <p:sp>
        <p:nvSpPr>
          <p:cNvPr id="38" name="Shape 36"/>
          <p:cNvSpPr/>
          <p:nvPr/>
        </p:nvSpPr>
        <p:spPr>
          <a:xfrm>
            <a:off x="6981444" y="1764792"/>
            <a:ext cx="0" cy="109728"/>
          </a:xfrm>
          <a:prstGeom prst="line">
            <a:avLst/>
          </a:prstGeom>
          <a:noFill/>
          <a:ln w="10160">
            <a:solidFill>
              <a:srgbClr val="0F766E"/>
            </a:solidFill>
            <a:prstDash val="dash"/>
          </a:ln>
        </p:spPr>
      </p:sp>
      <p:sp>
        <p:nvSpPr>
          <p:cNvPr id="39" name="Shape 37"/>
          <p:cNvSpPr/>
          <p:nvPr/>
        </p:nvSpPr>
        <p:spPr>
          <a:xfrm>
            <a:off x="6428232" y="1874520"/>
            <a:ext cx="1106424" cy="566928"/>
          </a:xfrm>
          <a:prstGeom prst="rect">
            <a:avLst/>
          </a:prstGeom>
          <a:solidFill>
            <a:srgbClr val="0F766E">
              <a:alpha val="18000"/>
            </a:srgbClr>
          </a:solidFill>
          <a:ln w="12700">
            <a:solidFill>
              <a:srgbClr val="0F766E"/>
            </a:solidFill>
            <a:prstDash val="solid"/>
          </a:ln>
        </p:spPr>
      </p:sp>
      <p:sp>
        <p:nvSpPr>
          <p:cNvPr id="40" name="Text 38"/>
          <p:cNvSpPr/>
          <p:nvPr/>
        </p:nvSpPr>
        <p:spPr>
          <a:xfrm>
            <a:off x="6428232" y="1874520"/>
            <a:ext cx="1106424" cy="566928"/>
          </a:xfrm>
          <a:prstGeom prst="rect">
            <a:avLst/>
          </a:prstGeom>
          <a:noFill/>
          <a:ln/>
        </p:spPr>
        <p:txBody>
          <a:bodyPr wrap="square" lIns="25400" tIns="25400" rIns="25400" bIns="25400" rtlCol="0" anchor="ctr"/>
          <a:lstStyle/>
          <a:p>
            <a:pPr algn="ctr" indent="0" marL="0">
              <a:buNone/>
            </a:pPr>
            <a:r>
              <a:rPr lang="en-US" sz="750" b="1" dirty="0">
                <a:solidFill>
                  <a:srgbClr val="1A2B45"/>
                </a:solidFill>
                <a:latin typeface="Calibri" pitchFamily="34" charset="0"/>
                <a:ea typeface="Calibri" pitchFamily="34" charset="-122"/>
                <a:cs typeface="Calibri" pitchFamily="34" charset="-120"/>
              </a:rPr>
              <a:t>Hatch Plan &amp;</a:t>
            </a:r>
            <a:endParaRPr lang="en-US" sz="750" dirty="0"/>
          </a:p>
          <a:p>
            <a:pPr algn="ctr" indent="0" marL="0">
              <a:buNone/>
            </a:pPr>
            <a:r>
              <a:rPr lang="en-US" sz="750" b="1" dirty="0">
                <a:solidFill>
                  <a:srgbClr val="1A2B45"/>
                </a:solidFill>
                <a:latin typeface="Calibri" pitchFamily="34" charset="0"/>
                <a:ea typeface="Calibri" pitchFamily="34" charset="-122"/>
                <a:cs typeface="Calibri" pitchFamily="34" charset="-120"/>
              </a:rPr>
              <a:t>Layering Sequence</a:t>
            </a:r>
            <a:endParaRPr lang="en-US" sz="750" dirty="0"/>
          </a:p>
        </p:txBody>
      </p:sp>
      <p:sp>
        <p:nvSpPr>
          <p:cNvPr id="41" name="Shape 39"/>
          <p:cNvSpPr/>
          <p:nvPr/>
        </p:nvSpPr>
        <p:spPr>
          <a:xfrm>
            <a:off x="8215884" y="1764792"/>
            <a:ext cx="0" cy="109728"/>
          </a:xfrm>
          <a:prstGeom prst="line">
            <a:avLst/>
          </a:prstGeom>
          <a:noFill/>
          <a:ln w="10160">
            <a:solidFill>
              <a:srgbClr val="10B981"/>
            </a:solidFill>
            <a:prstDash val="dash"/>
          </a:ln>
        </p:spPr>
      </p:sp>
      <p:sp>
        <p:nvSpPr>
          <p:cNvPr id="42" name="Shape 40"/>
          <p:cNvSpPr/>
          <p:nvPr/>
        </p:nvSpPr>
        <p:spPr>
          <a:xfrm>
            <a:off x="7662672" y="1874520"/>
            <a:ext cx="1106424" cy="566928"/>
          </a:xfrm>
          <a:prstGeom prst="rect">
            <a:avLst/>
          </a:prstGeom>
          <a:solidFill>
            <a:srgbClr val="10B981">
              <a:alpha val="18000"/>
            </a:srgbClr>
          </a:solidFill>
          <a:ln w="12700">
            <a:solidFill>
              <a:srgbClr val="10B981"/>
            </a:solidFill>
            <a:prstDash val="solid"/>
          </a:ln>
        </p:spPr>
      </p:sp>
      <p:sp>
        <p:nvSpPr>
          <p:cNvPr id="43" name="Text 41"/>
          <p:cNvSpPr/>
          <p:nvPr/>
        </p:nvSpPr>
        <p:spPr>
          <a:xfrm>
            <a:off x="7662672" y="1874520"/>
            <a:ext cx="1106424" cy="566928"/>
          </a:xfrm>
          <a:prstGeom prst="rect">
            <a:avLst/>
          </a:prstGeom>
          <a:noFill/>
          <a:ln/>
        </p:spPr>
        <p:txBody>
          <a:bodyPr wrap="square" lIns="25400" tIns="25400" rIns="25400" bIns="25400" rtlCol="0" anchor="ctr"/>
          <a:lstStyle/>
          <a:p>
            <a:pPr algn="ctr" indent="0" marL="0">
              <a:buNone/>
            </a:pPr>
            <a:r>
              <a:rPr lang="en-US" sz="750" b="1" dirty="0">
                <a:solidFill>
                  <a:srgbClr val="1A2B45"/>
                </a:solidFill>
                <a:latin typeface="Calibri" pitchFamily="34" charset="0"/>
                <a:ea typeface="Calibri" pitchFamily="34" charset="-122"/>
                <a:cs typeface="Calibri" pitchFamily="34" charset="-120"/>
              </a:rPr>
              <a:t>Demurrage</a:t>
            </a:r>
            <a:endParaRPr lang="en-US" sz="750" dirty="0"/>
          </a:p>
          <a:p>
            <a:pPr algn="ctr" indent="0" marL="0">
              <a:buNone/>
            </a:pPr>
            <a:r>
              <a:rPr lang="en-US" sz="750" b="1" dirty="0">
                <a:solidFill>
                  <a:srgbClr val="1A2B45"/>
                </a:solidFill>
                <a:latin typeface="Calibri" pitchFamily="34" charset="0"/>
                <a:ea typeface="Calibri" pitchFamily="34" charset="-122"/>
                <a:cs typeface="Calibri" pitchFamily="34" charset="-120"/>
              </a:rPr>
              <a:t>&amp; Priority</a:t>
            </a:r>
            <a:endParaRPr lang="en-US" sz="750" dirty="0"/>
          </a:p>
        </p:txBody>
      </p:sp>
      <p:sp>
        <p:nvSpPr>
          <p:cNvPr id="44" name="Shape 42"/>
          <p:cNvSpPr/>
          <p:nvPr/>
        </p:nvSpPr>
        <p:spPr>
          <a:xfrm>
            <a:off x="256032" y="2606040"/>
            <a:ext cx="1572768" cy="713232"/>
          </a:xfrm>
          <a:prstGeom prst="rect">
            <a:avLst/>
          </a:prstGeom>
          <a:solidFill>
            <a:srgbClr val="1A2B45"/>
          </a:solidFill>
          <a:ln/>
          <a:effectLst>
            <a:outerShdw sx="100000" sy="100000" kx="0" ky="0" algn="bl" rotWithShape="0" blurRad="63500" dist="12700" dir="8100000">
              <a:srgbClr val="000000">
                <a:alpha val="12000"/>
              </a:srgbClr>
            </a:outerShdw>
          </a:effectLst>
        </p:spPr>
      </p:sp>
      <p:sp>
        <p:nvSpPr>
          <p:cNvPr id="45" name="Text 43"/>
          <p:cNvSpPr/>
          <p:nvPr/>
        </p:nvSpPr>
        <p:spPr>
          <a:xfrm>
            <a:off x="256032" y="2642616"/>
            <a:ext cx="1572768"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PLAN</a:t>
            </a:r>
            <a:endParaRPr lang="en-US" sz="1300" dirty="0"/>
          </a:p>
        </p:txBody>
      </p:sp>
      <p:sp>
        <p:nvSpPr>
          <p:cNvPr id="46" name="Text 44"/>
          <p:cNvSpPr/>
          <p:nvPr/>
        </p:nvSpPr>
        <p:spPr>
          <a:xfrm>
            <a:off x="256032" y="2971800"/>
            <a:ext cx="1572768" cy="310896"/>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Demand → fleet</a:t>
            </a:r>
            <a:endParaRPr lang="en-US" sz="800" dirty="0"/>
          </a:p>
          <a:p>
            <a:pPr algn="ctr" indent="0" marL="0">
              <a:buNone/>
            </a:pPr>
            <a:r>
              <a:rPr lang="en-US" sz="800" dirty="0">
                <a:solidFill>
                  <a:srgbClr val="FFFFFF"/>
                </a:solidFill>
                <a:latin typeface="Calibri" pitchFamily="34" charset="0"/>
                <a:ea typeface="Calibri" pitchFamily="34" charset="-122"/>
                <a:cs typeface="Calibri" pitchFamily="34" charset="-120"/>
              </a:rPr>
              <a:t>assignment</a:t>
            </a:r>
            <a:endParaRPr lang="en-US" sz="800" dirty="0"/>
          </a:p>
        </p:txBody>
      </p:sp>
      <p:sp>
        <p:nvSpPr>
          <p:cNvPr id="47" name="Shape 45"/>
          <p:cNvSpPr/>
          <p:nvPr/>
        </p:nvSpPr>
        <p:spPr>
          <a:xfrm>
            <a:off x="1956816" y="2606040"/>
            <a:ext cx="1572768" cy="713232"/>
          </a:xfrm>
          <a:prstGeom prst="rect">
            <a:avLst/>
          </a:prstGeom>
          <a:solidFill>
            <a:srgbClr val="2563EB"/>
          </a:solidFill>
          <a:ln/>
          <a:effectLst>
            <a:outerShdw sx="100000" sy="100000" kx="0" ky="0" algn="bl" rotWithShape="0" blurRad="63500" dist="12700" dir="8100000">
              <a:srgbClr val="000000">
                <a:alpha val="12000"/>
              </a:srgbClr>
            </a:outerShdw>
          </a:effectLst>
        </p:spPr>
      </p:sp>
      <p:sp>
        <p:nvSpPr>
          <p:cNvPr id="48" name="Text 46"/>
          <p:cNvSpPr/>
          <p:nvPr/>
        </p:nvSpPr>
        <p:spPr>
          <a:xfrm>
            <a:off x="1956816" y="2642616"/>
            <a:ext cx="1572768"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SIMULATE</a:t>
            </a:r>
            <a:endParaRPr lang="en-US" sz="1300" dirty="0"/>
          </a:p>
        </p:txBody>
      </p:sp>
      <p:sp>
        <p:nvSpPr>
          <p:cNvPr id="49" name="Text 47"/>
          <p:cNvSpPr/>
          <p:nvPr/>
        </p:nvSpPr>
        <p:spPr>
          <a:xfrm>
            <a:off x="1956816" y="2971800"/>
            <a:ext cx="1572768" cy="310896"/>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What-if scenario</a:t>
            </a:r>
            <a:endParaRPr lang="en-US" sz="800" dirty="0"/>
          </a:p>
          <a:p>
            <a:pPr algn="ctr" indent="0" marL="0">
              <a:buNone/>
            </a:pPr>
            <a:r>
              <a:rPr lang="en-US" sz="800" dirty="0">
                <a:solidFill>
                  <a:srgbClr val="FFFFFF"/>
                </a:solidFill>
                <a:latin typeface="Calibri" pitchFamily="34" charset="0"/>
                <a:ea typeface="Calibri" pitchFamily="34" charset="-122"/>
                <a:cs typeface="Calibri" pitchFamily="34" charset="-120"/>
              </a:rPr>
              <a:t>comparison</a:t>
            </a:r>
            <a:endParaRPr lang="en-US" sz="800" dirty="0"/>
          </a:p>
        </p:txBody>
      </p:sp>
      <p:sp>
        <p:nvSpPr>
          <p:cNvPr id="50" name="Shape 48"/>
          <p:cNvSpPr/>
          <p:nvPr/>
        </p:nvSpPr>
        <p:spPr>
          <a:xfrm>
            <a:off x="3657600" y="2606040"/>
            <a:ext cx="1572768" cy="713232"/>
          </a:xfrm>
          <a:prstGeom prst="rect">
            <a:avLst/>
          </a:prstGeom>
          <a:solidFill>
            <a:srgbClr val="0D9488"/>
          </a:solidFill>
          <a:ln/>
          <a:effectLst>
            <a:outerShdw sx="100000" sy="100000" kx="0" ky="0" algn="bl" rotWithShape="0" blurRad="63500" dist="12700" dir="8100000">
              <a:srgbClr val="000000">
                <a:alpha val="12000"/>
              </a:srgbClr>
            </a:outerShdw>
          </a:effectLst>
        </p:spPr>
      </p:sp>
      <p:sp>
        <p:nvSpPr>
          <p:cNvPr id="51" name="Text 49"/>
          <p:cNvSpPr/>
          <p:nvPr/>
        </p:nvSpPr>
        <p:spPr>
          <a:xfrm>
            <a:off x="3657600" y="2642616"/>
            <a:ext cx="1572768"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TRACK</a:t>
            </a:r>
            <a:endParaRPr lang="en-US" sz="1300" dirty="0"/>
          </a:p>
        </p:txBody>
      </p:sp>
      <p:sp>
        <p:nvSpPr>
          <p:cNvPr id="52" name="Text 50"/>
          <p:cNvSpPr/>
          <p:nvPr/>
        </p:nvSpPr>
        <p:spPr>
          <a:xfrm>
            <a:off x="3657600" y="2971800"/>
            <a:ext cx="1572768" cy="310896"/>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Live AIS/GPS</a:t>
            </a:r>
            <a:endParaRPr lang="en-US" sz="800" dirty="0"/>
          </a:p>
          <a:p>
            <a:pPr algn="ctr" indent="0" marL="0">
              <a:buNone/>
            </a:pPr>
            <a:r>
              <a:rPr lang="en-US" sz="800" dirty="0">
                <a:solidFill>
                  <a:srgbClr val="FFFFFF"/>
                </a:solidFill>
                <a:latin typeface="Calibri" pitchFamily="34" charset="0"/>
                <a:ea typeface="Calibri" pitchFamily="34" charset="-122"/>
                <a:cs typeface="Calibri" pitchFamily="34" charset="-120"/>
              </a:rPr>
              <a:t>vs planned</a:t>
            </a:r>
            <a:endParaRPr lang="en-US" sz="800" dirty="0"/>
          </a:p>
        </p:txBody>
      </p:sp>
      <p:sp>
        <p:nvSpPr>
          <p:cNvPr id="53" name="Shape 51"/>
          <p:cNvSpPr/>
          <p:nvPr/>
        </p:nvSpPr>
        <p:spPr>
          <a:xfrm>
            <a:off x="5358384" y="2606040"/>
            <a:ext cx="1572768" cy="713232"/>
          </a:xfrm>
          <a:prstGeom prst="rect">
            <a:avLst/>
          </a:prstGeom>
          <a:solidFill>
            <a:srgbClr val="EF4444"/>
          </a:solidFill>
          <a:ln/>
          <a:effectLst>
            <a:outerShdw sx="100000" sy="100000" kx="0" ky="0" algn="bl" rotWithShape="0" blurRad="63500" dist="12700" dir="8100000">
              <a:srgbClr val="000000">
                <a:alpha val="12000"/>
              </a:srgbClr>
            </a:outerShdw>
          </a:effectLst>
        </p:spPr>
      </p:sp>
      <p:sp>
        <p:nvSpPr>
          <p:cNvPr id="54" name="Text 52"/>
          <p:cNvSpPr/>
          <p:nvPr/>
        </p:nvSpPr>
        <p:spPr>
          <a:xfrm>
            <a:off x="5358384" y="2642616"/>
            <a:ext cx="1572768"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ALERT</a:t>
            </a:r>
            <a:endParaRPr lang="en-US" sz="1300" dirty="0"/>
          </a:p>
        </p:txBody>
      </p:sp>
      <p:sp>
        <p:nvSpPr>
          <p:cNvPr id="55" name="Text 53"/>
          <p:cNvSpPr/>
          <p:nvPr/>
        </p:nvSpPr>
        <p:spPr>
          <a:xfrm>
            <a:off x="5358384" y="2971800"/>
            <a:ext cx="1572768" cy="310896"/>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Conflict, delay</a:t>
            </a:r>
            <a:endParaRPr lang="en-US" sz="800" dirty="0"/>
          </a:p>
          <a:p>
            <a:pPr algn="ctr" indent="0" marL="0">
              <a:buNone/>
            </a:pPr>
            <a:r>
              <a:rPr lang="en-US" sz="800" dirty="0">
                <a:solidFill>
                  <a:srgbClr val="FFFFFF"/>
                </a:solidFill>
                <a:latin typeface="Calibri" pitchFamily="34" charset="0"/>
                <a:ea typeface="Calibri" pitchFamily="34" charset="-122"/>
                <a:cs typeface="Calibri" pitchFamily="34" charset="-120"/>
              </a:rPr>
              <a:t>&amp; risk flags</a:t>
            </a:r>
            <a:endParaRPr lang="en-US" sz="800" dirty="0"/>
          </a:p>
        </p:txBody>
      </p:sp>
      <p:sp>
        <p:nvSpPr>
          <p:cNvPr id="56" name="Shape 54"/>
          <p:cNvSpPr/>
          <p:nvPr/>
        </p:nvSpPr>
        <p:spPr>
          <a:xfrm>
            <a:off x="7059168" y="2606040"/>
            <a:ext cx="1572768" cy="713232"/>
          </a:xfrm>
          <a:prstGeom prst="rect">
            <a:avLst/>
          </a:prstGeom>
          <a:solidFill>
            <a:srgbClr val="10B981"/>
          </a:solidFill>
          <a:ln/>
          <a:effectLst>
            <a:outerShdw sx="100000" sy="100000" kx="0" ky="0" algn="bl" rotWithShape="0" blurRad="63500" dist="12700" dir="8100000">
              <a:srgbClr val="000000">
                <a:alpha val="12000"/>
              </a:srgbClr>
            </a:outerShdw>
          </a:effectLst>
        </p:spPr>
      </p:sp>
      <p:sp>
        <p:nvSpPr>
          <p:cNvPr id="57" name="Text 55"/>
          <p:cNvSpPr/>
          <p:nvPr/>
        </p:nvSpPr>
        <p:spPr>
          <a:xfrm>
            <a:off x="7059168" y="2642616"/>
            <a:ext cx="1572768"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RECOVER</a:t>
            </a:r>
            <a:endParaRPr lang="en-US" sz="1300" dirty="0"/>
          </a:p>
        </p:txBody>
      </p:sp>
      <p:sp>
        <p:nvSpPr>
          <p:cNvPr id="58" name="Text 56"/>
          <p:cNvSpPr/>
          <p:nvPr/>
        </p:nvSpPr>
        <p:spPr>
          <a:xfrm>
            <a:off x="7059168" y="2971800"/>
            <a:ext cx="1572768" cy="310896"/>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Re-sequence &amp;</a:t>
            </a:r>
            <a:endParaRPr lang="en-US" sz="800" dirty="0"/>
          </a:p>
          <a:p>
            <a:pPr algn="ctr" indent="0" marL="0">
              <a:buNone/>
            </a:pPr>
            <a:r>
              <a:rPr lang="en-US" sz="800" dirty="0">
                <a:solidFill>
                  <a:srgbClr val="FFFFFF"/>
                </a:solidFill>
                <a:latin typeface="Calibri" pitchFamily="34" charset="0"/>
                <a:ea typeface="Calibri" pitchFamily="34" charset="-122"/>
                <a:cs typeface="Calibri" pitchFamily="34" charset="-120"/>
              </a:rPr>
              <a:t>optimise</a:t>
            </a:r>
            <a:endParaRPr lang="en-US" sz="800" dirty="0"/>
          </a:p>
        </p:txBody>
      </p:sp>
      <p:sp>
        <p:nvSpPr>
          <p:cNvPr id="59" name="Shape 57"/>
          <p:cNvSpPr/>
          <p:nvPr/>
        </p:nvSpPr>
        <p:spPr>
          <a:xfrm>
            <a:off x="256032" y="3456432"/>
            <a:ext cx="8631936" cy="347472"/>
          </a:xfrm>
          <a:prstGeom prst="rect">
            <a:avLst/>
          </a:prstGeom>
          <a:solidFill>
            <a:srgbClr val="E8EDF4"/>
          </a:solidFill>
          <a:ln/>
        </p:spPr>
      </p:sp>
      <p:sp>
        <p:nvSpPr>
          <p:cNvPr id="60" name="Text 58"/>
          <p:cNvSpPr/>
          <p:nvPr/>
        </p:nvSpPr>
        <p:spPr>
          <a:xfrm>
            <a:off x="320040" y="3456432"/>
            <a:ext cx="8503920" cy="347472"/>
          </a:xfrm>
          <a:prstGeom prst="rect">
            <a:avLst/>
          </a:prstGeom>
          <a:noFill/>
          <a:ln/>
        </p:spPr>
        <p:txBody>
          <a:bodyPr wrap="square" lIns="0" tIns="0" rIns="0" bIns="0" rtlCol="0" anchor="ctr"/>
          <a:lstStyle/>
          <a:p>
            <a:pPr algn="ctr" indent="0" marL="0">
              <a:buNone/>
            </a:pPr>
            <a:r>
              <a:rPr lang="en-US" sz="800" dirty="0">
                <a:solidFill>
                  <a:srgbClr val="1A2B45"/>
                </a:solidFill>
                <a:latin typeface="Calibri" pitchFamily="34" charset="0"/>
                <a:ea typeface="Calibri" pitchFamily="34" charset="-122"/>
                <a:cs typeface="Calibri" pitchFamily="34" charset="-120"/>
              </a:rPr>
              <a:t>Planning Objects:  OGV Voyage  ·  Cargo Grade/Qty  ·  Mine/CPP/Stockpile  ·  Jetty/BLC  ·  Tug  ·  Barge  ·  CTS/FTS/FC  ·  River Route  ·  Tide/Bridge Window  ·  Live Position  ·  Operational Event  ·  Simulation Scenario</a:t>
            </a:r>
            <a:endParaRPr lang="en-US" sz="800" dirty="0"/>
          </a:p>
        </p:txBody>
      </p:sp>
      <p:sp>
        <p:nvSpPr>
          <p:cNvPr id="61" name="Text 59"/>
          <p:cNvSpPr/>
          <p:nvPr/>
        </p:nvSpPr>
        <p:spPr>
          <a:xfrm>
            <a:off x="256032" y="3913632"/>
            <a:ext cx="1188720" cy="237744"/>
          </a:xfrm>
          <a:prstGeom prst="rect">
            <a:avLst/>
          </a:prstGeom>
          <a:noFill/>
          <a:ln/>
        </p:spPr>
        <p:txBody>
          <a:bodyPr wrap="square" lIns="0" tIns="0" rIns="0" bIns="0" rtlCol="0" anchor="ctr"/>
          <a:lstStyle/>
          <a:p>
            <a:pPr indent="0" marL="0">
              <a:buNone/>
            </a:pPr>
            <a:r>
              <a:rPr lang="en-US" sz="750" b="1" dirty="0">
                <a:solidFill>
                  <a:srgbClr val="475569"/>
                </a:solidFill>
                <a:latin typeface="Calibri" pitchFamily="34" charset="0"/>
                <a:ea typeface="Calibri" pitchFamily="34" charset="-122"/>
                <a:cs typeface="Calibri" pitchFamily="34" charset="-120"/>
              </a:rPr>
              <a:t>State distinction:  </a:t>
            </a:r>
            <a:endParaRPr lang="en-US" sz="750" dirty="0"/>
          </a:p>
        </p:txBody>
      </p:sp>
      <p:sp>
        <p:nvSpPr>
          <p:cNvPr id="62" name="Shape 60"/>
          <p:cNvSpPr/>
          <p:nvPr/>
        </p:nvSpPr>
        <p:spPr>
          <a:xfrm>
            <a:off x="1417320" y="3931920"/>
            <a:ext cx="1371600" cy="201168"/>
          </a:xfrm>
          <a:prstGeom prst="rect">
            <a:avLst/>
          </a:prstGeom>
          <a:solidFill>
            <a:srgbClr val="2563EB"/>
          </a:solidFill>
          <a:ln/>
        </p:spPr>
      </p:sp>
      <p:sp>
        <p:nvSpPr>
          <p:cNvPr id="63" name="Text 61"/>
          <p:cNvSpPr/>
          <p:nvPr/>
        </p:nvSpPr>
        <p:spPr>
          <a:xfrm>
            <a:off x="1417320" y="3931920"/>
            <a:ext cx="1371600"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PLANNED</a:t>
            </a:r>
            <a:endParaRPr lang="en-US" sz="700" dirty="0"/>
          </a:p>
        </p:txBody>
      </p:sp>
      <p:sp>
        <p:nvSpPr>
          <p:cNvPr id="64" name="Shape 62"/>
          <p:cNvSpPr/>
          <p:nvPr/>
        </p:nvSpPr>
        <p:spPr>
          <a:xfrm>
            <a:off x="2880360" y="3931920"/>
            <a:ext cx="1371600" cy="201168"/>
          </a:xfrm>
          <a:prstGeom prst="rect">
            <a:avLst/>
          </a:prstGeom>
          <a:solidFill>
            <a:srgbClr val="0D9488"/>
          </a:solidFill>
          <a:ln/>
        </p:spPr>
      </p:sp>
      <p:sp>
        <p:nvSpPr>
          <p:cNvPr id="65" name="Text 63"/>
          <p:cNvSpPr/>
          <p:nvPr/>
        </p:nvSpPr>
        <p:spPr>
          <a:xfrm>
            <a:off x="2880360" y="3931920"/>
            <a:ext cx="1371600"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LIVE / AIS</a:t>
            </a:r>
            <a:endParaRPr lang="en-US" sz="700" dirty="0"/>
          </a:p>
        </p:txBody>
      </p:sp>
      <p:sp>
        <p:nvSpPr>
          <p:cNvPr id="66" name="Shape 64"/>
          <p:cNvSpPr/>
          <p:nvPr/>
        </p:nvSpPr>
        <p:spPr>
          <a:xfrm>
            <a:off x="4343400" y="3931920"/>
            <a:ext cx="1371600" cy="201168"/>
          </a:xfrm>
          <a:prstGeom prst="rect">
            <a:avLst/>
          </a:prstGeom>
          <a:solidFill>
            <a:srgbClr val="10B981"/>
          </a:solidFill>
          <a:ln/>
        </p:spPr>
      </p:sp>
      <p:sp>
        <p:nvSpPr>
          <p:cNvPr id="67" name="Text 65"/>
          <p:cNvSpPr/>
          <p:nvPr/>
        </p:nvSpPr>
        <p:spPr>
          <a:xfrm>
            <a:off x="4343400" y="3931920"/>
            <a:ext cx="1371600"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CONFIRMED</a:t>
            </a:r>
            <a:endParaRPr lang="en-US" sz="700" dirty="0"/>
          </a:p>
        </p:txBody>
      </p:sp>
      <p:sp>
        <p:nvSpPr>
          <p:cNvPr id="68" name="Shape 66"/>
          <p:cNvSpPr/>
          <p:nvPr/>
        </p:nvSpPr>
        <p:spPr>
          <a:xfrm>
            <a:off x="5806440" y="3931920"/>
            <a:ext cx="1371600" cy="201168"/>
          </a:xfrm>
          <a:prstGeom prst="rect">
            <a:avLst/>
          </a:prstGeom>
          <a:solidFill>
            <a:srgbClr val="F59E0B"/>
          </a:solidFill>
          <a:ln/>
        </p:spPr>
      </p:sp>
      <p:sp>
        <p:nvSpPr>
          <p:cNvPr id="69" name="Text 67"/>
          <p:cNvSpPr/>
          <p:nvPr/>
        </p:nvSpPr>
        <p:spPr>
          <a:xfrm>
            <a:off x="5806440" y="3931920"/>
            <a:ext cx="1371600"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INFERRED</a:t>
            </a:r>
            <a:endParaRPr lang="en-US" sz="700" dirty="0"/>
          </a:p>
        </p:txBody>
      </p:sp>
      <p:sp>
        <p:nvSpPr>
          <p:cNvPr id="70" name="Shape 68"/>
          <p:cNvSpPr/>
          <p:nvPr/>
        </p:nvSpPr>
        <p:spPr>
          <a:xfrm>
            <a:off x="7269480" y="3931920"/>
            <a:ext cx="1371600" cy="201168"/>
          </a:xfrm>
          <a:prstGeom prst="rect">
            <a:avLst/>
          </a:prstGeom>
          <a:solidFill>
            <a:srgbClr val="8B5CF6"/>
          </a:solidFill>
          <a:ln/>
        </p:spPr>
      </p:sp>
      <p:sp>
        <p:nvSpPr>
          <p:cNvPr id="71" name="Text 69"/>
          <p:cNvSpPr/>
          <p:nvPr/>
        </p:nvSpPr>
        <p:spPr>
          <a:xfrm>
            <a:off x="7269480" y="3931920"/>
            <a:ext cx="1371600"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RECOMMENDED</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411480" y="201168"/>
            <a:ext cx="8321040" cy="502920"/>
          </a:xfrm>
          <a:prstGeom prst="rect">
            <a:avLst/>
          </a:prstGeom>
          <a:noFill/>
          <a:ln/>
        </p:spPr>
        <p:txBody>
          <a:bodyPr wrap="square" lIns="0" tIns="0" rIns="0" bIns="0" rtlCol="0" anchor="ctr"/>
          <a:lstStyle/>
          <a:p>
            <a:pPr algn="l" indent="0" marL="0">
              <a:buNone/>
            </a:pPr>
            <a:r>
              <a:rPr lang="en-US" sz="2200" b="1" dirty="0">
                <a:solidFill>
                  <a:srgbClr val="1A2B45"/>
                </a:solidFill>
                <a:latin typeface="Calibri" pitchFamily="34" charset="0"/>
                <a:ea typeface="Calibri" pitchFamily="34" charset="-122"/>
                <a:cs typeface="Calibri" pitchFamily="34" charset="-120"/>
              </a:rPr>
              <a:t>Product Roadmap — Building in Layers</a:t>
            </a:r>
            <a:endParaRPr lang="en-US" sz="2200" dirty="0"/>
          </a:p>
        </p:txBody>
      </p:sp>
      <p:sp>
        <p:nvSpPr>
          <p:cNvPr id="3" name="Shape 1"/>
          <p:cNvSpPr/>
          <p:nvPr/>
        </p:nvSpPr>
        <p:spPr>
          <a:xfrm>
            <a:off x="256032" y="777240"/>
            <a:ext cx="2743200" cy="3474720"/>
          </a:xfrm>
          <a:prstGeom prst="rect">
            <a:avLst/>
          </a:prstGeom>
          <a:solidFill>
            <a:srgbClr val="FFFFFF"/>
          </a:solidFill>
          <a:ln/>
          <a:effectLst>
            <a:outerShdw sx="100000" sy="100000" kx="0" ky="0" algn="bl" rotWithShape="0" blurRad="101600" dist="25400" dir="8100000">
              <a:srgbClr val="000000">
                <a:alpha val="8000"/>
              </a:srgbClr>
            </a:outerShdw>
          </a:effectLst>
        </p:spPr>
      </p:sp>
      <p:sp>
        <p:nvSpPr>
          <p:cNvPr id="4" name="Shape 2"/>
          <p:cNvSpPr/>
          <p:nvPr/>
        </p:nvSpPr>
        <p:spPr>
          <a:xfrm>
            <a:off x="256032" y="777240"/>
            <a:ext cx="2743200" cy="475488"/>
          </a:xfrm>
          <a:prstGeom prst="rect">
            <a:avLst/>
          </a:prstGeom>
          <a:solidFill>
            <a:srgbClr val="1A2B45"/>
          </a:solidFill>
          <a:ln/>
        </p:spPr>
      </p:sp>
      <p:sp>
        <p:nvSpPr>
          <p:cNvPr id="5" name="Text 3"/>
          <p:cNvSpPr/>
          <p:nvPr/>
        </p:nvSpPr>
        <p:spPr>
          <a:xfrm>
            <a:off x="365760" y="777240"/>
            <a:ext cx="822960" cy="475488"/>
          </a:xfrm>
          <a:prstGeom prst="rect">
            <a:avLst/>
          </a:prstGeom>
          <a:noFill/>
          <a:ln/>
        </p:spPr>
        <p:txBody>
          <a:bodyPr wrap="square" lIns="50800" tIns="50800" rIns="50800" bIns="5080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Phase 1</a:t>
            </a:r>
            <a:endParaRPr lang="en-US" sz="1100" dirty="0"/>
          </a:p>
        </p:txBody>
      </p:sp>
      <p:sp>
        <p:nvSpPr>
          <p:cNvPr id="6" name="Text 4"/>
          <p:cNvSpPr/>
          <p:nvPr/>
        </p:nvSpPr>
        <p:spPr>
          <a:xfrm>
            <a:off x="1216152" y="777240"/>
            <a:ext cx="1737360" cy="475488"/>
          </a:xfrm>
          <a:prstGeom prst="rect">
            <a:avLst/>
          </a:prstGeom>
          <a:noFill/>
          <a:ln/>
        </p:spPr>
        <p:txBody>
          <a:bodyPr wrap="square" lIns="50800" tIns="50800" rIns="50800" bIns="50800" rtlCol="0" anchor="ctr"/>
          <a:lstStyle/>
          <a:p>
            <a:pPr algn="l" indent="0" marL="0">
              <a:buNone/>
            </a:pPr>
            <a:r>
              <a:rPr lang="en-US" sz="950" dirty="0">
                <a:solidFill>
                  <a:srgbClr val="FFFFFF"/>
                </a:solidFill>
                <a:latin typeface="Calibri" pitchFamily="34" charset="0"/>
                <a:ea typeface="Calibri" pitchFamily="34" charset="-122"/>
                <a:cs typeface="Calibri" pitchFamily="34" charset="-120"/>
              </a:rPr>
              <a:t>Digital</a:t>
            </a:r>
            <a:endParaRPr lang="en-US" sz="950" dirty="0"/>
          </a:p>
          <a:p>
            <a:pPr algn="l" indent="0" marL="0">
              <a:buNone/>
            </a:pPr>
            <a:r>
              <a:rPr lang="en-US" sz="950" dirty="0">
                <a:solidFill>
                  <a:srgbClr val="FFFFFF"/>
                </a:solidFill>
                <a:latin typeface="Calibri" pitchFamily="34" charset="0"/>
                <a:ea typeface="Calibri" pitchFamily="34" charset="-122"/>
                <a:cs typeface="Calibri" pitchFamily="34" charset="-120"/>
              </a:rPr>
              <a:t>Scheduling Model</a:t>
            </a:r>
            <a:endParaRPr lang="en-US" sz="950" dirty="0"/>
          </a:p>
        </p:txBody>
      </p:sp>
      <p:sp>
        <p:nvSpPr>
          <p:cNvPr id="7" name="Text 5"/>
          <p:cNvSpPr/>
          <p:nvPr/>
        </p:nvSpPr>
        <p:spPr>
          <a:xfrm>
            <a:off x="256032" y="1280160"/>
            <a:ext cx="2743200" cy="256032"/>
          </a:xfrm>
          <a:prstGeom prst="rect">
            <a:avLst/>
          </a:prstGeom>
          <a:noFill/>
          <a:ln/>
        </p:spPr>
        <p:txBody>
          <a:bodyPr wrap="square" lIns="0" tIns="0" rIns="0" bIns="0" rtlCol="0" anchor="ctr"/>
          <a:lstStyle/>
          <a:p>
            <a:pPr algn="ctr" indent="0" marL="0">
              <a:buNone/>
            </a:pPr>
            <a:r>
              <a:rPr lang="en-US" sz="800" b="1" dirty="0">
                <a:solidFill>
                  <a:srgbClr val="0D9488"/>
                </a:solidFill>
                <a:latin typeface="Calibri" pitchFamily="34" charset="0"/>
                <a:ea typeface="Calibri" pitchFamily="34" charset="-122"/>
                <a:cs typeface="Calibri" pitchFamily="34" charset="-120"/>
              </a:rPr>
              <a:t>Now → Month 3</a:t>
            </a:r>
            <a:endParaRPr lang="en-US" sz="800" dirty="0"/>
          </a:p>
        </p:txBody>
      </p:sp>
      <p:sp>
        <p:nvSpPr>
          <p:cNvPr id="8" name="Text 6"/>
          <p:cNvSpPr/>
          <p:nvPr/>
        </p:nvSpPr>
        <p:spPr>
          <a:xfrm>
            <a:off x="393192" y="1572768"/>
            <a:ext cx="2514600" cy="2606040"/>
          </a:xfrm>
          <a:prstGeom prst="rect">
            <a:avLst/>
          </a:prstGeom>
          <a:noFill/>
          <a:ln/>
        </p:spPr>
        <p:txBody>
          <a:bodyPr wrap="square" lIns="0" tIns="0" rIns="0" bIns="0" rtlCol="0" anchor="ctr"/>
          <a:lstStyle/>
          <a:p>
            <a:pPr marL="342900" indent="-342900">
              <a:spcAft>
                <a:spcPts val="300"/>
              </a:spcAft>
              <a:buSzPct val="100000"/>
              <a:buChar char="•"/>
            </a:pPr>
            <a:r>
              <a:rPr lang="en-US" sz="850" dirty="0">
                <a:solidFill>
                  <a:srgbClr val="475569"/>
                </a:solidFill>
                <a:latin typeface="Calibri" pitchFamily="34" charset="0"/>
                <a:ea typeface="Calibri" pitchFamily="34" charset="-122"/>
                <a:cs typeface="Calibri" pitchFamily="34" charset="-120"/>
              </a:rPr>
              <a:t>Master data model (fleet, jetty, CTS, routes, grades)</a:t>
            </a:r>
            <a:endParaRPr lang="en-US" sz="850" dirty="0"/>
          </a:p>
          <a:p>
            <a:pPr marL="342900" indent="-342900">
              <a:spcAft>
                <a:spcPts val="300"/>
              </a:spcAft>
              <a:buSzPct val="100000"/>
              <a:buChar char="•"/>
            </a:pPr>
            <a:r>
              <a:rPr lang="en-US" sz="850" dirty="0">
                <a:solidFill>
                  <a:srgbClr val="475569"/>
                </a:solidFill>
                <a:latin typeface="Calibri" pitchFamily="34" charset="0"/>
                <a:ea typeface="Calibri" pitchFamily="34" charset="-122"/>
                <a:cs typeface="Calibri" pitchFamily="34" charset="-120"/>
              </a:rPr>
              <a:t>Manual OGV demand &amp; fleet availability input</a:t>
            </a:r>
            <a:endParaRPr lang="en-US" sz="850" dirty="0"/>
          </a:p>
          <a:p>
            <a:pPr marL="342900" indent="-342900">
              <a:spcAft>
                <a:spcPts val="300"/>
              </a:spcAft>
              <a:buSzPct val="100000"/>
              <a:buChar char="•"/>
            </a:pPr>
            <a:r>
              <a:rPr lang="en-US" sz="850" dirty="0">
                <a:solidFill>
                  <a:srgbClr val="475569"/>
                </a:solidFill>
                <a:latin typeface="Calibri" pitchFamily="34" charset="0"/>
                <a:ea typeface="Calibri" pitchFamily="34" charset="-122"/>
                <a:cs typeface="Calibri" pitchFamily="34" charset="-120"/>
              </a:rPr>
              <a:t>Tide/bridge calendar entry</a:t>
            </a:r>
            <a:endParaRPr lang="en-US" sz="850" dirty="0"/>
          </a:p>
          <a:p>
            <a:pPr marL="342900" indent="-342900">
              <a:spcAft>
                <a:spcPts val="300"/>
              </a:spcAft>
              <a:buSzPct val="100000"/>
              <a:buChar char="•"/>
            </a:pPr>
            <a:r>
              <a:rPr lang="en-US" sz="850" dirty="0">
                <a:solidFill>
                  <a:srgbClr val="475569"/>
                </a:solidFill>
                <a:latin typeface="Calibri" pitchFamily="34" charset="0"/>
                <a:ea typeface="Calibri" pitchFamily="34" charset="-122"/>
                <a:cs typeface="Calibri" pitchFamily="34" charset="-120"/>
              </a:rPr>
              <a:t>Feasible schedule board (Gantt-style)</a:t>
            </a:r>
            <a:endParaRPr lang="en-US" sz="850" dirty="0"/>
          </a:p>
          <a:p>
            <a:pPr marL="342900" indent="-342900">
              <a:spcAft>
                <a:spcPts val="300"/>
              </a:spcAft>
              <a:buSzPct val="100000"/>
              <a:buChar char="•"/>
            </a:pPr>
            <a:r>
              <a:rPr lang="en-US" sz="850" dirty="0">
                <a:solidFill>
                  <a:srgbClr val="475569"/>
                </a:solidFill>
                <a:latin typeface="Calibri" pitchFamily="34" charset="0"/>
                <a:ea typeface="Calibri" pitchFamily="34" charset="-122"/>
                <a:cs typeface="Calibri" pitchFamily="34" charset="-120"/>
              </a:rPr>
              <a:t>Constraint conflict checklist</a:t>
            </a:r>
            <a:endParaRPr lang="en-US" sz="850" dirty="0"/>
          </a:p>
        </p:txBody>
      </p:sp>
      <p:sp>
        <p:nvSpPr>
          <p:cNvPr id="9" name="Shape 7"/>
          <p:cNvSpPr/>
          <p:nvPr/>
        </p:nvSpPr>
        <p:spPr>
          <a:xfrm>
            <a:off x="3154680" y="777240"/>
            <a:ext cx="2743200" cy="3474720"/>
          </a:xfrm>
          <a:prstGeom prst="rect">
            <a:avLst/>
          </a:prstGeom>
          <a:solidFill>
            <a:srgbClr val="FFFFFF"/>
          </a:solidFill>
          <a:ln/>
          <a:effectLst>
            <a:outerShdw sx="100000" sy="100000" kx="0" ky="0" algn="bl" rotWithShape="0" blurRad="101600" dist="25400" dir="8100000">
              <a:srgbClr val="000000">
                <a:alpha val="8000"/>
              </a:srgbClr>
            </a:outerShdw>
          </a:effectLst>
        </p:spPr>
      </p:sp>
      <p:sp>
        <p:nvSpPr>
          <p:cNvPr id="10" name="Shape 8"/>
          <p:cNvSpPr/>
          <p:nvPr/>
        </p:nvSpPr>
        <p:spPr>
          <a:xfrm>
            <a:off x="3154680" y="777240"/>
            <a:ext cx="2743200" cy="475488"/>
          </a:xfrm>
          <a:prstGeom prst="rect">
            <a:avLst/>
          </a:prstGeom>
          <a:solidFill>
            <a:srgbClr val="2563EB"/>
          </a:solidFill>
          <a:ln/>
        </p:spPr>
      </p:sp>
      <p:sp>
        <p:nvSpPr>
          <p:cNvPr id="11" name="Text 9"/>
          <p:cNvSpPr/>
          <p:nvPr/>
        </p:nvSpPr>
        <p:spPr>
          <a:xfrm>
            <a:off x="3264408" y="777240"/>
            <a:ext cx="822960" cy="475488"/>
          </a:xfrm>
          <a:prstGeom prst="rect">
            <a:avLst/>
          </a:prstGeom>
          <a:noFill/>
          <a:ln/>
        </p:spPr>
        <p:txBody>
          <a:bodyPr wrap="square" lIns="50800" tIns="50800" rIns="50800" bIns="5080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Phase 2</a:t>
            </a:r>
            <a:endParaRPr lang="en-US" sz="1100" dirty="0"/>
          </a:p>
        </p:txBody>
      </p:sp>
      <p:sp>
        <p:nvSpPr>
          <p:cNvPr id="12" name="Text 10"/>
          <p:cNvSpPr/>
          <p:nvPr/>
        </p:nvSpPr>
        <p:spPr>
          <a:xfrm>
            <a:off x="4114800" y="777240"/>
            <a:ext cx="1737360" cy="475488"/>
          </a:xfrm>
          <a:prstGeom prst="rect">
            <a:avLst/>
          </a:prstGeom>
          <a:noFill/>
          <a:ln/>
        </p:spPr>
        <p:txBody>
          <a:bodyPr wrap="square" lIns="50800" tIns="50800" rIns="50800" bIns="50800" rtlCol="0" anchor="ctr"/>
          <a:lstStyle/>
          <a:p>
            <a:pPr algn="l" indent="0" marL="0">
              <a:buNone/>
            </a:pPr>
            <a:r>
              <a:rPr lang="en-US" sz="950" dirty="0">
                <a:solidFill>
                  <a:srgbClr val="FFFFFF"/>
                </a:solidFill>
                <a:latin typeface="Calibri" pitchFamily="34" charset="0"/>
                <a:ea typeface="Calibri" pitchFamily="34" charset="-122"/>
                <a:cs typeface="Calibri" pitchFamily="34" charset="-120"/>
              </a:rPr>
              <a:t>Simulation &amp;</a:t>
            </a:r>
            <a:endParaRPr lang="en-US" sz="950" dirty="0"/>
          </a:p>
          <a:p>
            <a:pPr algn="l" indent="0" marL="0">
              <a:buNone/>
            </a:pPr>
            <a:r>
              <a:rPr lang="en-US" sz="950" dirty="0">
                <a:solidFill>
                  <a:srgbClr val="FFFFFF"/>
                </a:solidFill>
                <a:latin typeface="Calibri" pitchFamily="34" charset="0"/>
                <a:ea typeface="Calibri" pitchFamily="34" charset="-122"/>
                <a:cs typeface="Calibri" pitchFamily="34" charset="-120"/>
              </a:rPr>
              <a:t>Scenario Planning</a:t>
            </a:r>
            <a:endParaRPr lang="en-US" sz="950" dirty="0"/>
          </a:p>
        </p:txBody>
      </p:sp>
      <p:sp>
        <p:nvSpPr>
          <p:cNvPr id="13" name="Text 11"/>
          <p:cNvSpPr/>
          <p:nvPr/>
        </p:nvSpPr>
        <p:spPr>
          <a:xfrm>
            <a:off x="3154680" y="1280160"/>
            <a:ext cx="2743200" cy="256032"/>
          </a:xfrm>
          <a:prstGeom prst="rect">
            <a:avLst/>
          </a:prstGeom>
          <a:noFill/>
          <a:ln/>
        </p:spPr>
        <p:txBody>
          <a:bodyPr wrap="square" lIns="0" tIns="0" rIns="0" bIns="0" rtlCol="0" anchor="ctr"/>
          <a:lstStyle/>
          <a:p>
            <a:pPr algn="ctr" indent="0" marL="0">
              <a:buNone/>
            </a:pPr>
            <a:r>
              <a:rPr lang="en-US" sz="800" b="1" dirty="0">
                <a:solidFill>
                  <a:srgbClr val="0D9488"/>
                </a:solidFill>
                <a:latin typeface="Calibri" pitchFamily="34" charset="0"/>
                <a:ea typeface="Calibri" pitchFamily="34" charset="-122"/>
                <a:cs typeface="Calibri" pitchFamily="34" charset="-120"/>
              </a:rPr>
              <a:t>Month 4–7</a:t>
            </a:r>
            <a:endParaRPr lang="en-US" sz="800" dirty="0"/>
          </a:p>
        </p:txBody>
      </p:sp>
      <p:sp>
        <p:nvSpPr>
          <p:cNvPr id="14" name="Text 12"/>
          <p:cNvSpPr/>
          <p:nvPr/>
        </p:nvSpPr>
        <p:spPr>
          <a:xfrm>
            <a:off x="3291840" y="1572768"/>
            <a:ext cx="2514600" cy="2606040"/>
          </a:xfrm>
          <a:prstGeom prst="rect">
            <a:avLst/>
          </a:prstGeom>
          <a:noFill/>
          <a:ln/>
        </p:spPr>
        <p:txBody>
          <a:bodyPr wrap="square" lIns="0" tIns="0" rIns="0" bIns="0" rtlCol="0" anchor="ctr"/>
          <a:lstStyle/>
          <a:p>
            <a:pPr marL="342900" indent="-342900">
              <a:spcAft>
                <a:spcPts val="300"/>
              </a:spcAft>
              <a:buSzPct val="100000"/>
              <a:buChar char="•"/>
            </a:pPr>
            <a:r>
              <a:rPr lang="en-US" sz="850" dirty="0">
                <a:solidFill>
                  <a:srgbClr val="475569"/>
                </a:solidFill>
                <a:latin typeface="Calibri" pitchFamily="34" charset="0"/>
                <a:ea typeface="Calibri" pitchFamily="34" charset="-122"/>
                <a:cs typeface="Calibri" pitchFamily="34" charset="-120"/>
              </a:rPr>
              <a:t>What-if disruption engine (breakdown, delay)</a:t>
            </a:r>
            <a:endParaRPr lang="en-US" sz="850" dirty="0"/>
          </a:p>
          <a:p>
            <a:pPr marL="342900" indent="-342900">
              <a:spcAft>
                <a:spcPts val="300"/>
              </a:spcAft>
              <a:buSzPct val="100000"/>
              <a:buChar char="•"/>
            </a:pPr>
            <a:r>
              <a:rPr lang="en-US" sz="850" dirty="0">
                <a:solidFill>
                  <a:srgbClr val="475569"/>
                </a:solidFill>
                <a:latin typeface="Calibri" pitchFamily="34" charset="0"/>
                <a:ea typeface="Calibri" pitchFamily="34" charset="-122"/>
                <a:cs typeface="Calibri" pitchFamily="34" charset="-120"/>
              </a:rPr>
              <a:t>OGV completion projection &amp; demurrage risk</a:t>
            </a:r>
            <a:endParaRPr lang="en-US" sz="850" dirty="0"/>
          </a:p>
          <a:p>
            <a:pPr marL="342900" indent="-342900">
              <a:spcAft>
                <a:spcPts val="300"/>
              </a:spcAft>
              <a:buSzPct val="100000"/>
              <a:buChar char="•"/>
            </a:pPr>
            <a:r>
              <a:rPr lang="en-US" sz="850" dirty="0">
                <a:solidFill>
                  <a:srgbClr val="475569"/>
                </a:solidFill>
                <a:latin typeface="Calibri" pitchFamily="34" charset="0"/>
                <a:ea typeface="Calibri" pitchFamily="34" charset="-122"/>
                <a:cs typeface="Calibri" pitchFamily="34" charset="-120"/>
              </a:rPr>
              <a:t>Asset utilisation reports (idle / active / waiting)</a:t>
            </a:r>
            <a:endParaRPr lang="en-US" sz="850" dirty="0"/>
          </a:p>
          <a:p>
            <a:pPr marL="342900" indent="-342900">
              <a:spcAft>
                <a:spcPts val="300"/>
              </a:spcAft>
              <a:buSzPct val="100000"/>
              <a:buChar char="•"/>
            </a:pPr>
            <a:r>
              <a:rPr lang="en-US" sz="850" dirty="0">
                <a:solidFill>
                  <a:srgbClr val="475569"/>
                </a:solidFill>
                <a:latin typeface="Calibri" pitchFamily="34" charset="0"/>
                <a:ea typeface="Calibri" pitchFamily="34" charset="-122"/>
                <a:cs typeface="Calibri" pitchFamily="34" charset="-120"/>
              </a:rPr>
              <a:t>Version comparison (baseline vs recovery)</a:t>
            </a:r>
            <a:endParaRPr lang="en-US" sz="850" dirty="0"/>
          </a:p>
          <a:p>
            <a:pPr marL="342900" indent="-342900">
              <a:spcAft>
                <a:spcPts val="300"/>
              </a:spcAft>
              <a:buSzPct val="100000"/>
              <a:buChar char="•"/>
            </a:pPr>
            <a:r>
              <a:rPr lang="en-US" sz="850" dirty="0">
                <a:solidFill>
                  <a:srgbClr val="475569"/>
                </a:solidFill>
                <a:latin typeface="Calibri" pitchFamily="34" charset="0"/>
                <a:ea typeface="Calibri" pitchFamily="34" charset="-122"/>
                <a:cs typeface="Calibri" pitchFamily="34" charset="-120"/>
              </a:rPr>
              <a:t>Manual override with full audit trail</a:t>
            </a:r>
            <a:endParaRPr lang="en-US" sz="850" dirty="0"/>
          </a:p>
        </p:txBody>
      </p:sp>
      <p:sp>
        <p:nvSpPr>
          <p:cNvPr id="15" name="Shape 13"/>
          <p:cNvSpPr/>
          <p:nvPr/>
        </p:nvSpPr>
        <p:spPr>
          <a:xfrm>
            <a:off x="6053328" y="777240"/>
            <a:ext cx="2743200" cy="3474720"/>
          </a:xfrm>
          <a:prstGeom prst="rect">
            <a:avLst/>
          </a:prstGeom>
          <a:solidFill>
            <a:srgbClr val="FFFFFF"/>
          </a:solidFill>
          <a:ln/>
          <a:effectLst>
            <a:outerShdw sx="100000" sy="100000" kx="0" ky="0" algn="bl" rotWithShape="0" blurRad="101600" dist="25400" dir="8100000">
              <a:srgbClr val="000000">
                <a:alpha val="8000"/>
              </a:srgbClr>
            </a:outerShdw>
          </a:effectLst>
        </p:spPr>
      </p:sp>
      <p:sp>
        <p:nvSpPr>
          <p:cNvPr id="16" name="Shape 14"/>
          <p:cNvSpPr/>
          <p:nvPr/>
        </p:nvSpPr>
        <p:spPr>
          <a:xfrm>
            <a:off x="6053328" y="777240"/>
            <a:ext cx="2743200" cy="475488"/>
          </a:xfrm>
          <a:prstGeom prst="rect">
            <a:avLst/>
          </a:prstGeom>
          <a:solidFill>
            <a:srgbClr val="0D9488"/>
          </a:solidFill>
          <a:ln/>
        </p:spPr>
      </p:sp>
      <p:sp>
        <p:nvSpPr>
          <p:cNvPr id="17" name="Text 15"/>
          <p:cNvSpPr/>
          <p:nvPr/>
        </p:nvSpPr>
        <p:spPr>
          <a:xfrm>
            <a:off x="6163056" y="777240"/>
            <a:ext cx="822960" cy="475488"/>
          </a:xfrm>
          <a:prstGeom prst="rect">
            <a:avLst/>
          </a:prstGeom>
          <a:noFill/>
          <a:ln/>
        </p:spPr>
        <p:txBody>
          <a:bodyPr wrap="square" lIns="50800" tIns="50800" rIns="50800" bIns="5080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Phase 3</a:t>
            </a:r>
            <a:endParaRPr lang="en-US" sz="1100" dirty="0"/>
          </a:p>
        </p:txBody>
      </p:sp>
      <p:sp>
        <p:nvSpPr>
          <p:cNvPr id="18" name="Text 16"/>
          <p:cNvSpPr/>
          <p:nvPr/>
        </p:nvSpPr>
        <p:spPr>
          <a:xfrm>
            <a:off x="7013448" y="777240"/>
            <a:ext cx="1737360" cy="475488"/>
          </a:xfrm>
          <a:prstGeom prst="rect">
            <a:avLst/>
          </a:prstGeom>
          <a:noFill/>
          <a:ln/>
        </p:spPr>
        <p:txBody>
          <a:bodyPr wrap="square" lIns="50800" tIns="50800" rIns="50800" bIns="50800" rtlCol="0" anchor="ctr"/>
          <a:lstStyle/>
          <a:p>
            <a:pPr algn="l" indent="0" marL="0">
              <a:buNone/>
            </a:pPr>
            <a:r>
              <a:rPr lang="en-US" sz="950" dirty="0">
                <a:solidFill>
                  <a:srgbClr val="FFFFFF"/>
                </a:solidFill>
                <a:latin typeface="Calibri" pitchFamily="34" charset="0"/>
                <a:ea typeface="Calibri" pitchFamily="34" charset="-122"/>
                <a:cs typeface="Calibri" pitchFamily="34" charset="-120"/>
              </a:rPr>
              <a:t>GPS / AIS</a:t>
            </a:r>
            <a:endParaRPr lang="en-US" sz="950" dirty="0"/>
          </a:p>
          <a:p>
            <a:pPr algn="l" indent="0" marL="0">
              <a:buNone/>
            </a:pPr>
            <a:r>
              <a:rPr lang="en-US" sz="950" dirty="0">
                <a:solidFill>
                  <a:srgbClr val="FFFFFF"/>
                </a:solidFill>
                <a:latin typeface="Calibri" pitchFamily="34" charset="0"/>
                <a:ea typeface="Calibri" pitchFamily="34" charset="-122"/>
                <a:cs typeface="Calibri" pitchFamily="34" charset="-120"/>
              </a:rPr>
              <a:t>Live Tracking</a:t>
            </a:r>
            <a:endParaRPr lang="en-US" sz="950" dirty="0"/>
          </a:p>
        </p:txBody>
      </p:sp>
      <p:sp>
        <p:nvSpPr>
          <p:cNvPr id="19" name="Text 17"/>
          <p:cNvSpPr/>
          <p:nvPr/>
        </p:nvSpPr>
        <p:spPr>
          <a:xfrm>
            <a:off x="6053328" y="1280160"/>
            <a:ext cx="2743200" cy="256032"/>
          </a:xfrm>
          <a:prstGeom prst="rect">
            <a:avLst/>
          </a:prstGeom>
          <a:noFill/>
          <a:ln/>
        </p:spPr>
        <p:txBody>
          <a:bodyPr wrap="square" lIns="0" tIns="0" rIns="0" bIns="0" rtlCol="0" anchor="ctr"/>
          <a:lstStyle/>
          <a:p>
            <a:pPr algn="ctr" indent="0" marL="0">
              <a:buNone/>
            </a:pPr>
            <a:r>
              <a:rPr lang="en-US" sz="800" b="1" dirty="0">
                <a:solidFill>
                  <a:srgbClr val="0D9488"/>
                </a:solidFill>
                <a:latin typeface="Calibri" pitchFamily="34" charset="0"/>
                <a:ea typeface="Calibri" pitchFamily="34" charset="-122"/>
                <a:cs typeface="Calibri" pitchFamily="34" charset="-120"/>
              </a:rPr>
              <a:t>Month 8–12</a:t>
            </a:r>
            <a:endParaRPr lang="en-US" sz="800" dirty="0"/>
          </a:p>
        </p:txBody>
      </p:sp>
      <p:sp>
        <p:nvSpPr>
          <p:cNvPr id="20" name="Text 18"/>
          <p:cNvSpPr/>
          <p:nvPr/>
        </p:nvSpPr>
        <p:spPr>
          <a:xfrm>
            <a:off x="6190488" y="1572768"/>
            <a:ext cx="2514600" cy="2606040"/>
          </a:xfrm>
          <a:prstGeom prst="rect">
            <a:avLst/>
          </a:prstGeom>
          <a:noFill/>
          <a:ln/>
        </p:spPr>
        <p:txBody>
          <a:bodyPr wrap="square" lIns="0" tIns="0" rIns="0" bIns="0" rtlCol="0" anchor="ctr"/>
          <a:lstStyle/>
          <a:p>
            <a:pPr marL="342900" indent="-342900">
              <a:spcAft>
                <a:spcPts val="300"/>
              </a:spcAft>
              <a:buSzPct val="100000"/>
              <a:buChar char="•"/>
            </a:pPr>
            <a:r>
              <a:rPr lang="en-US" sz="850" dirty="0">
                <a:solidFill>
                  <a:srgbClr val="475569"/>
                </a:solidFill>
                <a:latin typeface="Calibri" pitchFamily="34" charset="0"/>
                <a:ea typeface="Calibri" pitchFamily="34" charset="-122"/>
                <a:cs typeface="Calibri" pitchFamily="34" charset="-120"/>
              </a:rPr>
              <a:t>Spinergie AIS/GPS ingestion</a:t>
            </a:r>
            <a:endParaRPr lang="en-US" sz="850" dirty="0"/>
          </a:p>
          <a:p>
            <a:pPr marL="342900" indent="-342900">
              <a:spcAft>
                <a:spcPts val="300"/>
              </a:spcAft>
              <a:buSzPct val="100000"/>
              <a:buChar char="•"/>
            </a:pPr>
            <a:r>
              <a:rPr lang="en-US" sz="850" dirty="0">
                <a:solidFill>
                  <a:srgbClr val="475569"/>
                </a:solidFill>
                <a:latin typeface="Calibri" pitchFamily="34" charset="0"/>
                <a:ea typeface="Calibri" pitchFamily="34" charset="-122"/>
                <a:cs typeface="Calibri" pitchFamily="34" charset="-120"/>
              </a:rPr>
              <a:t>Geofence events (jetty arrive, CTS arrive)</a:t>
            </a:r>
            <a:endParaRPr lang="en-US" sz="850" dirty="0"/>
          </a:p>
          <a:p>
            <a:pPr marL="342900" indent="-342900">
              <a:spcAft>
                <a:spcPts val="300"/>
              </a:spcAft>
              <a:buSzPct val="100000"/>
              <a:buChar char="•"/>
            </a:pPr>
            <a:r>
              <a:rPr lang="en-US" sz="850" dirty="0">
                <a:solidFill>
                  <a:srgbClr val="475569"/>
                </a:solidFill>
                <a:latin typeface="Calibri" pitchFamily="34" charset="0"/>
                <a:ea typeface="Calibri" pitchFamily="34" charset="-122"/>
                <a:cs typeface="Calibri" pitchFamily="34" charset="-120"/>
              </a:rPr>
              <a:t>Planned vs actual ETA reconciliation</a:t>
            </a:r>
            <a:endParaRPr lang="en-US" sz="850" dirty="0"/>
          </a:p>
          <a:p>
            <a:pPr marL="342900" indent="-342900">
              <a:spcAft>
                <a:spcPts val="300"/>
              </a:spcAft>
              <a:buSzPct val="100000"/>
              <a:buChar char="•"/>
            </a:pPr>
            <a:r>
              <a:rPr lang="en-US" sz="850" dirty="0">
                <a:solidFill>
                  <a:srgbClr val="475569"/>
                </a:solidFill>
                <a:latin typeface="Calibri" pitchFamily="34" charset="0"/>
                <a:ea typeface="Calibri" pitchFamily="34" charset="-122"/>
                <a:cs typeface="Calibri" pitchFamily="34" charset="-120"/>
              </a:rPr>
              <a:t>Live map with fleet positions</a:t>
            </a:r>
            <a:endParaRPr lang="en-US" sz="850" dirty="0"/>
          </a:p>
          <a:p>
            <a:pPr marL="342900" indent="-342900">
              <a:spcAft>
                <a:spcPts val="300"/>
              </a:spcAft>
              <a:buSzPct val="100000"/>
              <a:buChar char="•"/>
            </a:pPr>
            <a:r>
              <a:rPr lang="en-US" sz="850" dirty="0">
                <a:solidFill>
                  <a:srgbClr val="475569"/>
                </a:solidFill>
                <a:latin typeface="Calibri" pitchFamily="34" charset="0"/>
                <a:ea typeface="Calibri" pitchFamily="34" charset="-122"/>
                <a:cs typeface="Calibri" pitchFamily="34" charset="-120"/>
              </a:rPr>
              <a:t>Automated delay alerts</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C"/>
        </a:solidFill>
      </p:bgPr>
    </p:bg>
    <p:spTree>
      <p:nvGrpSpPr>
        <p:cNvPr id="1" name=""/>
        <p:cNvGrpSpPr/>
        <p:nvPr/>
      </p:nvGrpSpPr>
      <p:grpSpPr>
        <a:xfrm>
          <a:off x="0" y="0"/>
          <a:ext cx="0" cy="0"/>
          <a:chOff x="0" y="0"/>
          <a:chExt cx="0" cy="0"/>
        </a:xfrm>
      </p:grpSpPr>
      <p:sp>
        <p:nvSpPr>
          <p:cNvPr id="2" name="Text 0"/>
          <p:cNvSpPr/>
          <p:nvPr/>
        </p:nvSpPr>
        <p:spPr>
          <a:xfrm>
            <a:off x="411480" y="201168"/>
            <a:ext cx="8321040" cy="502920"/>
          </a:xfrm>
          <a:prstGeom prst="rect">
            <a:avLst/>
          </a:prstGeom>
          <a:noFill/>
          <a:ln/>
        </p:spPr>
        <p:txBody>
          <a:bodyPr wrap="square" lIns="0" tIns="0" rIns="0" bIns="0" rtlCol="0" anchor="ctr"/>
          <a:lstStyle/>
          <a:p>
            <a:pPr algn="l" indent="0" marL="0">
              <a:buNone/>
            </a:pPr>
            <a:r>
              <a:rPr lang="en-US" sz="2200" b="1" dirty="0">
                <a:solidFill>
                  <a:srgbClr val="1A2B45"/>
                </a:solidFill>
                <a:latin typeface="Calibri" pitchFamily="34" charset="0"/>
                <a:ea typeface="Calibri" pitchFamily="34" charset="-122"/>
                <a:cs typeface="Calibri" pitchFamily="34" charset="-120"/>
              </a:rPr>
              <a:t>Toward Mature Platform — IoT, Optimisation &amp; Control Tower</a:t>
            </a:r>
            <a:endParaRPr lang="en-US" sz="2200" dirty="0"/>
          </a:p>
        </p:txBody>
      </p:sp>
      <p:sp>
        <p:nvSpPr>
          <p:cNvPr id="3" name="Shape 1"/>
          <p:cNvSpPr/>
          <p:nvPr/>
        </p:nvSpPr>
        <p:spPr>
          <a:xfrm>
            <a:off x="256032" y="777240"/>
            <a:ext cx="2743200" cy="3566160"/>
          </a:xfrm>
          <a:prstGeom prst="rect">
            <a:avLst/>
          </a:prstGeom>
          <a:solidFill>
            <a:srgbClr val="FFFFFF"/>
          </a:solidFill>
          <a:ln/>
          <a:effectLst>
            <a:outerShdw sx="100000" sy="100000" kx="0" ky="0" algn="bl" rotWithShape="0" blurRad="101600" dist="25400" dir="8100000">
              <a:srgbClr val="000000">
                <a:alpha val="8000"/>
              </a:srgbClr>
            </a:outerShdw>
          </a:effectLst>
        </p:spPr>
      </p:sp>
      <p:sp>
        <p:nvSpPr>
          <p:cNvPr id="4" name="Shape 2"/>
          <p:cNvSpPr/>
          <p:nvPr/>
        </p:nvSpPr>
        <p:spPr>
          <a:xfrm>
            <a:off x="256032" y="777240"/>
            <a:ext cx="2743200" cy="475488"/>
          </a:xfrm>
          <a:prstGeom prst="rect">
            <a:avLst/>
          </a:prstGeom>
          <a:solidFill>
            <a:srgbClr val="6366F1"/>
          </a:solidFill>
          <a:ln/>
        </p:spPr>
      </p:sp>
      <p:sp>
        <p:nvSpPr>
          <p:cNvPr id="5" name="Text 3"/>
          <p:cNvSpPr/>
          <p:nvPr/>
        </p:nvSpPr>
        <p:spPr>
          <a:xfrm>
            <a:off x="365760" y="777240"/>
            <a:ext cx="822960" cy="475488"/>
          </a:xfrm>
          <a:prstGeom prst="rect">
            <a:avLst/>
          </a:prstGeom>
          <a:noFill/>
          <a:ln/>
        </p:spPr>
        <p:txBody>
          <a:bodyPr wrap="square" lIns="50800" tIns="50800" rIns="50800" bIns="5080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Phase 4</a:t>
            </a:r>
            <a:endParaRPr lang="en-US" sz="1100" dirty="0"/>
          </a:p>
        </p:txBody>
      </p:sp>
      <p:sp>
        <p:nvSpPr>
          <p:cNvPr id="6" name="Text 4"/>
          <p:cNvSpPr/>
          <p:nvPr/>
        </p:nvSpPr>
        <p:spPr>
          <a:xfrm>
            <a:off x="1216152" y="777240"/>
            <a:ext cx="1737360" cy="475488"/>
          </a:xfrm>
          <a:prstGeom prst="rect">
            <a:avLst/>
          </a:prstGeom>
          <a:noFill/>
          <a:ln/>
        </p:spPr>
        <p:txBody>
          <a:bodyPr wrap="square" lIns="50800" tIns="50800" rIns="50800" bIns="50800" rtlCol="0" anchor="ctr"/>
          <a:lstStyle/>
          <a:p>
            <a:pPr algn="l" indent="0" marL="0">
              <a:buNone/>
            </a:pPr>
            <a:r>
              <a:rPr lang="en-US" sz="950" dirty="0">
                <a:solidFill>
                  <a:srgbClr val="FFFFFF"/>
                </a:solidFill>
                <a:latin typeface="Calibri" pitchFamily="34" charset="0"/>
                <a:ea typeface="Calibri" pitchFamily="34" charset="-122"/>
                <a:cs typeface="Calibri" pitchFamily="34" charset="-120"/>
              </a:rPr>
              <a:t>IoT / Event-Driven</a:t>
            </a:r>
            <a:endParaRPr lang="en-US" sz="950" dirty="0"/>
          </a:p>
          <a:p>
            <a:pPr algn="l" indent="0" marL="0">
              <a:buNone/>
            </a:pPr>
            <a:r>
              <a:rPr lang="en-US" sz="950" dirty="0">
                <a:solidFill>
                  <a:srgbClr val="FFFFFF"/>
                </a:solidFill>
                <a:latin typeface="Calibri" pitchFamily="34" charset="0"/>
                <a:ea typeface="Calibri" pitchFamily="34" charset="-122"/>
                <a:cs typeface="Calibri" pitchFamily="34" charset="-120"/>
              </a:rPr>
              <a:t>Operations</a:t>
            </a:r>
            <a:endParaRPr lang="en-US" sz="950" dirty="0"/>
          </a:p>
        </p:txBody>
      </p:sp>
      <p:sp>
        <p:nvSpPr>
          <p:cNvPr id="7" name="Text 5"/>
          <p:cNvSpPr/>
          <p:nvPr/>
        </p:nvSpPr>
        <p:spPr>
          <a:xfrm>
            <a:off x="256032" y="1280160"/>
            <a:ext cx="2743200" cy="256032"/>
          </a:xfrm>
          <a:prstGeom prst="rect">
            <a:avLst/>
          </a:prstGeom>
          <a:noFill/>
          <a:ln/>
        </p:spPr>
        <p:txBody>
          <a:bodyPr wrap="square" lIns="0" tIns="0" rIns="0" bIns="0" rtlCol="0" anchor="ctr"/>
          <a:lstStyle/>
          <a:p>
            <a:pPr algn="ctr" indent="0" marL="0">
              <a:buNone/>
            </a:pPr>
            <a:r>
              <a:rPr lang="en-US" sz="800" b="1" dirty="0">
                <a:solidFill>
                  <a:srgbClr val="6366F1"/>
                </a:solidFill>
                <a:latin typeface="Calibri" pitchFamily="34" charset="0"/>
                <a:ea typeface="Calibri" pitchFamily="34" charset="-122"/>
                <a:cs typeface="Calibri" pitchFamily="34" charset="-120"/>
              </a:rPr>
              <a:t>Year 2 · Q1</a:t>
            </a:r>
            <a:endParaRPr lang="en-US" sz="800" dirty="0"/>
          </a:p>
        </p:txBody>
      </p:sp>
      <p:sp>
        <p:nvSpPr>
          <p:cNvPr id="8" name="Text 6"/>
          <p:cNvSpPr/>
          <p:nvPr/>
        </p:nvSpPr>
        <p:spPr>
          <a:xfrm>
            <a:off x="393192" y="1572768"/>
            <a:ext cx="2514600" cy="2697480"/>
          </a:xfrm>
          <a:prstGeom prst="rect">
            <a:avLst/>
          </a:prstGeom>
          <a:noFill/>
          <a:ln/>
        </p:spPr>
        <p:txBody>
          <a:bodyPr wrap="square" lIns="0" tIns="0" rIns="0" bIns="0" rtlCol="0" anchor="ctr"/>
          <a:lstStyle/>
          <a:p>
            <a:pPr marL="342900" indent="-342900">
              <a:spcAft>
                <a:spcPts val="300"/>
              </a:spcAft>
              <a:buSzPct val="100000"/>
              <a:buChar char="•"/>
            </a:pPr>
            <a:r>
              <a:rPr lang="en-US" sz="850" dirty="0">
                <a:solidFill>
                  <a:srgbClr val="475569"/>
                </a:solidFill>
                <a:latin typeface="Calibri" pitchFamily="34" charset="0"/>
                <a:ea typeface="Calibri" pitchFamily="34" charset="-122"/>
                <a:cs typeface="Calibri" pitchFamily="34" charset="-120"/>
              </a:rPr>
              <a:t>Jetty loading &amp; CTS discharge events via field devices</a:t>
            </a:r>
            <a:endParaRPr lang="en-US" sz="850" dirty="0"/>
          </a:p>
          <a:p>
            <a:pPr marL="342900" indent="-342900">
              <a:spcAft>
                <a:spcPts val="300"/>
              </a:spcAft>
              <a:buSzPct val="100000"/>
              <a:buChar char="•"/>
            </a:pPr>
            <a:r>
              <a:rPr lang="en-US" sz="850" dirty="0">
                <a:solidFill>
                  <a:srgbClr val="475569"/>
                </a:solidFill>
                <a:latin typeface="Calibri" pitchFamily="34" charset="0"/>
                <a:ea typeface="Calibri" pitchFamily="34" charset="-122"/>
                <a:cs typeface="Calibri" pitchFamily="34" charset="-120"/>
              </a:rPr>
              <a:t>Tide/bridge status via sensors or API</a:t>
            </a:r>
            <a:endParaRPr lang="en-US" sz="850" dirty="0"/>
          </a:p>
          <a:p>
            <a:pPr marL="342900" indent="-342900">
              <a:spcAft>
                <a:spcPts val="300"/>
              </a:spcAft>
              <a:buSzPct val="100000"/>
              <a:buChar char="•"/>
            </a:pPr>
            <a:r>
              <a:rPr lang="en-US" sz="850" dirty="0">
                <a:solidFill>
                  <a:srgbClr val="475569"/>
                </a:solidFill>
                <a:latin typeface="Calibri" pitchFamily="34" charset="0"/>
                <a:ea typeface="Calibri" pitchFamily="34" charset="-122"/>
                <a:cs typeface="Calibri" pitchFamily="34" charset="-120"/>
              </a:rPr>
              <a:t>Equipment/device health monitoring</a:t>
            </a:r>
            <a:endParaRPr lang="en-US" sz="850" dirty="0"/>
          </a:p>
          <a:p>
            <a:pPr marL="342900" indent="-342900">
              <a:spcAft>
                <a:spcPts val="300"/>
              </a:spcAft>
              <a:buSzPct val="100000"/>
              <a:buChar char="•"/>
            </a:pPr>
            <a:r>
              <a:rPr lang="en-US" sz="850" dirty="0">
                <a:solidFill>
                  <a:srgbClr val="475569"/>
                </a:solidFill>
                <a:latin typeface="Calibri" pitchFamily="34" charset="0"/>
                <a:ea typeface="Calibri" pitchFamily="34" charset="-122"/>
                <a:cs typeface="Calibri" pitchFamily="34" charset="-120"/>
              </a:rPr>
              <a:t>MQTT event broker + local edge buffering</a:t>
            </a:r>
            <a:endParaRPr lang="en-US" sz="850" dirty="0"/>
          </a:p>
          <a:p>
            <a:pPr marL="342900" indent="-342900">
              <a:spcAft>
                <a:spcPts val="300"/>
              </a:spcAft>
              <a:buSzPct val="100000"/>
              <a:buChar char="•"/>
            </a:pPr>
            <a:r>
              <a:rPr lang="en-US" sz="850" dirty="0">
                <a:solidFill>
                  <a:srgbClr val="475569"/>
                </a:solidFill>
                <a:latin typeface="Calibri" pitchFamily="34" charset="0"/>
                <a:ea typeface="Calibri" pitchFamily="34" charset="-122"/>
                <a:cs typeface="Calibri" pitchFamily="34" charset="-120"/>
              </a:rPr>
              <a:t>Trusted operational event log (replaces WhatsApp updates)</a:t>
            </a:r>
            <a:endParaRPr lang="en-US" sz="850" dirty="0"/>
          </a:p>
        </p:txBody>
      </p:sp>
      <p:sp>
        <p:nvSpPr>
          <p:cNvPr id="9" name="Shape 7"/>
          <p:cNvSpPr/>
          <p:nvPr/>
        </p:nvSpPr>
        <p:spPr>
          <a:xfrm>
            <a:off x="3154680" y="777240"/>
            <a:ext cx="2743200" cy="3566160"/>
          </a:xfrm>
          <a:prstGeom prst="rect">
            <a:avLst/>
          </a:prstGeom>
          <a:solidFill>
            <a:srgbClr val="FFFFFF"/>
          </a:solidFill>
          <a:ln/>
          <a:effectLst>
            <a:outerShdw sx="100000" sy="100000" kx="0" ky="0" algn="bl" rotWithShape="0" blurRad="101600" dist="25400" dir="8100000">
              <a:srgbClr val="000000">
                <a:alpha val="8000"/>
              </a:srgbClr>
            </a:outerShdw>
          </a:effectLst>
        </p:spPr>
      </p:sp>
      <p:sp>
        <p:nvSpPr>
          <p:cNvPr id="10" name="Shape 8"/>
          <p:cNvSpPr/>
          <p:nvPr/>
        </p:nvSpPr>
        <p:spPr>
          <a:xfrm>
            <a:off x="3154680" y="777240"/>
            <a:ext cx="2743200" cy="475488"/>
          </a:xfrm>
          <a:prstGeom prst="rect">
            <a:avLst/>
          </a:prstGeom>
          <a:solidFill>
            <a:srgbClr val="7C3AED"/>
          </a:solidFill>
          <a:ln/>
        </p:spPr>
      </p:sp>
      <p:sp>
        <p:nvSpPr>
          <p:cNvPr id="11" name="Text 9"/>
          <p:cNvSpPr/>
          <p:nvPr/>
        </p:nvSpPr>
        <p:spPr>
          <a:xfrm>
            <a:off x="3264408" y="777240"/>
            <a:ext cx="822960" cy="475488"/>
          </a:xfrm>
          <a:prstGeom prst="rect">
            <a:avLst/>
          </a:prstGeom>
          <a:noFill/>
          <a:ln/>
        </p:spPr>
        <p:txBody>
          <a:bodyPr wrap="square" lIns="50800" tIns="50800" rIns="50800" bIns="5080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Phase 5</a:t>
            </a:r>
            <a:endParaRPr lang="en-US" sz="1100" dirty="0"/>
          </a:p>
        </p:txBody>
      </p:sp>
      <p:sp>
        <p:nvSpPr>
          <p:cNvPr id="12" name="Text 10"/>
          <p:cNvSpPr/>
          <p:nvPr/>
        </p:nvSpPr>
        <p:spPr>
          <a:xfrm>
            <a:off x="4114800" y="777240"/>
            <a:ext cx="1737360" cy="475488"/>
          </a:xfrm>
          <a:prstGeom prst="rect">
            <a:avLst/>
          </a:prstGeom>
          <a:noFill/>
          <a:ln/>
        </p:spPr>
        <p:txBody>
          <a:bodyPr wrap="square" lIns="50800" tIns="50800" rIns="50800" bIns="50800" rtlCol="0" anchor="ctr"/>
          <a:lstStyle/>
          <a:p>
            <a:pPr algn="l" indent="0" marL="0">
              <a:buNone/>
            </a:pPr>
            <a:r>
              <a:rPr lang="en-US" sz="950" dirty="0">
                <a:solidFill>
                  <a:srgbClr val="FFFFFF"/>
                </a:solidFill>
                <a:latin typeface="Calibri" pitchFamily="34" charset="0"/>
                <a:ea typeface="Calibri" pitchFamily="34" charset="-122"/>
                <a:cs typeface="Calibri" pitchFamily="34" charset="-120"/>
              </a:rPr>
              <a:t>Optimisation &amp;</a:t>
            </a:r>
            <a:endParaRPr lang="en-US" sz="950" dirty="0"/>
          </a:p>
          <a:p>
            <a:pPr algn="l" indent="0" marL="0">
              <a:buNone/>
            </a:pPr>
            <a:r>
              <a:rPr lang="en-US" sz="950" dirty="0">
                <a:solidFill>
                  <a:srgbClr val="FFFFFF"/>
                </a:solidFill>
                <a:latin typeface="Calibri" pitchFamily="34" charset="0"/>
                <a:ea typeface="Calibri" pitchFamily="34" charset="-122"/>
                <a:cs typeface="Calibri" pitchFamily="34" charset="-120"/>
              </a:rPr>
              <a:t>Recovery AI</a:t>
            </a:r>
            <a:endParaRPr lang="en-US" sz="950" dirty="0"/>
          </a:p>
        </p:txBody>
      </p:sp>
      <p:sp>
        <p:nvSpPr>
          <p:cNvPr id="13" name="Text 11"/>
          <p:cNvSpPr/>
          <p:nvPr/>
        </p:nvSpPr>
        <p:spPr>
          <a:xfrm>
            <a:off x="3154680" y="1280160"/>
            <a:ext cx="2743200" cy="256032"/>
          </a:xfrm>
          <a:prstGeom prst="rect">
            <a:avLst/>
          </a:prstGeom>
          <a:noFill/>
          <a:ln/>
        </p:spPr>
        <p:txBody>
          <a:bodyPr wrap="square" lIns="0" tIns="0" rIns="0" bIns="0" rtlCol="0" anchor="ctr"/>
          <a:lstStyle/>
          <a:p>
            <a:pPr algn="ctr" indent="0" marL="0">
              <a:buNone/>
            </a:pPr>
            <a:r>
              <a:rPr lang="en-US" sz="800" b="1" dirty="0">
                <a:solidFill>
                  <a:srgbClr val="7C3AED"/>
                </a:solidFill>
                <a:latin typeface="Calibri" pitchFamily="34" charset="0"/>
                <a:ea typeface="Calibri" pitchFamily="34" charset="-122"/>
                <a:cs typeface="Calibri" pitchFamily="34" charset="-120"/>
              </a:rPr>
              <a:t>Year 2 · Q2–Q3</a:t>
            </a:r>
            <a:endParaRPr lang="en-US" sz="800" dirty="0"/>
          </a:p>
        </p:txBody>
      </p:sp>
      <p:sp>
        <p:nvSpPr>
          <p:cNvPr id="14" name="Text 12"/>
          <p:cNvSpPr/>
          <p:nvPr/>
        </p:nvSpPr>
        <p:spPr>
          <a:xfrm>
            <a:off x="3291840" y="1572768"/>
            <a:ext cx="2514600" cy="2697480"/>
          </a:xfrm>
          <a:prstGeom prst="rect">
            <a:avLst/>
          </a:prstGeom>
          <a:noFill/>
          <a:ln/>
        </p:spPr>
        <p:txBody>
          <a:bodyPr wrap="square" lIns="0" tIns="0" rIns="0" bIns="0" rtlCol="0" anchor="ctr"/>
          <a:lstStyle/>
          <a:p>
            <a:pPr marL="342900" indent="-342900">
              <a:spcAft>
                <a:spcPts val="300"/>
              </a:spcAft>
              <a:buSzPct val="100000"/>
              <a:buChar char="•"/>
            </a:pPr>
            <a:r>
              <a:rPr lang="en-US" sz="850" dirty="0">
                <a:solidFill>
                  <a:srgbClr val="475569"/>
                </a:solidFill>
                <a:latin typeface="Calibri" pitchFamily="34" charset="0"/>
                <a:ea typeface="Calibri" pitchFamily="34" charset="-122"/>
                <a:cs typeface="Calibri" pitchFamily="34" charset="-120"/>
              </a:rPr>
              <a:t>Assignment optimiser (tug/barge/CTS/OGV pairing)</a:t>
            </a:r>
            <a:endParaRPr lang="en-US" sz="850" dirty="0"/>
          </a:p>
          <a:p>
            <a:pPr marL="342900" indent="-342900">
              <a:spcAft>
                <a:spcPts val="300"/>
              </a:spcAft>
              <a:buSzPct val="100000"/>
              <a:buChar char="•"/>
            </a:pPr>
            <a:r>
              <a:rPr lang="en-US" sz="850" dirty="0">
                <a:solidFill>
                  <a:srgbClr val="475569"/>
                </a:solidFill>
                <a:latin typeface="Calibri" pitchFamily="34" charset="0"/>
                <a:ea typeface="Calibri" pitchFamily="34" charset="-122"/>
                <a:cs typeface="Calibri" pitchFamily="34" charset="-120"/>
              </a:rPr>
              <a:t>Trip sequencing under multi-constraint solver</a:t>
            </a:r>
            <a:endParaRPr lang="en-US" sz="850" dirty="0"/>
          </a:p>
          <a:p>
            <a:pPr marL="342900" indent="-342900">
              <a:spcAft>
                <a:spcPts val="300"/>
              </a:spcAft>
              <a:buSzPct val="100000"/>
              <a:buChar char="•"/>
            </a:pPr>
            <a:r>
              <a:rPr lang="en-US" sz="850" dirty="0">
                <a:solidFill>
                  <a:srgbClr val="475569"/>
                </a:solidFill>
                <a:latin typeface="Calibri" pitchFamily="34" charset="0"/>
                <a:ea typeface="Calibri" pitchFamily="34" charset="-122"/>
                <a:cs typeface="Calibri" pitchFamily="34" charset="-120"/>
              </a:rPr>
              <a:t>Resource conflict auto-repair suggestions</a:t>
            </a:r>
            <a:endParaRPr lang="en-US" sz="850" dirty="0"/>
          </a:p>
          <a:p>
            <a:pPr marL="342900" indent="-342900">
              <a:spcAft>
                <a:spcPts val="300"/>
              </a:spcAft>
              <a:buSzPct val="100000"/>
              <a:buChar char="•"/>
            </a:pPr>
            <a:r>
              <a:rPr lang="en-US" sz="850" dirty="0">
                <a:solidFill>
                  <a:srgbClr val="475569"/>
                </a:solidFill>
                <a:latin typeface="Calibri" pitchFamily="34" charset="0"/>
                <a:ea typeface="Calibri" pitchFamily="34" charset="-122"/>
                <a:cs typeface="Calibri" pitchFamily="34" charset="-120"/>
              </a:rPr>
              <a:t>Recovery recommendation engine</a:t>
            </a:r>
            <a:endParaRPr lang="en-US" sz="850" dirty="0"/>
          </a:p>
          <a:p>
            <a:pPr marL="342900" indent="-342900">
              <a:spcAft>
                <a:spcPts val="300"/>
              </a:spcAft>
              <a:buSzPct val="100000"/>
              <a:buChar char="•"/>
            </a:pPr>
            <a:r>
              <a:rPr lang="en-US" sz="850" dirty="0">
                <a:solidFill>
                  <a:srgbClr val="475569"/>
                </a:solidFill>
                <a:latin typeface="Calibri" pitchFamily="34" charset="0"/>
                <a:ea typeface="Calibri" pitchFamily="34" charset="-122"/>
                <a:cs typeface="Calibri" pitchFamily="34" charset="-120"/>
              </a:rPr>
              <a:t>Planner approval workflow before auto-commit</a:t>
            </a:r>
            <a:endParaRPr lang="en-US" sz="850" dirty="0"/>
          </a:p>
        </p:txBody>
      </p:sp>
      <p:sp>
        <p:nvSpPr>
          <p:cNvPr id="15" name="Shape 13"/>
          <p:cNvSpPr/>
          <p:nvPr/>
        </p:nvSpPr>
        <p:spPr>
          <a:xfrm>
            <a:off x="6053328" y="777240"/>
            <a:ext cx="2743200" cy="3566160"/>
          </a:xfrm>
          <a:prstGeom prst="rect">
            <a:avLst/>
          </a:prstGeom>
          <a:solidFill>
            <a:srgbClr val="FFFFFF"/>
          </a:solidFill>
          <a:ln/>
          <a:effectLst>
            <a:outerShdw sx="100000" sy="100000" kx="0" ky="0" algn="bl" rotWithShape="0" blurRad="101600" dist="25400" dir="8100000">
              <a:srgbClr val="000000">
                <a:alpha val="8000"/>
              </a:srgbClr>
            </a:outerShdw>
          </a:effectLst>
        </p:spPr>
      </p:sp>
      <p:sp>
        <p:nvSpPr>
          <p:cNvPr id="16" name="Shape 14"/>
          <p:cNvSpPr/>
          <p:nvPr/>
        </p:nvSpPr>
        <p:spPr>
          <a:xfrm>
            <a:off x="6053328" y="777240"/>
            <a:ext cx="2743200" cy="475488"/>
          </a:xfrm>
          <a:prstGeom prst="rect">
            <a:avLst/>
          </a:prstGeom>
          <a:solidFill>
            <a:srgbClr val="0D9488"/>
          </a:solidFill>
          <a:ln/>
        </p:spPr>
      </p:sp>
      <p:sp>
        <p:nvSpPr>
          <p:cNvPr id="17" name="Text 15"/>
          <p:cNvSpPr/>
          <p:nvPr/>
        </p:nvSpPr>
        <p:spPr>
          <a:xfrm>
            <a:off x="6163056" y="777240"/>
            <a:ext cx="822960" cy="475488"/>
          </a:xfrm>
          <a:prstGeom prst="rect">
            <a:avLst/>
          </a:prstGeom>
          <a:noFill/>
          <a:ln/>
        </p:spPr>
        <p:txBody>
          <a:bodyPr wrap="square" lIns="50800" tIns="50800" rIns="50800" bIns="5080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Phase 6</a:t>
            </a:r>
            <a:endParaRPr lang="en-US" sz="1100" dirty="0"/>
          </a:p>
        </p:txBody>
      </p:sp>
      <p:sp>
        <p:nvSpPr>
          <p:cNvPr id="18" name="Text 16"/>
          <p:cNvSpPr/>
          <p:nvPr/>
        </p:nvSpPr>
        <p:spPr>
          <a:xfrm>
            <a:off x="7013448" y="777240"/>
            <a:ext cx="1737360" cy="475488"/>
          </a:xfrm>
          <a:prstGeom prst="rect">
            <a:avLst/>
          </a:prstGeom>
          <a:noFill/>
          <a:ln/>
        </p:spPr>
        <p:txBody>
          <a:bodyPr wrap="square" lIns="50800" tIns="50800" rIns="50800" bIns="50800" rtlCol="0" anchor="ctr"/>
          <a:lstStyle/>
          <a:p>
            <a:pPr algn="l" indent="0" marL="0">
              <a:buNone/>
            </a:pPr>
            <a:r>
              <a:rPr lang="en-US" sz="950" dirty="0">
                <a:solidFill>
                  <a:srgbClr val="FFFFFF"/>
                </a:solidFill>
                <a:latin typeface="Calibri" pitchFamily="34" charset="0"/>
                <a:ea typeface="Calibri" pitchFamily="34" charset="-122"/>
                <a:cs typeface="Calibri" pitchFamily="34" charset="-120"/>
              </a:rPr>
              <a:t>Multi-Party</a:t>
            </a:r>
            <a:endParaRPr lang="en-US" sz="950" dirty="0"/>
          </a:p>
          <a:p>
            <a:pPr algn="l" indent="0" marL="0">
              <a:buNone/>
            </a:pPr>
            <a:r>
              <a:rPr lang="en-US" sz="950" dirty="0">
                <a:solidFill>
                  <a:srgbClr val="FFFFFF"/>
                </a:solidFill>
                <a:latin typeface="Calibri" pitchFamily="34" charset="0"/>
                <a:ea typeface="Calibri" pitchFamily="34" charset="-122"/>
                <a:cs typeface="Calibri" pitchFamily="34" charset="-120"/>
              </a:rPr>
              <a:t>Control Tower</a:t>
            </a:r>
            <a:endParaRPr lang="en-US" sz="950" dirty="0"/>
          </a:p>
        </p:txBody>
      </p:sp>
      <p:sp>
        <p:nvSpPr>
          <p:cNvPr id="19" name="Text 17"/>
          <p:cNvSpPr/>
          <p:nvPr/>
        </p:nvSpPr>
        <p:spPr>
          <a:xfrm>
            <a:off x="6053328" y="1280160"/>
            <a:ext cx="2743200" cy="256032"/>
          </a:xfrm>
          <a:prstGeom prst="rect">
            <a:avLst/>
          </a:prstGeom>
          <a:noFill/>
          <a:ln/>
        </p:spPr>
        <p:txBody>
          <a:bodyPr wrap="square" lIns="0" tIns="0" rIns="0" bIns="0" rtlCol="0" anchor="ctr"/>
          <a:lstStyle/>
          <a:p>
            <a:pPr algn="ctr" indent="0" marL="0">
              <a:buNone/>
            </a:pPr>
            <a:r>
              <a:rPr lang="en-US" sz="800" b="1" dirty="0">
                <a:solidFill>
                  <a:srgbClr val="0D9488"/>
                </a:solidFill>
                <a:latin typeface="Calibri" pitchFamily="34" charset="0"/>
                <a:ea typeface="Calibri" pitchFamily="34" charset="-122"/>
                <a:cs typeface="Calibri" pitchFamily="34" charset="-120"/>
              </a:rPr>
              <a:t>Year 2 · Q4</a:t>
            </a:r>
            <a:endParaRPr lang="en-US" sz="800" dirty="0"/>
          </a:p>
        </p:txBody>
      </p:sp>
      <p:sp>
        <p:nvSpPr>
          <p:cNvPr id="20" name="Text 18"/>
          <p:cNvSpPr/>
          <p:nvPr/>
        </p:nvSpPr>
        <p:spPr>
          <a:xfrm>
            <a:off x="6190488" y="1572768"/>
            <a:ext cx="2514600" cy="2697480"/>
          </a:xfrm>
          <a:prstGeom prst="rect">
            <a:avLst/>
          </a:prstGeom>
          <a:noFill/>
          <a:ln/>
        </p:spPr>
        <p:txBody>
          <a:bodyPr wrap="square" lIns="0" tIns="0" rIns="0" bIns="0" rtlCol="0" anchor="ctr"/>
          <a:lstStyle/>
          <a:p>
            <a:pPr marL="342900" indent="-342900">
              <a:spcAft>
                <a:spcPts val="300"/>
              </a:spcAft>
              <a:buSzPct val="100000"/>
              <a:buChar char="•"/>
            </a:pPr>
            <a:r>
              <a:rPr lang="en-US" sz="850" dirty="0">
                <a:solidFill>
                  <a:srgbClr val="475569"/>
                </a:solidFill>
                <a:latin typeface="Calibri" pitchFamily="34" charset="0"/>
                <a:ea typeface="Calibri" pitchFamily="34" charset="-122"/>
                <a:cs typeface="Calibri" pitchFamily="34" charset="-120"/>
              </a:rPr>
              <a:t>ABL dispatcher view: fleet + CTS assignments</a:t>
            </a:r>
            <a:endParaRPr lang="en-US" sz="850" dirty="0"/>
          </a:p>
          <a:p>
            <a:pPr marL="342900" indent="-342900">
              <a:spcAft>
                <a:spcPts val="300"/>
              </a:spcAft>
              <a:buSzPct val="100000"/>
              <a:buChar char="•"/>
            </a:pPr>
            <a:r>
              <a:rPr lang="en-US" sz="850" dirty="0">
                <a:solidFill>
                  <a:srgbClr val="475569"/>
                </a:solidFill>
                <a:latin typeface="Calibri" pitchFamily="34" charset="0"/>
                <a:ea typeface="Calibri" pitchFamily="34" charset="-122"/>
                <a:cs typeface="Calibri" pitchFamily="34" charset="-120"/>
              </a:rPr>
              <a:t>Berau cargo/OGV view: grade, sequence, OGV risk</a:t>
            </a:r>
            <a:endParaRPr lang="en-US" sz="850" dirty="0"/>
          </a:p>
          <a:p>
            <a:pPr marL="342900" indent="-342900">
              <a:spcAft>
                <a:spcPts val="300"/>
              </a:spcAft>
              <a:buSzPct val="100000"/>
              <a:buChar char="•"/>
            </a:pPr>
            <a:r>
              <a:rPr lang="en-US" sz="850" dirty="0">
                <a:solidFill>
                  <a:srgbClr val="475569"/>
                </a:solidFill>
                <a:latin typeface="Calibri" pitchFamily="34" charset="0"/>
                <a:ea typeface="Calibri" pitchFamily="34" charset="-122"/>
                <a:cs typeface="Calibri" pitchFamily="34" charset="-120"/>
              </a:rPr>
              <a:t>Customer shipment status portal</a:t>
            </a:r>
            <a:endParaRPr lang="en-US" sz="850" dirty="0"/>
          </a:p>
          <a:p>
            <a:pPr marL="342900" indent="-342900">
              <a:spcAft>
                <a:spcPts val="300"/>
              </a:spcAft>
              <a:buSzPct val="100000"/>
              <a:buChar char="•"/>
            </a:pPr>
            <a:r>
              <a:rPr lang="en-US" sz="850" dirty="0">
                <a:solidFill>
                  <a:srgbClr val="475569"/>
                </a:solidFill>
                <a:latin typeface="Calibri" pitchFamily="34" charset="0"/>
                <a:ea typeface="Calibri" pitchFamily="34" charset="-122"/>
                <a:cs typeface="Calibri" pitchFamily="34" charset="-120"/>
              </a:rPr>
              <a:t>Management KPI dashboard (throughput, demurrage, OTIF)</a:t>
            </a:r>
            <a:endParaRPr lang="en-US" sz="850" dirty="0"/>
          </a:p>
          <a:p>
            <a:pPr marL="342900" indent="-342900">
              <a:spcAft>
                <a:spcPts val="300"/>
              </a:spcAft>
              <a:buSzPct val="100000"/>
              <a:buChar char="•"/>
            </a:pPr>
            <a:r>
              <a:rPr lang="en-US" sz="850" dirty="0">
                <a:solidFill>
                  <a:srgbClr val="475569"/>
                </a:solidFill>
                <a:latin typeface="Calibri" pitchFamily="34" charset="0"/>
                <a:ea typeface="Calibri" pitchFamily="34" charset="-122"/>
                <a:cs typeface="Calibri" pitchFamily="34" charset="-120"/>
              </a:rPr>
              <a:t>Alert escalation &amp; SLA tracking</a:t>
            </a:r>
            <a:endParaRPr lang="en-US" sz="850" dirty="0"/>
          </a:p>
        </p:txBody>
      </p:sp>
      <p:sp>
        <p:nvSpPr>
          <p:cNvPr id="21" name="Shape 19"/>
          <p:cNvSpPr/>
          <p:nvPr/>
        </p:nvSpPr>
        <p:spPr>
          <a:xfrm>
            <a:off x="256032" y="4462272"/>
            <a:ext cx="8631936" cy="384048"/>
          </a:xfrm>
          <a:prstGeom prst="rect">
            <a:avLst/>
          </a:prstGeom>
          <a:solidFill>
            <a:srgbClr val="E8EDF4"/>
          </a:solidFill>
          <a:ln/>
        </p:spPr>
      </p:sp>
      <p:sp>
        <p:nvSpPr>
          <p:cNvPr id="22" name="Shape 20"/>
          <p:cNvSpPr/>
          <p:nvPr/>
        </p:nvSpPr>
        <p:spPr>
          <a:xfrm>
            <a:off x="256032" y="4462272"/>
            <a:ext cx="1435608" cy="384048"/>
          </a:xfrm>
          <a:prstGeom prst="rect">
            <a:avLst/>
          </a:prstGeom>
          <a:solidFill>
            <a:srgbClr val="1A2B45"/>
          </a:solidFill>
          <a:ln/>
        </p:spPr>
      </p:sp>
      <p:sp>
        <p:nvSpPr>
          <p:cNvPr id="23" name="Text 21"/>
          <p:cNvSpPr/>
          <p:nvPr/>
        </p:nvSpPr>
        <p:spPr>
          <a:xfrm>
            <a:off x="256032" y="4462272"/>
            <a:ext cx="1435608" cy="38404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P1 Model</a:t>
            </a:r>
            <a:endParaRPr lang="en-US" sz="800" dirty="0"/>
          </a:p>
        </p:txBody>
      </p:sp>
      <p:sp>
        <p:nvSpPr>
          <p:cNvPr id="24" name="Shape 22"/>
          <p:cNvSpPr/>
          <p:nvPr/>
        </p:nvSpPr>
        <p:spPr>
          <a:xfrm>
            <a:off x="1700784" y="4462272"/>
            <a:ext cx="1435608" cy="384048"/>
          </a:xfrm>
          <a:prstGeom prst="rect">
            <a:avLst/>
          </a:prstGeom>
          <a:solidFill>
            <a:srgbClr val="2563EB"/>
          </a:solidFill>
          <a:ln/>
        </p:spPr>
      </p:sp>
      <p:sp>
        <p:nvSpPr>
          <p:cNvPr id="25" name="Text 23"/>
          <p:cNvSpPr/>
          <p:nvPr/>
        </p:nvSpPr>
        <p:spPr>
          <a:xfrm>
            <a:off x="1700784" y="4462272"/>
            <a:ext cx="1435608" cy="38404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P2 Simulate</a:t>
            </a:r>
            <a:endParaRPr lang="en-US" sz="800" dirty="0"/>
          </a:p>
        </p:txBody>
      </p:sp>
      <p:sp>
        <p:nvSpPr>
          <p:cNvPr id="26" name="Shape 24"/>
          <p:cNvSpPr/>
          <p:nvPr/>
        </p:nvSpPr>
        <p:spPr>
          <a:xfrm>
            <a:off x="3145536" y="4462272"/>
            <a:ext cx="1435608" cy="384048"/>
          </a:xfrm>
          <a:prstGeom prst="rect">
            <a:avLst/>
          </a:prstGeom>
          <a:solidFill>
            <a:srgbClr val="0D9488"/>
          </a:solidFill>
          <a:ln/>
        </p:spPr>
      </p:sp>
      <p:sp>
        <p:nvSpPr>
          <p:cNvPr id="27" name="Text 25"/>
          <p:cNvSpPr/>
          <p:nvPr/>
        </p:nvSpPr>
        <p:spPr>
          <a:xfrm>
            <a:off x="3145536" y="4462272"/>
            <a:ext cx="1435608" cy="38404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P3 Track</a:t>
            </a:r>
            <a:endParaRPr lang="en-US" sz="800" dirty="0"/>
          </a:p>
        </p:txBody>
      </p:sp>
      <p:sp>
        <p:nvSpPr>
          <p:cNvPr id="28" name="Shape 26"/>
          <p:cNvSpPr/>
          <p:nvPr/>
        </p:nvSpPr>
        <p:spPr>
          <a:xfrm>
            <a:off x="4590288" y="4462272"/>
            <a:ext cx="1435608" cy="384048"/>
          </a:xfrm>
          <a:prstGeom prst="rect">
            <a:avLst/>
          </a:prstGeom>
          <a:solidFill>
            <a:srgbClr val="6366F1"/>
          </a:solidFill>
          <a:ln/>
        </p:spPr>
      </p:sp>
      <p:sp>
        <p:nvSpPr>
          <p:cNvPr id="29" name="Text 27"/>
          <p:cNvSpPr/>
          <p:nvPr/>
        </p:nvSpPr>
        <p:spPr>
          <a:xfrm>
            <a:off x="4590288" y="4462272"/>
            <a:ext cx="1435608" cy="38404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P4 IoT</a:t>
            </a:r>
            <a:endParaRPr lang="en-US" sz="800" dirty="0"/>
          </a:p>
        </p:txBody>
      </p:sp>
      <p:sp>
        <p:nvSpPr>
          <p:cNvPr id="30" name="Shape 28"/>
          <p:cNvSpPr/>
          <p:nvPr/>
        </p:nvSpPr>
        <p:spPr>
          <a:xfrm>
            <a:off x="6035040" y="4462272"/>
            <a:ext cx="1435608" cy="384048"/>
          </a:xfrm>
          <a:prstGeom prst="rect">
            <a:avLst/>
          </a:prstGeom>
          <a:solidFill>
            <a:srgbClr val="7C3AED"/>
          </a:solidFill>
          <a:ln/>
        </p:spPr>
      </p:sp>
      <p:sp>
        <p:nvSpPr>
          <p:cNvPr id="31" name="Text 29"/>
          <p:cNvSpPr/>
          <p:nvPr/>
        </p:nvSpPr>
        <p:spPr>
          <a:xfrm>
            <a:off x="6035040" y="4462272"/>
            <a:ext cx="1435608" cy="38404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P5 Optimise</a:t>
            </a:r>
            <a:endParaRPr lang="en-US" sz="800" dirty="0"/>
          </a:p>
        </p:txBody>
      </p:sp>
      <p:sp>
        <p:nvSpPr>
          <p:cNvPr id="32" name="Shape 30"/>
          <p:cNvSpPr/>
          <p:nvPr/>
        </p:nvSpPr>
        <p:spPr>
          <a:xfrm>
            <a:off x="7479792" y="4462272"/>
            <a:ext cx="1435608" cy="384048"/>
          </a:xfrm>
          <a:prstGeom prst="rect">
            <a:avLst/>
          </a:prstGeom>
          <a:solidFill>
            <a:srgbClr val="0D9488"/>
          </a:solidFill>
          <a:ln/>
        </p:spPr>
      </p:sp>
      <p:sp>
        <p:nvSpPr>
          <p:cNvPr id="33" name="Text 31"/>
          <p:cNvSpPr/>
          <p:nvPr/>
        </p:nvSpPr>
        <p:spPr>
          <a:xfrm>
            <a:off x="7479792" y="4462272"/>
            <a:ext cx="1435608" cy="38404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P6 Tower</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2B45"/>
        </a:solidFill>
      </p:bgPr>
    </p:bg>
    <p:spTree>
      <p:nvGrpSpPr>
        <p:cNvPr id="1" name=""/>
        <p:cNvGrpSpPr/>
        <p:nvPr/>
      </p:nvGrpSpPr>
      <p:grpSpPr>
        <a:xfrm>
          <a:off x="0" y="0"/>
          <a:ext cx="0" cy="0"/>
          <a:chOff x="0" y="0"/>
          <a:chExt cx="0" cy="0"/>
        </a:xfrm>
      </p:grpSpPr>
      <p:sp>
        <p:nvSpPr>
          <p:cNvPr id="2" name="Text 0"/>
          <p:cNvSpPr/>
          <p:nvPr/>
        </p:nvSpPr>
        <p:spPr>
          <a:xfrm>
            <a:off x="457200" y="182880"/>
            <a:ext cx="8229600" cy="502920"/>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Open Questions — What We Still Need to Learn</a:t>
            </a:r>
            <a:endParaRPr lang="en-US" sz="2000" dirty="0"/>
          </a:p>
        </p:txBody>
      </p:sp>
      <p:sp>
        <p:nvSpPr>
          <p:cNvPr id="3" name="Text 1"/>
          <p:cNvSpPr/>
          <p:nvPr/>
        </p:nvSpPr>
        <p:spPr>
          <a:xfrm>
            <a:off x="457200" y="704088"/>
            <a:ext cx="6400800" cy="274320"/>
          </a:xfrm>
          <a:prstGeom prst="rect">
            <a:avLst/>
          </a:prstGeom>
          <a:noFill/>
          <a:ln/>
        </p:spPr>
        <p:txBody>
          <a:bodyPr wrap="square" lIns="0" tIns="0" rIns="0" bIns="0" rtlCol="0" anchor="ctr"/>
          <a:lstStyle/>
          <a:p>
            <a:pPr algn="l" indent="0" marL="0">
              <a:buNone/>
            </a:pPr>
            <a:r>
              <a:rPr lang="en-US" sz="1050" i="1" dirty="0">
                <a:solidFill>
                  <a:srgbClr val="94A3B8"/>
                </a:solidFill>
                <a:latin typeface="Calibri" pitchFamily="34" charset="0"/>
                <a:ea typeface="Calibri" pitchFamily="34" charset="-122"/>
                <a:cs typeface="Calibri" pitchFamily="34" charset="-120"/>
              </a:rPr>
              <a:t>Answers to these will sharpen every layer of the platform</a:t>
            </a:r>
            <a:endParaRPr lang="en-US" sz="1050" dirty="0"/>
          </a:p>
        </p:txBody>
      </p:sp>
      <p:sp>
        <p:nvSpPr>
          <p:cNvPr id="4" name="Shape 2"/>
          <p:cNvSpPr/>
          <p:nvPr/>
        </p:nvSpPr>
        <p:spPr>
          <a:xfrm>
            <a:off x="365760" y="1078992"/>
            <a:ext cx="4160520" cy="1234440"/>
          </a:xfrm>
          <a:prstGeom prst="rect">
            <a:avLst/>
          </a:prstGeom>
          <a:solidFill>
            <a:srgbClr val="FFFFFF">
              <a:alpha val="6000"/>
            </a:srgbClr>
          </a:solidFill>
          <a:ln w="6350">
            <a:solidFill>
              <a:srgbClr val="FFFFFF">
                <a:alpha val="30000"/>
              </a:srgbClr>
            </a:solidFill>
            <a:prstDash val="solid"/>
          </a:ln>
        </p:spPr>
      </p:sp>
      <p:sp>
        <p:nvSpPr>
          <p:cNvPr id="5" name="Shape 3"/>
          <p:cNvSpPr/>
          <p:nvPr/>
        </p:nvSpPr>
        <p:spPr>
          <a:xfrm>
            <a:off x="365760" y="1078992"/>
            <a:ext cx="45720" cy="1234440"/>
          </a:xfrm>
          <a:prstGeom prst="rect">
            <a:avLst/>
          </a:prstGeom>
          <a:solidFill>
            <a:srgbClr val="F59E0B"/>
          </a:solidFill>
          <a:ln/>
        </p:spPr>
      </p:sp>
      <p:sp>
        <p:nvSpPr>
          <p:cNvPr id="6" name="Text 4"/>
          <p:cNvSpPr/>
          <p:nvPr/>
        </p:nvSpPr>
        <p:spPr>
          <a:xfrm>
            <a:off x="493776" y="1133856"/>
            <a:ext cx="3977640" cy="201168"/>
          </a:xfrm>
          <a:prstGeom prst="rect">
            <a:avLst/>
          </a:prstGeom>
          <a:noFill/>
          <a:ln/>
        </p:spPr>
        <p:txBody>
          <a:bodyPr wrap="square" lIns="0" tIns="0" rIns="0" bIns="0" rtlCol="0" anchor="ctr"/>
          <a:lstStyle/>
          <a:p>
            <a:pPr indent="0" marL="0">
              <a:buNone/>
            </a:pPr>
            <a:r>
              <a:rPr lang="en-US" sz="750" b="1" spc="200" kern="0" dirty="0">
                <a:solidFill>
                  <a:srgbClr val="F59E0B"/>
                </a:solidFill>
                <a:latin typeface="Calibri" pitchFamily="34" charset="0"/>
                <a:ea typeface="Calibri" pitchFamily="34" charset="-122"/>
                <a:cs typeface="Calibri" pitchFamily="34" charset="-120"/>
              </a:rPr>
              <a:t>CARGO &amp; GRADE</a:t>
            </a:r>
            <a:endParaRPr lang="en-US" sz="750" dirty="0"/>
          </a:p>
        </p:txBody>
      </p:sp>
      <p:sp>
        <p:nvSpPr>
          <p:cNvPr id="7" name="Text 5"/>
          <p:cNvSpPr/>
          <p:nvPr/>
        </p:nvSpPr>
        <p:spPr>
          <a:xfrm>
            <a:off x="493776" y="1362456"/>
            <a:ext cx="3959352" cy="896112"/>
          </a:xfrm>
          <a:prstGeom prst="rect">
            <a:avLst/>
          </a:prstGeom>
          <a:noFill/>
          <a:ln/>
        </p:spPr>
        <p:txBody>
          <a:bodyPr wrap="square" lIns="0" tIns="0" rIns="0" bIns="0" rtlCol="0" anchor="ctr"/>
          <a:lstStyle/>
          <a:p>
            <a:pPr marL="342900" indent="-342900">
              <a:spcAft>
                <a:spcPts val="200"/>
              </a:spcAft>
              <a:buSzPct val="100000"/>
              <a:buChar char="•"/>
            </a:pPr>
            <a:r>
              <a:rPr lang="en-US" sz="800" dirty="0">
                <a:solidFill>
                  <a:srgbClr val="D1D5DB"/>
                </a:solidFill>
                <a:latin typeface="Calibri" pitchFamily="34" charset="0"/>
                <a:ea typeface="Calibri" pitchFamily="34" charset="-122"/>
                <a:cs typeface="Calibri" pitchFamily="34" charset="-120"/>
              </a:rPr>
              <a:t>What is the actual blending/substitution approval process if a planned grade is short?</a:t>
            </a:r>
            <a:endParaRPr lang="en-US" sz="800" dirty="0"/>
          </a:p>
          <a:p>
            <a:pPr marL="342900" indent="-342900">
              <a:spcAft>
                <a:spcPts val="200"/>
              </a:spcAft>
              <a:buSzPct val="100000"/>
              <a:buChar char="•"/>
            </a:pPr>
            <a:r>
              <a:rPr lang="en-US" sz="800" dirty="0">
                <a:solidFill>
                  <a:srgbClr val="D1D5DB"/>
                </a:solidFill>
                <a:latin typeface="Calibri" pitchFamily="34" charset="0"/>
                <a:ea typeface="Calibri" pitchFamily="34" charset="-122"/>
                <a:cs typeface="Calibri" pitchFamily="34" charset="-120"/>
              </a:rPr>
              <a:t>Are stockpile levels shared with ABL in real-time, or only at scheduling horizon?</a:t>
            </a:r>
            <a:endParaRPr lang="en-US" sz="800" dirty="0"/>
          </a:p>
          <a:p>
            <a:pPr marL="342900" indent="-342900">
              <a:spcAft>
                <a:spcPts val="200"/>
              </a:spcAft>
              <a:buSzPct val="100000"/>
              <a:buChar char="•"/>
            </a:pPr>
            <a:r>
              <a:rPr lang="en-US" sz="800" dirty="0">
                <a:solidFill>
                  <a:srgbClr val="D1D5DB"/>
                </a:solidFill>
                <a:latin typeface="Calibri" pitchFamily="34" charset="0"/>
                <a:ea typeface="Calibri" pitchFamily="34" charset="-122"/>
                <a:cs typeface="Calibri" pitchFamily="34" charset="-120"/>
              </a:rPr>
              <a:t>Which mines/CPPs can serve which jetties — is there a fixed routing or is it dynamic?</a:t>
            </a:r>
            <a:endParaRPr lang="en-US" sz="800" dirty="0"/>
          </a:p>
        </p:txBody>
      </p:sp>
      <p:sp>
        <p:nvSpPr>
          <p:cNvPr id="8" name="Shape 6"/>
          <p:cNvSpPr/>
          <p:nvPr/>
        </p:nvSpPr>
        <p:spPr>
          <a:xfrm>
            <a:off x="365760" y="2395728"/>
            <a:ext cx="4160520" cy="1234440"/>
          </a:xfrm>
          <a:prstGeom prst="rect">
            <a:avLst/>
          </a:prstGeom>
          <a:solidFill>
            <a:srgbClr val="FFFFFF">
              <a:alpha val="6000"/>
            </a:srgbClr>
          </a:solidFill>
          <a:ln w="6350">
            <a:solidFill>
              <a:srgbClr val="FFFFFF">
                <a:alpha val="30000"/>
              </a:srgbClr>
            </a:solidFill>
            <a:prstDash val="solid"/>
          </a:ln>
        </p:spPr>
      </p:sp>
      <p:sp>
        <p:nvSpPr>
          <p:cNvPr id="9" name="Shape 7"/>
          <p:cNvSpPr/>
          <p:nvPr/>
        </p:nvSpPr>
        <p:spPr>
          <a:xfrm>
            <a:off x="365760" y="2395728"/>
            <a:ext cx="45720" cy="1234440"/>
          </a:xfrm>
          <a:prstGeom prst="rect">
            <a:avLst/>
          </a:prstGeom>
          <a:solidFill>
            <a:srgbClr val="F59E0B"/>
          </a:solidFill>
          <a:ln/>
        </p:spPr>
      </p:sp>
      <p:sp>
        <p:nvSpPr>
          <p:cNvPr id="10" name="Text 8"/>
          <p:cNvSpPr/>
          <p:nvPr/>
        </p:nvSpPr>
        <p:spPr>
          <a:xfrm>
            <a:off x="493776" y="2450592"/>
            <a:ext cx="3977640" cy="201168"/>
          </a:xfrm>
          <a:prstGeom prst="rect">
            <a:avLst/>
          </a:prstGeom>
          <a:noFill/>
          <a:ln/>
        </p:spPr>
        <p:txBody>
          <a:bodyPr wrap="square" lIns="0" tIns="0" rIns="0" bIns="0" rtlCol="0" anchor="ctr"/>
          <a:lstStyle/>
          <a:p>
            <a:pPr indent="0" marL="0">
              <a:buNone/>
            </a:pPr>
            <a:r>
              <a:rPr lang="en-US" sz="750" b="1" spc="200" kern="0" dirty="0">
                <a:solidFill>
                  <a:srgbClr val="F59E0B"/>
                </a:solidFill>
                <a:latin typeface="Calibri" pitchFamily="34" charset="0"/>
                <a:ea typeface="Calibri" pitchFamily="34" charset="-122"/>
                <a:cs typeface="Calibri" pitchFamily="34" charset="-120"/>
              </a:rPr>
              <a:t>TIDE, RIVER &amp; NAVIGATION</a:t>
            </a:r>
            <a:endParaRPr lang="en-US" sz="750" dirty="0"/>
          </a:p>
        </p:txBody>
      </p:sp>
      <p:sp>
        <p:nvSpPr>
          <p:cNvPr id="11" name="Text 9"/>
          <p:cNvSpPr/>
          <p:nvPr/>
        </p:nvSpPr>
        <p:spPr>
          <a:xfrm>
            <a:off x="493776" y="2679192"/>
            <a:ext cx="3959352" cy="896112"/>
          </a:xfrm>
          <a:prstGeom prst="rect">
            <a:avLst/>
          </a:prstGeom>
          <a:noFill/>
          <a:ln/>
        </p:spPr>
        <p:txBody>
          <a:bodyPr wrap="square" lIns="0" tIns="0" rIns="0" bIns="0" rtlCol="0" anchor="ctr"/>
          <a:lstStyle/>
          <a:p>
            <a:pPr marL="342900" indent="-342900">
              <a:spcAft>
                <a:spcPts val="200"/>
              </a:spcAft>
              <a:buSzPct val="100000"/>
              <a:buChar char="•"/>
            </a:pPr>
            <a:r>
              <a:rPr lang="en-US" sz="800" dirty="0">
                <a:solidFill>
                  <a:srgbClr val="D1D5DB"/>
                </a:solidFill>
                <a:latin typeface="Calibri" pitchFamily="34" charset="0"/>
                <a:ea typeface="Calibri" pitchFamily="34" charset="-122"/>
                <a:cs typeface="Calibri" pitchFamily="34" charset="-120"/>
              </a:rPr>
              <a:t>What is the actual tidal window data source and how far ahead is it reliable?</a:t>
            </a:r>
            <a:endParaRPr lang="en-US" sz="800" dirty="0"/>
          </a:p>
          <a:p>
            <a:pPr marL="342900" indent="-342900">
              <a:spcAft>
                <a:spcPts val="200"/>
              </a:spcAft>
              <a:buSzPct val="100000"/>
              <a:buChar char="•"/>
            </a:pPr>
            <a:r>
              <a:rPr lang="en-US" sz="800" dirty="0">
                <a:solidFill>
                  <a:srgbClr val="D1D5DB"/>
                </a:solidFill>
                <a:latin typeface="Calibri" pitchFamily="34" charset="0"/>
                <a:ea typeface="Calibri" pitchFamily="34" charset="-122"/>
                <a:cs typeface="Calibri" pitchFamily="34" charset="-120"/>
              </a:rPr>
              <a:t>How many bridges have constrained windows, and which river segments are the critical choke points?</a:t>
            </a:r>
            <a:endParaRPr lang="en-US" sz="800" dirty="0"/>
          </a:p>
          <a:p>
            <a:pPr marL="342900" indent="-342900">
              <a:spcAft>
                <a:spcPts val="200"/>
              </a:spcAft>
              <a:buSzPct val="100000"/>
              <a:buChar char="•"/>
            </a:pPr>
            <a:r>
              <a:rPr lang="en-US" sz="800" dirty="0">
                <a:solidFill>
                  <a:srgbClr val="D1D5DB"/>
                </a:solidFill>
                <a:latin typeface="Calibri" pitchFamily="34" charset="0"/>
                <a:ea typeface="Calibri" pitchFamily="34" charset="-122"/>
                <a:cs typeface="Calibri" pitchFamily="34" charset="-120"/>
              </a:rPr>
              <a:t>Are there seasonal or weather-driven draft restrictions beyond the tidal cycle?</a:t>
            </a:r>
            <a:endParaRPr lang="en-US" sz="800" dirty="0"/>
          </a:p>
        </p:txBody>
      </p:sp>
      <p:sp>
        <p:nvSpPr>
          <p:cNvPr id="12" name="Shape 10"/>
          <p:cNvSpPr/>
          <p:nvPr/>
        </p:nvSpPr>
        <p:spPr>
          <a:xfrm>
            <a:off x="365760" y="3712464"/>
            <a:ext cx="4160520" cy="1234440"/>
          </a:xfrm>
          <a:prstGeom prst="rect">
            <a:avLst/>
          </a:prstGeom>
          <a:solidFill>
            <a:srgbClr val="FFFFFF">
              <a:alpha val="6000"/>
            </a:srgbClr>
          </a:solidFill>
          <a:ln w="6350">
            <a:solidFill>
              <a:srgbClr val="FFFFFF">
                <a:alpha val="30000"/>
              </a:srgbClr>
            </a:solidFill>
            <a:prstDash val="solid"/>
          </a:ln>
        </p:spPr>
      </p:sp>
      <p:sp>
        <p:nvSpPr>
          <p:cNvPr id="13" name="Shape 11"/>
          <p:cNvSpPr/>
          <p:nvPr/>
        </p:nvSpPr>
        <p:spPr>
          <a:xfrm>
            <a:off x="365760" y="3712464"/>
            <a:ext cx="45720" cy="1234440"/>
          </a:xfrm>
          <a:prstGeom prst="rect">
            <a:avLst/>
          </a:prstGeom>
          <a:solidFill>
            <a:srgbClr val="F59E0B"/>
          </a:solidFill>
          <a:ln/>
        </p:spPr>
      </p:sp>
      <p:sp>
        <p:nvSpPr>
          <p:cNvPr id="14" name="Text 12"/>
          <p:cNvSpPr/>
          <p:nvPr/>
        </p:nvSpPr>
        <p:spPr>
          <a:xfrm>
            <a:off x="493776" y="3767328"/>
            <a:ext cx="3977640" cy="201168"/>
          </a:xfrm>
          <a:prstGeom prst="rect">
            <a:avLst/>
          </a:prstGeom>
          <a:noFill/>
          <a:ln/>
        </p:spPr>
        <p:txBody>
          <a:bodyPr wrap="square" lIns="0" tIns="0" rIns="0" bIns="0" rtlCol="0" anchor="ctr"/>
          <a:lstStyle/>
          <a:p>
            <a:pPr indent="0" marL="0">
              <a:buNone/>
            </a:pPr>
            <a:r>
              <a:rPr lang="en-US" sz="750" b="1" spc="200" kern="0" dirty="0">
                <a:solidFill>
                  <a:srgbClr val="F59E0B"/>
                </a:solidFill>
                <a:latin typeface="Calibri" pitchFamily="34" charset="0"/>
                <a:ea typeface="Calibri" pitchFamily="34" charset="-122"/>
                <a:cs typeface="Calibri" pitchFamily="34" charset="-120"/>
              </a:rPr>
              <a:t>FLEET &amp; MAINTENANCE</a:t>
            </a:r>
            <a:endParaRPr lang="en-US" sz="750" dirty="0"/>
          </a:p>
        </p:txBody>
      </p:sp>
      <p:sp>
        <p:nvSpPr>
          <p:cNvPr id="15" name="Text 13"/>
          <p:cNvSpPr/>
          <p:nvPr/>
        </p:nvSpPr>
        <p:spPr>
          <a:xfrm>
            <a:off x="493776" y="3995928"/>
            <a:ext cx="3959352" cy="896112"/>
          </a:xfrm>
          <a:prstGeom prst="rect">
            <a:avLst/>
          </a:prstGeom>
          <a:noFill/>
          <a:ln/>
        </p:spPr>
        <p:txBody>
          <a:bodyPr wrap="square" lIns="0" tIns="0" rIns="0" bIns="0" rtlCol="0" anchor="ctr"/>
          <a:lstStyle/>
          <a:p>
            <a:pPr marL="342900" indent="-342900">
              <a:spcAft>
                <a:spcPts val="200"/>
              </a:spcAft>
              <a:buSzPct val="100000"/>
              <a:buChar char="•"/>
            </a:pPr>
            <a:r>
              <a:rPr lang="en-US" sz="800" dirty="0">
                <a:solidFill>
                  <a:srgbClr val="D1D5DB"/>
                </a:solidFill>
                <a:latin typeface="Calibri" pitchFamily="34" charset="0"/>
                <a:ea typeface="Calibri" pitchFamily="34" charset="-122"/>
                <a:cs typeface="Calibri" pitchFamily="34" charset="-120"/>
              </a:rPr>
              <a:t>What is the realistic cycle time (load→sail→transship→return) for each barge class?</a:t>
            </a:r>
            <a:endParaRPr lang="en-US" sz="800" dirty="0"/>
          </a:p>
          <a:p>
            <a:pPr marL="342900" indent="-342900">
              <a:spcAft>
                <a:spcPts val="200"/>
              </a:spcAft>
              <a:buSzPct val="100000"/>
              <a:buChar char="•"/>
            </a:pPr>
            <a:r>
              <a:rPr lang="en-US" sz="800" dirty="0">
                <a:solidFill>
                  <a:srgbClr val="D1D5DB"/>
                </a:solidFill>
                <a:latin typeface="Calibri" pitchFamily="34" charset="0"/>
                <a:ea typeface="Calibri" pitchFamily="34" charset="-122"/>
                <a:cs typeface="Calibri" pitchFamily="34" charset="-120"/>
              </a:rPr>
              <a:t>How is maintenance planned and communicated today — spreadsheet, paper, verbal?</a:t>
            </a:r>
            <a:endParaRPr lang="en-US" sz="800" dirty="0"/>
          </a:p>
          <a:p>
            <a:pPr marL="342900" indent="-342900">
              <a:spcAft>
                <a:spcPts val="200"/>
              </a:spcAft>
              <a:buSzPct val="100000"/>
              <a:buChar char="•"/>
            </a:pPr>
            <a:r>
              <a:rPr lang="en-US" sz="800" dirty="0">
                <a:solidFill>
                  <a:srgbClr val="D1D5DB"/>
                </a:solidFill>
                <a:latin typeface="Calibri" pitchFamily="34" charset="0"/>
                <a:ea typeface="Calibri" pitchFamily="34" charset="-122"/>
                <a:cs typeface="Calibri" pitchFamily="34" charset="-120"/>
              </a:rPr>
              <a:t>Is tug-barge pairing fixed or can tugs be swapped mid-assignment?</a:t>
            </a:r>
            <a:endParaRPr lang="en-US" sz="800" dirty="0"/>
          </a:p>
        </p:txBody>
      </p:sp>
      <p:sp>
        <p:nvSpPr>
          <p:cNvPr id="16" name="Shape 14"/>
          <p:cNvSpPr/>
          <p:nvPr/>
        </p:nvSpPr>
        <p:spPr>
          <a:xfrm>
            <a:off x="4846320" y="1078992"/>
            <a:ext cx="4160520" cy="1234440"/>
          </a:xfrm>
          <a:prstGeom prst="rect">
            <a:avLst/>
          </a:prstGeom>
          <a:solidFill>
            <a:srgbClr val="FFFFFF">
              <a:alpha val="6000"/>
            </a:srgbClr>
          </a:solidFill>
          <a:ln w="6350">
            <a:solidFill>
              <a:srgbClr val="FFFFFF">
                <a:alpha val="30000"/>
              </a:srgbClr>
            </a:solidFill>
            <a:prstDash val="solid"/>
          </a:ln>
        </p:spPr>
      </p:sp>
      <p:sp>
        <p:nvSpPr>
          <p:cNvPr id="17" name="Shape 15"/>
          <p:cNvSpPr/>
          <p:nvPr/>
        </p:nvSpPr>
        <p:spPr>
          <a:xfrm>
            <a:off x="4846320" y="1078992"/>
            <a:ext cx="45720" cy="1234440"/>
          </a:xfrm>
          <a:prstGeom prst="rect">
            <a:avLst/>
          </a:prstGeom>
          <a:solidFill>
            <a:srgbClr val="F59E0B"/>
          </a:solidFill>
          <a:ln/>
        </p:spPr>
      </p:sp>
      <p:sp>
        <p:nvSpPr>
          <p:cNvPr id="18" name="Text 16"/>
          <p:cNvSpPr/>
          <p:nvPr/>
        </p:nvSpPr>
        <p:spPr>
          <a:xfrm>
            <a:off x="4974336" y="1133856"/>
            <a:ext cx="3977640" cy="201168"/>
          </a:xfrm>
          <a:prstGeom prst="rect">
            <a:avLst/>
          </a:prstGeom>
          <a:noFill/>
          <a:ln/>
        </p:spPr>
        <p:txBody>
          <a:bodyPr wrap="square" lIns="0" tIns="0" rIns="0" bIns="0" rtlCol="0" anchor="ctr"/>
          <a:lstStyle/>
          <a:p>
            <a:pPr indent="0" marL="0">
              <a:buNone/>
            </a:pPr>
            <a:r>
              <a:rPr lang="en-US" sz="750" b="1" spc="200" kern="0" dirty="0">
                <a:solidFill>
                  <a:srgbClr val="F59E0B"/>
                </a:solidFill>
                <a:latin typeface="Calibri" pitchFamily="34" charset="0"/>
                <a:ea typeface="Calibri" pitchFamily="34" charset="-122"/>
                <a:cs typeface="Calibri" pitchFamily="34" charset="-120"/>
              </a:rPr>
              <a:t>CTS / TRANSSHIPMENT</a:t>
            </a:r>
            <a:endParaRPr lang="en-US" sz="750" dirty="0"/>
          </a:p>
        </p:txBody>
      </p:sp>
      <p:sp>
        <p:nvSpPr>
          <p:cNvPr id="19" name="Text 17"/>
          <p:cNvSpPr/>
          <p:nvPr/>
        </p:nvSpPr>
        <p:spPr>
          <a:xfrm>
            <a:off x="4974336" y="1362456"/>
            <a:ext cx="3959352" cy="896112"/>
          </a:xfrm>
          <a:prstGeom prst="rect">
            <a:avLst/>
          </a:prstGeom>
          <a:noFill/>
          <a:ln/>
        </p:spPr>
        <p:txBody>
          <a:bodyPr wrap="square" lIns="0" tIns="0" rIns="0" bIns="0" rtlCol="0" anchor="ctr"/>
          <a:lstStyle/>
          <a:p>
            <a:pPr marL="342900" indent="-342900">
              <a:spcAft>
                <a:spcPts val="200"/>
              </a:spcAft>
              <a:buSzPct val="100000"/>
              <a:buChar char="•"/>
            </a:pPr>
            <a:r>
              <a:rPr lang="en-US" sz="800" dirty="0">
                <a:solidFill>
                  <a:srgbClr val="D1D5DB"/>
                </a:solidFill>
                <a:latin typeface="Calibri" pitchFamily="34" charset="0"/>
                <a:ea typeface="Calibri" pitchFamily="34" charset="-122"/>
                <a:cs typeface="Calibri" pitchFamily="34" charset="-120"/>
              </a:rPr>
              <a:t>Does each CTS have a fixed OGV anchorage zone, or can assignments shift by demand?</a:t>
            </a:r>
            <a:endParaRPr lang="en-US" sz="800" dirty="0"/>
          </a:p>
          <a:p>
            <a:pPr marL="342900" indent="-342900">
              <a:spcAft>
                <a:spcPts val="200"/>
              </a:spcAft>
              <a:buSzPct val="100000"/>
              <a:buChar char="•"/>
            </a:pPr>
            <a:r>
              <a:rPr lang="en-US" sz="800" dirty="0">
                <a:solidFill>
                  <a:srgbClr val="D1D5DB"/>
                </a:solidFill>
                <a:latin typeface="Calibri" pitchFamily="34" charset="0"/>
                <a:ea typeface="Calibri" pitchFamily="34" charset="-122"/>
                <a:cs typeface="Calibri" pitchFamily="34" charset="-120"/>
              </a:rPr>
              <a:t>What triggers a metal-detection hold, and what is the typical resolution time?</a:t>
            </a:r>
            <a:endParaRPr lang="en-US" sz="800" dirty="0"/>
          </a:p>
          <a:p>
            <a:pPr marL="342900" indent="-342900">
              <a:spcAft>
                <a:spcPts val="200"/>
              </a:spcAft>
              <a:buSzPct val="100000"/>
              <a:buChar char="•"/>
            </a:pPr>
            <a:r>
              <a:rPr lang="en-US" sz="800" dirty="0">
                <a:solidFill>
                  <a:srgbClr val="D1D5DB"/>
                </a:solidFill>
                <a:latin typeface="Calibri" pitchFamily="34" charset="0"/>
                <a:ea typeface="Calibri" pitchFamily="34" charset="-122"/>
                <a:cs typeface="Calibri" pitchFamily="34" charset="-120"/>
              </a:rPr>
              <a:t>How is the barge queue managed at the CTS today — radio, WhatsApp, log sheet?</a:t>
            </a:r>
            <a:endParaRPr lang="en-US" sz="800" dirty="0"/>
          </a:p>
        </p:txBody>
      </p:sp>
      <p:sp>
        <p:nvSpPr>
          <p:cNvPr id="20" name="Shape 18"/>
          <p:cNvSpPr/>
          <p:nvPr/>
        </p:nvSpPr>
        <p:spPr>
          <a:xfrm>
            <a:off x="4846320" y="2395728"/>
            <a:ext cx="4160520" cy="1234440"/>
          </a:xfrm>
          <a:prstGeom prst="rect">
            <a:avLst/>
          </a:prstGeom>
          <a:solidFill>
            <a:srgbClr val="FFFFFF">
              <a:alpha val="6000"/>
            </a:srgbClr>
          </a:solidFill>
          <a:ln w="6350">
            <a:solidFill>
              <a:srgbClr val="FFFFFF">
                <a:alpha val="30000"/>
              </a:srgbClr>
            </a:solidFill>
            <a:prstDash val="solid"/>
          </a:ln>
        </p:spPr>
      </p:sp>
      <p:sp>
        <p:nvSpPr>
          <p:cNvPr id="21" name="Shape 19"/>
          <p:cNvSpPr/>
          <p:nvPr/>
        </p:nvSpPr>
        <p:spPr>
          <a:xfrm>
            <a:off x="4846320" y="2395728"/>
            <a:ext cx="45720" cy="1234440"/>
          </a:xfrm>
          <a:prstGeom prst="rect">
            <a:avLst/>
          </a:prstGeom>
          <a:solidFill>
            <a:srgbClr val="F59E0B"/>
          </a:solidFill>
          <a:ln/>
        </p:spPr>
      </p:sp>
      <p:sp>
        <p:nvSpPr>
          <p:cNvPr id="22" name="Text 20"/>
          <p:cNvSpPr/>
          <p:nvPr/>
        </p:nvSpPr>
        <p:spPr>
          <a:xfrm>
            <a:off x="4974336" y="2450592"/>
            <a:ext cx="3977640" cy="201168"/>
          </a:xfrm>
          <a:prstGeom prst="rect">
            <a:avLst/>
          </a:prstGeom>
          <a:noFill/>
          <a:ln/>
        </p:spPr>
        <p:txBody>
          <a:bodyPr wrap="square" lIns="0" tIns="0" rIns="0" bIns="0" rtlCol="0" anchor="ctr"/>
          <a:lstStyle/>
          <a:p>
            <a:pPr indent="0" marL="0">
              <a:buNone/>
            </a:pPr>
            <a:r>
              <a:rPr lang="en-US" sz="750" b="1" spc="200" kern="0" dirty="0">
                <a:solidFill>
                  <a:srgbClr val="F59E0B"/>
                </a:solidFill>
                <a:latin typeface="Calibri" pitchFamily="34" charset="0"/>
                <a:ea typeface="Calibri" pitchFamily="34" charset="-122"/>
                <a:cs typeface="Calibri" pitchFamily="34" charset="-120"/>
              </a:rPr>
              <a:t>INTEGRATION &amp; DATA</a:t>
            </a:r>
            <a:endParaRPr lang="en-US" sz="750" dirty="0"/>
          </a:p>
        </p:txBody>
      </p:sp>
      <p:sp>
        <p:nvSpPr>
          <p:cNvPr id="23" name="Text 21"/>
          <p:cNvSpPr/>
          <p:nvPr/>
        </p:nvSpPr>
        <p:spPr>
          <a:xfrm>
            <a:off x="4974336" y="2679192"/>
            <a:ext cx="3959352" cy="896112"/>
          </a:xfrm>
          <a:prstGeom prst="rect">
            <a:avLst/>
          </a:prstGeom>
          <a:noFill/>
          <a:ln/>
        </p:spPr>
        <p:txBody>
          <a:bodyPr wrap="square" lIns="0" tIns="0" rIns="0" bIns="0" rtlCol="0" anchor="ctr"/>
          <a:lstStyle/>
          <a:p>
            <a:pPr marL="342900" indent="-342900">
              <a:spcAft>
                <a:spcPts val="200"/>
              </a:spcAft>
              <a:buSzPct val="100000"/>
              <a:buChar char="•"/>
            </a:pPr>
            <a:r>
              <a:rPr lang="en-US" sz="800" dirty="0">
                <a:solidFill>
                  <a:srgbClr val="D1D5DB"/>
                </a:solidFill>
                <a:latin typeface="Calibri" pitchFamily="34" charset="0"/>
                <a:ea typeface="Calibri" pitchFamily="34" charset="-122"/>
                <a:cs typeface="Calibri" pitchFamily="34" charset="-120"/>
              </a:rPr>
              <a:t>What data does Spinergie already export — raw AIS, processed events, or both?</a:t>
            </a:r>
            <a:endParaRPr lang="en-US" sz="800" dirty="0"/>
          </a:p>
          <a:p>
            <a:pPr marL="342900" indent="-342900">
              <a:spcAft>
                <a:spcPts val="200"/>
              </a:spcAft>
              <a:buSzPct val="100000"/>
              <a:buChar char="•"/>
            </a:pPr>
            <a:r>
              <a:rPr lang="en-US" sz="800" dirty="0">
                <a:solidFill>
                  <a:srgbClr val="D1D5DB"/>
                </a:solidFill>
                <a:latin typeface="Calibri" pitchFamily="34" charset="0"/>
                <a:ea typeface="Calibri" pitchFamily="34" charset="-122"/>
                <a:cs typeface="Calibri" pitchFamily="34" charset="-120"/>
              </a:rPr>
              <a:t>Is there any existing ERP or TMS at Berau or ABL that could be a data source?</a:t>
            </a:r>
            <a:endParaRPr lang="en-US" sz="800" dirty="0"/>
          </a:p>
          <a:p>
            <a:pPr marL="342900" indent="-342900">
              <a:spcAft>
                <a:spcPts val="200"/>
              </a:spcAft>
              <a:buSzPct val="100000"/>
              <a:buChar char="•"/>
            </a:pPr>
            <a:r>
              <a:rPr lang="en-US" sz="800" dirty="0">
                <a:solidFill>
                  <a:srgbClr val="D1D5DB"/>
                </a:solidFill>
                <a:latin typeface="Calibri" pitchFamily="34" charset="0"/>
                <a:ea typeface="Calibri" pitchFamily="34" charset="-122"/>
                <a:cs typeface="Calibri" pitchFamily="34" charset="-120"/>
              </a:rPr>
              <a:t>Who owns the master data authority for vessel specs, jetty limits, and grade compatibility?</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Berau×ABL — Scheduling Simulation Platform</dc:title>
  <dc:subject>PptxGenJS Presentation</dc:subject>
  <dc:creator>PptxGenJS</dc:creator>
  <cp:lastModifiedBy>PptxGenJS</cp:lastModifiedBy>
  <cp:revision>1</cp:revision>
  <dcterms:created xsi:type="dcterms:W3CDTF">2026-05-17T07:45:57Z</dcterms:created>
  <dcterms:modified xsi:type="dcterms:W3CDTF">2026-05-17T07:45:57Z</dcterms:modified>
</cp:coreProperties>
</file>