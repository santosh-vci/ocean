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8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674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8288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3931920"/>
            <a:ext cx="9144000" cy="1371600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7315200" y="3657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DB6AC"/>
                </a:solidFill>
              </a:rPr>
              <a:t>ABL COAL TRANSSHIPMENT OPERATIONS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Live Tide Data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4DB6AC"/>
                </a:solidFill>
              </a:rPr>
              <a:t>as a Scheduling Constraint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65760" y="2788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C4DE"/>
                </a:solidFill>
              </a:rPr>
              <a:t>Using BMKG/BIG tide data to reduce grounding risk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0C4DE"/>
                </a:solidFill>
              </a:rPr>
              <a:t>and improve tug-barge flow in Indonesian operations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A99"/>
                </a:solidFill>
              </a:rPr>
              <a:t>East Kalimantan / Berau  ·  Indonesia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256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DB6AC"/>
                </a:solidFill>
              </a:rPr>
              <a:t>BUSINESS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C3A5E"/>
                </a:solidFill>
              </a:rPr>
              <a:t>01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228600" y="1325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Tide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Matters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65760" y="411480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0" y="411480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657600" y="41148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858768" y="484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Grounding Risk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58768" y="777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Loaded barges reach shallow river sections during low tide and get stuck or grounded.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0" y="1490472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657600" y="1490472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858768" y="1563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Lost Sailing Time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58768" y="1856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Unplanned mooring while waiting for tide to rise creates operational waste.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0" y="2569464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657600" y="2569464"/>
            <a:ext cx="9144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858768" y="26426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No System Visibility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858768" y="29352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Tug masters lack real-time visibility of upcoming tide conditions along the full route.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0" y="3648456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657600" y="3648456"/>
            <a:ext cx="914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858768" y="3721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Blame &amp; Confusion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858768" y="40142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Field teams, ABL, and planning teams cannot distinguish valid waiting from operational laziness.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0" y="4663440"/>
            <a:ext cx="52120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749040" y="46817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"The problem is not asset availability alone — the barge must arrive at each shallow segment at the right tide window."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DB6AC"/>
                </a:solidFill>
              </a:rPr>
              <a:t>BMKG TIDE DATA — WHAT IT SHOWS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DA3C8"/>
                </a:solidFill>
              </a:rPr>
              <a:t>Source: BMKG Maritime Tide Page  ·  Berau / East Kalimantan Station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5303520" cy="3200400"/>
          </a:xfrm>
          <a:prstGeom prst="rect">
            <a:avLst/>
          </a:prstGeom>
          <a:solidFill>
            <a:srgbClr val="061830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DB6AC"/>
                </a:solidFill>
              </a:rPr>
              <a:t>Tide Height Forecast — 28 May 2026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7200" y="370332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7200" y="429768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57200" y="4023360"/>
            <a:ext cx="45720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914400" y="3200400"/>
            <a:ext cx="45720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1371600" y="2468880"/>
            <a:ext cx="45720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1828800" y="2103120"/>
            <a:ext cx="457200" cy="18288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286000" y="2286000"/>
            <a:ext cx="457200" cy="45720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2743200" y="2743200"/>
            <a:ext cx="457200" cy="45720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200400" y="3200400"/>
            <a:ext cx="457200" cy="27432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657600" y="3474720"/>
            <a:ext cx="45720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114800" y="3108960"/>
            <a:ext cx="45720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572000" y="2560320"/>
            <a:ext cx="45720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029200" y="2103120"/>
            <a:ext cx="27432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1709928" y="1965960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1792224" y="2130552"/>
            <a:ext cx="0" cy="457200"/>
          </a:xfrm>
          <a:prstGeom prst="line">
            <a:avLst/>
          </a:prstGeom>
          <a:noFill/>
          <a:ln w="12700">
            <a:solidFill>
              <a:srgbClr val="F0B42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137160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B429"/>
                </a:solidFill>
              </a:rPr>
              <a:t>03:00 UTC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0B429"/>
                </a:solidFill>
              </a:rPr>
              <a:t>Highlighted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11480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A3C8"/>
                </a:solidFill>
              </a:rPr>
              <a:t>00:00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216152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A3C8"/>
                </a:solidFill>
              </a:rPr>
              <a:t>04:00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020824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A3C8"/>
                </a:solidFill>
              </a:rPr>
              <a:t>08:00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2825496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A3C8"/>
                </a:solidFill>
              </a:rPr>
              <a:t>12:00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630168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A3C8"/>
                </a:solidFill>
              </a:rPr>
              <a:t>16:00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434840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DA3C8"/>
                </a:solidFill>
              </a:rPr>
              <a:t>20:00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5720" y="18288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DA3C8"/>
                </a:solidFill>
              </a:rPr>
              <a:t>+2.0m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" y="2395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DA3C8"/>
                </a:solidFill>
              </a:rPr>
              <a:t>+1.5m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5720" y="29626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DA3C8"/>
                </a:solidFill>
              </a:rPr>
              <a:t>+1.0m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5720" y="35295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DA3C8"/>
                </a:solidFill>
              </a:rPr>
              <a:t>+0.5m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5720" y="40965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DA3C8"/>
                </a:solidFill>
              </a:rPr>
              <a:t>0.0m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457200" y="3108960"/>
            <a:ext cx="49377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5166360" y="3044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C7293"/>
                </a:solidFill>
              </a:rPr>
              <a:t>MSL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457200" y="3657600"/>
            <a:ext cx="49377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166360" y="3593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</a:rPr>
              <a:t>LAT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852160" y="1417320"/>
            <a:ext cx="3017520" cy="3200400"/>
          </a:xfrm>
          <a:prstGeom prst="rect">
            <a:avLst/>
          </a:prstGeom>
          <a:solidFill>
            <a:srgbClr val="061830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5943600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DB6AC"/>
                </a:solidFill>
              </a:rPr>
              <a:t>DATA POINT — 28 MAY 2026, 03:00 UTC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5943600" y="1847088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594360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Station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150608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Berau, East Kalimantan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943600" y="2295144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5943600" y="2350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Date / Time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150608" y="2350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28-05-2026  03:00 UTC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943600" y="2743200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5943600" y="2798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Timezone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150608" y="27980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UTC → WITA (+8)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943600" y="3191256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594360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Datum Options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150608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MSL  /  LAT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5943600" y="3639312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594360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MSL Reading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150608" y="36941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C7293"/>
                </a:solidFill>
              </a:rPr>
              <a:t>-0.97 m (below MSL)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943600" y="4087368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5943600" y="4142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LAT Reading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150608" y="4142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9E0B"/>
                </a:solidFill>
              </a:rPr>
              <a:t>+0.80 m (above LAT)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594360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0B429"/>
                </a:solidFill>
              </a:rPr>
              <a:t>These are the SAME water level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F0B429"/>
                </a:solidFill>
              </a:rPr>
              <a:t>measured against TWO different baselines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7A9B"/>
                </a:solidFill>
              </a:rPr>
              <a:t>WITA (Local) = UTC + 8 hours  ·  Always verify timezone before dispatch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C3A5E"/>
                </a:solidFill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28600" y="868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MSL vs LAT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DB6AC"/>
                </a:solidFill>
              </a:rPr>
              <a:t>Two baselines,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DB6AC"/>
                </a:solidFill>
              </a:rPr>
              <a:t>one water level.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20040" cy="2560320"/>
          </a:xfrm>
          <a:prstGeom prst="rect">
            <a:avLst/>
          </a:prstGeom>
          <a:solidFill>
            <a:srgbClr val="0D2D4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" y="420624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77240" y="452628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484632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59436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8680" y="3090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B6AC"/>
                </a:solidFill>
              </a:rPr>
              <a:t>Current Water Level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694176"/>
            <a:ext cx="5943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3602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C7293"/>
                </a:solidFill>
              </a:rPr>
              <a:t>Mean Sea Level (MSL)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3182112"/>
            <a:ext cx="0" cy="512064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" y="33467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7293"/>
                </a:solidFill>
              </a:rPr>
              <a:t>-0.97 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4539082"/>
            <a:ext cx="5943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444764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Lowest Astro. Tide (LAT)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3182112"/>
            <a:ext cx="0" cy="135697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" y="3769157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+0.80 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3694176"/>
            <a:ext cx="0" cy="844906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0" y="3933749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B429"/>
                </a:solidFill>
              </a:rPr>
              <a:t>1.77 m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0B429"/>
                </a:solidFill>
              </a:rPr>
              <a:t>gap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20440" y="41148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520440" y="411480"/>
            <a:ext cx="9144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730752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MSL — Mean Sea Level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30752" y="85039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 sea level used as a general reference. A reading of -0.97 m MSL means the water surface is 0.97 m below the average sea level baseline.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20440" y="182880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520440" y="1828800"/>
            <a:ext cx="914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730752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LAT — Lowest Astronomical Tide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30752" y="226771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The lowest predicted tide under average meteorological conditions. A reading of +0.80 m LAT means the water is 0.80 m above this lowest reference.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20440" y="324612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520440" y="3246120"/>
            <a:ext cx="91440" cy="12801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730752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Why the difference?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30752" y="368503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At this station, MSL sits ~1.77 m above LAT. Mixing the two datums in navigation calculations produces a 1.77 m error — large enough to cause grounding.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520440" y="4663440"/>
            <a:ext cx="53492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657600" y="4690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</a:rPr>
              <a:t>⚠  Navigation clearance must use one consistent datum. Never mix MSL and LAT in the same calculation.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DB6AC"/>
                </a:solidFill>
              </a:rPr>
              <a:t>CLEARANCE CALCULATION — CAN THE BARGE PASS?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474720"/>
          </a:xfrm>
          <a:prstGeom prst="rect">
            <a:avLst/>
          </a:prstGeom>
          <a:solidFill>
            <a:srgbClr val="061C35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4114800"/>
            <a:ext cx="4023360" cy="457200"/>
          </a:xfrm>
          <a:prstGeom prst="rect">
            <a:avLst/>
          </a:prstGeom>
          <a:solidFill>
            <a:srgbClr val="3D2B1F"/>
          </a:solidFill>
          <a:ln w="635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D6E63"/>
                </a:solidFill>
              </a:rPr>
              <a:t>R I V E R B E 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02336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DB6AC"/>
                </a:solidFill>
              </a:rPr>
              <a:t>Water Surface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05840" y="1645920"/>
            <a:ext cx="23774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24128" y="1719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LOADED BARGE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97280" y="2057400"/>
            <a:ext cx="2194560" cy="457200"/>
          </a:xfrm>
          <a:prstGeom prst="rect">
            <a:avLst/>
          </a:prstGeom>
          <a:solidFill>
            <a:srgbClr val="0A3A6E">
              <a:alpha val="7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0080" y="1828800"/>
            <a:ext cx="0" cy="8686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Draft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3.20 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0" y="2514600"/>
            <a:ext cx="0" cy="160020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66160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Safety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Clearance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0.50 m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1828800"/>
            <a:ext cx="0" cy="228600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" y="24688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C7293"/>
                </a:solidFill>
              </a:rPr>
              <a:t>Charted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C7293"/>
                </a:solidFill>
              </a:rPr>
              <a:t>Depth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C7293"/>
                </a:solidFill>
              </a:rPr>
              <a:t>3.0 m (LAT)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59E0B"/>
                </a:solidFill>
              </a:rPr>
              <a:t>Tide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59E0B"/>
                </a:solidFill>
              </a:rPr>
              <a:t>+0.80m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59E0B"/>
                </a:solidFill>
              </a:rPr>
              <a:t>(LAT)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480560" y="1097280"/>
            <a:ext cx="4389120" cy="1051560"/>
          </a:xfrm>
          <a:prstGeom prst="rect">
            <a:avLst/>
          </a:prstGeom>
          <a:solidFill>
            <a:srgbClr val="065A82"/>
          </a:solidFill>
          <a:ln w="635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1772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B6AC"/>
                </a:solidFill>
              </a:rPr>
              <a:t>Formula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14996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Available Depth = Charted Depth (LAT) + Tide Height (LAT)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3.0 m + 0.80 m  =  3.80 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2286000"/>
            <a:ext cx="4389120" cy="1051560"/>
          </a:xfrm>
          <a:prstGeom prst="rect">
            <a:avLst/>
          </a:prstGeom>
          <a:solidFill>
            <a:srgbClr val="1A3A5E"/>
          </a:solidFill>
          <a:ln w="635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1772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B6AC"/>
                </a:solidFill>
              </a:rPr>
              <a:t>Required Depth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6883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 = Loaded Draft + Under-Keel Clearance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3.20 m + 0.50 m  =  3.70 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3474720"/>
            <a:ext cx="4389120" cy="1051560"/>
          </a:xfrm>
          <a:prstGeom prst="rect">
            <a:avLst/>
          </a:prstGeom>
          <a:solidFill>
            <a:srgbClr val="0D4A2E"/>
          </a:solidFill>
          <a:ln w="6350">
            <a:solidFill>
              <a:srgbClr val="1E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1772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B6AC"/>
                </a:solidFill>
              </a:rPr>
              <a:t>Result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8770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Margin = 3.80 – 3.70 = 0.10 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Technically passable, but operationally TIGHT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4663440"/>
            <a:ext cx="43891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0" y="4690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⚠  AMBER — Proceed with caution / Marine approval required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7A9B"/>
                </a:solidFill>
              </a:rPr>
              <a:t>Datum consistency is mandatory: Charted Depth (LAT) + Tide Height (LAT) — never mix with MSL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DB6AC"/>
                </a:solidFill>
              </a:rPr>
              <a:t>OPERATIONAL DECISION MATRIX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51960" cy="16002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5196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GREEN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EEE"/>
                </a:solidFill>
              </a:rPr>
              <a:t>SAFE CLEARANCE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Release / Proceed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Available depth exceeds loaded draft plus safety clearance. Proceed with normal operations.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51960" cy="1600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2519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0060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AMBER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EEE"/>
                </a:solidFill>
              </a:rPr>
              <a:t>BORDERLINE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</a:rPr>
              <a:t>Proceed with Marine Approval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97510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Available depth is within acceptable range but margin is tight. Marine officer approval required before release.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251960" cy="160020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2519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EEE"/>
                </a:solidFill>
              </a:rPr>
              <a:t>INSUFFICIENT CLEARANCE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447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</a:rPr>
              <a:t>DO NOT Release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7581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Available depth is below minimum required. Barge must not proceed. Hold at current location until window opens.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971800"/>
            <a:ext cx="4251960" cy="1600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4251960" cy="3840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0060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EEEE"/>
                </a:solidFill>
              </a:rPr>
              <a:t>WAIT RECOMMENDED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447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</a:rPr>
              <a:t>Hold &amp; Delay Release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7581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Releasing now results in RED arrival. Waiting ensures the barge reaches the shallow segment during a safe window, improving overall flow.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736592"/>
            <a:ext cx="8595360" cy="3017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DB6AC"/>
                </a:solidFill>
              </a:rPr>
              <a:t>Key insight: Waiting is sometimes the operationally correct decision — the system must make this explainable and defensible.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DB6AC"/>
                </a:solidFill>
              </a:rPr>
              <a:t>SCHEDULING ENGINE LOGIC — MULTI-CONSTRAINT EVALUATION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Trip Proposal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350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B6AC"/>
                </a:solidFill>
              </a:rPr>
              <a:t>Tug + Barge assigned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1581912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7007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ETA Calculation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B6AC"/>
                </a:solidFill>
              </a:rPr>
              <a:t>Departure → Jetty → Shallow Segment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2167128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249424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Tide Lookup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054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B6AC"/>
                </a:solidFill>
              </a:rPr>
              <a:t>BMKG data at ETA timestamp (LAT)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0" y="2752344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Clearance Check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090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B6AC"/>
                </a:solidFill>
              </a:rPr>
              <a:t>Available depth vs Draft + Safety margin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68880" y="3337560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3456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Bridge Window Check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6758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DB6AC"/>
                </a:solidFill>
              </a:rPr>
              <a:t>Arrival vs permitted bridge crossing time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68880" y="3922776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411480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4041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Joint Decision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2611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3000"/>
                </a:solidFill>
              </a:rPr>
              <a:t>GREEN / AMBER / RED / WAIT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1097280"/>
            <a:ext cx="4023360" cy="3200400"/>
          </a:xfrm>
          <a:prstGeom prst="rect">
            <a:avLst/>
          </a:prstGeom>
          <a:solidFill>
            <a:srgbClr val="061830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83480" y="12070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DB6AC"/>
                </a:solidFill>
              </a:rPr>
              <a:t>ALSO EVALUATED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83480" y="150876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8348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OGV laycan &amp; vessel arrival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182880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83480" y="1856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Jetty &amp; production readiness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214884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8348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Coal grade / cargo combination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83480" y="246888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83480" y="2496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Weather &amp; marine conditions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278892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83480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Maintenance / breakdown risk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310896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8348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Tug-barge availability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8348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DB6AC"/>
                </a:solidFill>
              </a:rPr>
              <a:t>All factors evaluated jointly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4DB6AC"/>
                </a:solidFill>
              </a:rPr>
              <a:t>before every trip recommendation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645152"/>
            <a:ext cx="8412480" cy="384048"/>
          </a:xfrm>
          <a:prstGeom prst="rect">
            <a:avLst/>
          </a:prstGeom>
          <a:solidFill>
            <a:srgbClr val="0D4A2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0080" y="4681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Output: Explainable release / hold / wait recommendation with reason and alternative timing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DB6AC"/>
                </a:solidFill>
              </a:rPr>
              <a:t>SYSTEM RECOMMENDATION — EXAMPLE SCENARIO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749040" cy="3794760"/>
          </a:xfrm>
          <a:prstGeom prst="rect">
            <a:avLst/>
          </a:prstGeom>
          <a:solidFill>
            <a:srgbClr val="0A2342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DB6AC"/>
                </a:solidFill>
              </a:rPr>
              <a:t>SCENARIO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 loaded barge is ready to depart now.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If released immediately: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D4E8"/>
                </a:solidFill>
              </a:rPr>
              <a:t>→  ETA at Segment B = 03:00 UTC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D4E8"/>
                </a:solidFill>
              </a:rPr>
              <a:t>→  Tide at that time = +0.80 m LAT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D4E8"/>
                </a:solidFill>
              </a:rPr>
              <a:t>→  Required minimum = +1.10 m LAT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118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D4E8"/>
                </a:solidFill>
              </a:rPr>
              <a:t>→  Clearance shortfall = -0.30 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410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→  Grounding risk = HIGH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383280" cy="1005840"/>
          </a:xfrm>
          <a:prstGeom prst="rect">
            <a:avLst/>
          </a:prstGeom>
          <a:solidFill>
            <a:srgbClr val="3D0C00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WITHOUT the system: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087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AAA"/>
                </a:solidFill>
              </a:rPr>
              <a:t>Master departs, reaches Segment B at low tide, gets grounded. Waiting cause is unclear. Blame follows.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51960" y="1143000"/>
            <a:ext cx="4617720" cy="3794760"/>
          </a:xfrm>
          <a:prstGeom prst="rect">
            <a:avLst/>
          </a:prstGeom>
          <a:solidFill>
            <a:srgbClr val="F8FCFF"/>
          </a:solidFill>
          <a:ln w="12700">
            <a:solidFill>
              <a:srgbClr val="B8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251960" y="1143000"/>
            <a:ext cx="46177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18872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709160" y="1216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TRIP STATUS: HOLD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89120" y="1737360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389120" y="1792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Trip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7568" y="1792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Tug Barge 12 → Jetty F → OGV MV Berau Star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389120" y="2139696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38912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Loaded Draft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687568" y="2194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3.20 m  /  Required depth: 3.70 m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389120" y="2542032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389120" y="25968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ETA Segment B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687568" y="2596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28 May 2026  ·  03:00 UTC  (11:00 WITA)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389120" y="2944368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38912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Tide at ETA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87568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+0.80 m LAT  —  Below minimum (+1.10 m)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389120" y="3346704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389120" y="3401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Clearance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687568" y="3401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3.80 m available vs 3.70 m required → 0.10 m only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389120" y="3813048"/>
            <a:ext cx="4343400" cy="502920"/>
          </a:xfrm>
          <a:prstGeom prst="rect">
            <a:avLst/>
          </a:prstGeom>
          <a:solidFill>
            <a:srgbClr val="E8F8E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886200"/>
            <a:ext cx="320040" cy="32004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846320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</a:rPr>
              <a:t>Recommended Release: 05:15 UTC  /  13:15 WITA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846320" y="4059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6534"/>
                </a:solidFill>
              </a:rPr>
              <a:t>Tide at revised ETA = +1.25 m LAT  ·  Clearance = 0.55 m  ·  Status: GREEN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251960" y="4681728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The 2-hour wait converts a RED grounding risk into a GREEN safe passage.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DB6AC"/>
                </a:solidFill>
              </a:rPr>
              <a:t>SYSTEM DATA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612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1338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</a:rPr>
              <a:t>BMKG / BIG Tide 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54480" y="131673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Official forecast — baseline planning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611880" y="153619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97280" y="164592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7099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6824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</a:rPr>
              <a:t>Tide Adapter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554480" y="18653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Normalise timezone · datum · format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611880" y="208483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097280" y="219456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2585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2311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</a:rPr>
              <a:t>Normalised Tide Series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554480" y="241401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station_id · timestamp_utc · datum · tide_height_m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611880" y="263347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097280" y="2743200"/>
            <a:ext cx="5029200" cy="438912"/>
          </a:xfrm>
          <a:prstGeom prst="rect">
            <a:avLst/>
          </a:prstGeom>
          <a:solidFill>
            <a:srgbClr val="1A3400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28072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27797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</a:rPr>
              <a:t>Route Calibration Layer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554480" y="296265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Map each route segment to relevant station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3611880" y="318211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1097280" y="329184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335584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33284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B6AC"/>
                </a:solidFill>
              </a:rPr>
              <a:t>Safe Movement Windows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554480" y="35112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GREEN / AMBER / RED per segment per hour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3611880" y="373075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1097280" y="384048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0448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554480" y="3877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Scheduling Engine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554480" y="405993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Joint constraint evaluation → release / hold / wait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3611880" y="427939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1097280" y="438912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45312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54480" y="44256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Dispatcher Dashboard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554480" y="46085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A3C8"/>
                </a:solidFill>
              </a:rPr>
              <a:t>Explainable recommendations · overrides · audit trail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6400800" y="1371600"/>
            <a:ext cx="2468880" cy="502920"/>
          </a:xfrm>
          <a:prstGeom prst="rect">
            <a:avLst/>
          </a:prstGeom>
          <a:solidFill>
            <a:srgbClr val="0A2040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/>
          <p:nvPr/>
        </p:nvSpPr>
        <p:spPr>
          <a:xfrm>
            <a:off x="6492240" y="1435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DA3C8"/>
                </a:solidFill>
              </a:rPr>
              <a:t>Observed/local data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7DA3C8"/>
                </a:solidFill>
              </a:rPr>
              <a:t>corrects forecasts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6126480" y="1627632"/>
            <a:ext cx="274320" cy="0"/>
          </a:xfrm>
          <a:prstGeom prst="line">
            <a:avLst/>
          </a:prstGeom>
          <a:noFill/>
          <a:ln w="10160">
            <a:solidFill>
              <a:srgbClr val="2A4A6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6400800" y="3474720"/>
            <a:ext cx="2468880" cy="502920"/>
          </a:xfrm>
          <a:prstGeom prst="rect">
            <a:avLst/>
          </a:prstGeom>
          <a:solidFill>
            <a:srgbClr val="0A2040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/>
          <p:nvPr/>
        </p:nvSpPr>
        <p:spPr>
          <a:xfrm>
            <a:off x="6492240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DA3C8"/>
                </a:solidFill>
              </a:rPr>
              <a:t>Route-specific calibration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7DA3C8"/>
                </a:solidFill>
              </a:rPr>
              <a:t>using AIS/GPS history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6126480" y="3730752"/>
            <a:ext cx="274320" cy="0"/>
          </a:xfrm>
          <a:prstGeom prst="line">
            <a:avLst/>
          </a:prstGeom>
          <a:noFill/>
          <a:ln w="10160">
            <a:solidFill>
              <a:srgbClr val="2A4A6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6"/>
          <p:cNvSpPr/>
          <p:nvPr/>
        </p:nvSpPr>
        <p:spPr>
          <a:xfrm>
            <a:off x="6400800" y="4663440"/>
            <a:ext cx="2468880" cy="502920"/>
          </a:xfrm>
          <a:prstGeom prst="rect">
            <a:avLst/>
          </a:prstGeom>
          <a:solidFill>
            <a:srgbClr val="0A2040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7"/>
          <p:cNvSpPr/>
          <p:nvPr/>
        </p:nvSpPr>
        <p:spPr>
          <a:xfrm>
            <a:off x="6492240" y="4727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DA3C8"/>
                </a:solidFill>
              </a:rPr>
              <a:t>Marine override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7DA3C8"/>
                </a:solidFill>
              </a:rPr>
              <a:t>always possible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6126480" y="4919472"/>
            <a:ext cx="274320" cy="0"/>
          </a:xfrm>
          <a:prstGeom prst="line">
            <a:avLst/>
          </a:prstGeom>
          <a:noFill/>
          <a:ln w="10160">
            <a:solidFill>
              <a:srgbClr val="2A4A6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DB6AC"/>
                </a:solidFill>
              </a:rPr>
              <a:t>IMPLEMENTATION ROADMAP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</a:rPr>
              <a:t>Manual Ingestion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Manual tide upload / BMKG download ingestion. Initial data pipeline setup.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13716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04488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</a:rPr>
              <a:t>Station &amp; Route Mapping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9385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9184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Tide station master. Map each route segment to relevant stations.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72200" y="1325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72200" y="13716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84848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</a:rPr>
              <a:t>Window Generation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19385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7220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Daily/intraday tide window calculation with GREEN / AMBER / RED classification.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32004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</a:rPr>
              <a:t>Scheduling Integration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7673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Clearance checks in scheduling engine. Explainable hold / release decisions.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5468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91840" y="31546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91840" y="32004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04488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</a:rPr>
              <a:t>AIS / GPS Validation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91840" y="37673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9184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Compare actual barge position vs predicted. Calibrate forecasts vs actuals.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72200" y="315468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172200" y="32004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</a:rPr>
              <a:t>Predictive Calibration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37673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17220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Route-specific calibration using historical grounding/waiting events. ML-ready.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74320" y="4754880"/>
            <a:ext cx="1417320" cy="2286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709928" y="4754880"/>
            <a:ext cx="1417320" cy="2286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145536" y="4754880"/>
            <a:ext cx="1417320" cy="2286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81144" y="4754880"/>
            <a:ext cx="1417320" cy="228600"/>
          </a:xfrm>
          <a:prstGeom prst="rect">
            <a:avLst/>
          </a:prstGeom>
          <a:solidFill>
            <a:srgbClr val="F0B429">
              <a:alpha val="60000"/>
            </a:srgbClr>
          </a:solidFill>
          <a:ln w="12700">
            <a:solidFill>
              <a:srgbClr val="F0B42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016752" y="4754880"/>
            <a:ext cx="1417320" cy="22860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452360" y="4754880"/>
            <a:ext cx="1417320" cy="22860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74320" y="499262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Phase 1 – 3: Foundation  ·  Phase 4: Operational  ·  Phase 5 – 6: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210312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C3A5E"/>
                </a:solidFill>
              </a:rPr>
              <a:t>10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DB6AC"/>
                </a:solidFill>
              </a:rPr>
              <a:t>KEY TAKEAWAYS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data to safe passage.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84048" y="16002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508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CF0"/>
                </a:solidFill>
              </a:rPr>
              <a:t>Tide data is a hard scheduling constraint — not background information.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818888" y="16002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508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CF0"/>
                </a:solidFill>
              </a:rPr>
              <a:t>MSL and LAT are different baselines for the same water level. Never mix them.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242316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384048" y="2606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5146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CF0"/>
                </a:solidFill>
              </a:rPr>
              <a:t>The right question: will the barge clear the shallow segment at its ETA?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709160" y="242316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4818888" y="26060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7800" y="25146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CF0"/>
                </a:solidFill>
              </a:rPr>
              <a:t>Waiting is often the correct decision. The system makes it explainable and defensible.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274320" y="342900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384048" y="361188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CF0"/>
                </a:solidFill>
              </a:rPr>
              <a:t>ABL starts with BMKG/BIG data, then calibrates using AIS/GPS and historical events.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709160" y="342900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4818888" y="3611880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780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CF0"/>
                </a:solidFill>
              </a:rPr>
              <a:t>Goal: reduce grounding risk, reduce waiting waste, improve utilisation without risking OGV commitments.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DB6AC"/>
                </a:solidFill>
              </a:rPr>
              <a:t>"The scheduling system should ask not whether a tug and barge are free — but whether the movement will remain feasible across the entire route."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1322</Words>
  <Application>Microsoft Office PowerPoint</Application>
  <PresentationFormat>On-screen Show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Tide Data for Tug-Barge Scheduling</dc:title>
  <dc:subject>PptxGenJS Presentation</dc:subject>
  <dc:creator>PptxGenJS</dc:creator>
  <cp:lastModifiedBy>Santosh Thapa</cp:lastModifiedBy>
  <cp:revision>2</cp:revision>
  <dcterms:created xsi:type="dcterms:W3CDTF">2026-05-28T09:33:12Z</dcterms:created>
  <dcterms:modified xsi:type="dcterms:W3CDTF">2026-05-28T10:22:06Z</dcterms:modified>
</cp:coreProperties>
</file>