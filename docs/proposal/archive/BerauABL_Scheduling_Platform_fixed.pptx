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4" r:id="rId4"/>
    <p:sldId id="258" r:id="rId5"/>
    <p:sldId id="259" r:id="rId6"/>
    <p:sldId id="260" r:id="rId7"/>
    <p:sldId id="261" r:id="rId8"/>
    <p:sldId id="262" r:id="rId9"/>
    <p:sldId id="263" r:id="rId1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9F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023" autoAdjust="0"/>
  </p:normalViewPr>
  <p:slideViewPr>
    <p:cSldViewPr snapToGrid="0" snapToObjects="1">
      <p:cViewPr varScale="1">
        <p:scale>
          <a:sx n="116" d="100"/>
          <a:sy n="116" d="100"/>
        </p:scale>
        <p:origin x="49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342E83-A0C9-4DA2-BFFD-301636B86A69}" type="datetimeFigureOut">
              <a:rPr lang="en-IN" smtClean="0"/>
              <a:t>23-05-2026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6D2140-28D2-4AFB-999C-C763DF12E2E5}" type="slidenum">
              <a:rPr lang="en-IN" smtClean="0"/>
              <a:t>‹#›</a:t>
            </a:fld>
            <a:endParaRPr lang="en-IN"/>
          </a:p>
        </p:txBody>
      </p:sp>
    </p:spTree>
    <p:extLst>
      <p:ext uri="{BB962C8B-B14F-4D97-AF65-F5344CB8AC3E}">
        <p14:creationId xmlns:p14="http://schemas.microsoft.com/office/powerpoint/2010/main" val="441310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Frame this as the scheduling spine, not a vessel-tracking add-on. The repo already implements the Phase 1 move away from spreadsheet planning: structured demand, constraints, approvals, audit, and governed export inside </a:t>
            </a:r>
            <a:r>
              <a:rPr lang="en-US" dirty="0" err="1"/>
              <a:t>Coalflow</a:t>
            </a:r>
            <a:r>
              <a:rPr lang="en-US" dirty="0"/>
              <a:t> Tower.</a:t>
            </a:r>
          </a:p>
          <a:p>
            <a:endParaRPr lang="en-IN" dirty="0"/>
          </a:p>
        </p:txBody>
      </p:sp>
      <p:sp>
        <p:nvSpPr>
          <p:cNvPr id="4" name="Slide Number Placeholder 3"/>
          <p:cNvSpPr>
            <a:spLocks noGrp="1"/>
          </p:cNvSpPr>
          <p:nvPr>
            <p:ph type="sldNum" sz="quarter" idx="5"/>
          </p:nvPr>
        </p:nvSpPr>
        <p:spPr/>
        <p:txBody>
          <a:bodyPr/>
          <a:lstStyle/>
          <a:p>
            <a:fld id="{1D6D2140-28D2-4AFB-999C-C763DF12E2E5}" type="slidenum">
              <a:rPr lang="en-IN" smtClean="0"/>
              <a:t>1</a:t>
            </a:fld>
            <a:endParaRPr lang="en-IN"/>
          </a:p>
        </p:txBody>
      </p:sp>
    </p:spTree>
    <p:extLst>
      <p:ext uri="{BB962C8B-B14F-4D97-AF65-F5344CB8AC3E}">
        <p14:creationId xmlns:p14="http://schemas.microsoft.com/office/powerpoint/2010/main" val="556626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 the scale figures to show why coordination matters: </a:t>
            </a:r>
            <a:r>
              <a:rPr lang="en-US" dirty="0" err="1"/>
              <a:t>Berau</a:t>
            </a:r>
            <a:r>
              <a:rPr lang="en-US" dirty="0"/>
              <a:t> contributes grade-specific mining and jetty flow, while ABL contributes the marine and transshipment network. Throughput depends on the full chain, not on any one asset class in isolation.</a:t>
            </a:r>
          </a:p>
          <a:p>
            <a:endParaRPr lang="en-IN" dirty="0"/>
          </a:p>
        </p:txBody>
      </p:sp>
      <p:sp>
        <p:nvSpPr>
          <p:cNvPr id="4" name="Slide Number Placeholder 3"/>
          <p:cNvSpPr>
            <a:spLocks noGrp="1"/>
          </p:cNvSpPr>
          <p:nvPr>
            <p:ph type="sldNum" sz="quarter" idx="5"/>
          </p:nvPr>
        </p:nvSpPr>
        <p:spPr/>
        <p:txBody>
          <a:bodyPr/>
          <a:lstStyle/>
          <a:p>
            <a:fld id="{1D6D2140-28D2-4AFB-999C-C763DF12E2E5}" type="slidenum">
              <a:rPr lang="en-IN" smtClean="0"/>
              <a:t>2</a:t>
            </a:fld>
            <a:endParaRPr lang="en-IN"/>
          </a:p>
        </p:txBody>
      </p:sp>
    </p:spTree>
    <p:extLst>
      <p:ext uri="{BB962C8B-B14F-4D97-AF65-F5344CB8AC3E}">
        <p14:creationId xmlns:p14="http://schemas.microsoft.com/office/powerpoint/2010/main" val="2147971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present pain is not a lack of data; it is the lack of one governed planning truth. Phase 1 intentionally starts with manual operational inputs and leaves AIS/GPS integration for later, because the first win is eliminating spreadsheet drift and surfacing constraint conflicts.</a:t>
            </a:r>
          </a:p>
          <a:p>
            <a:endParaRPr lang="en-IN" dirty="0"/>
          </a:p>
        </p:txBody>
      </p:sp>
      <p:sp>
        <p:nvSpPr>
          <p:cNvPr id="4" name="Slide Number Placeholder 3"/>
          <p:cNvSpPr>
            <a:spLocks noGrp="1"/>
          </p:cNvSpPr>
          <p:nvPr>
            <p:ph type="sldNum" sz="quarter" idx="5"/>
          </p:nvPr>
        </p:nvSpPr>
        <p:spPr/>
        <p:txBody>
          <a:bodyPr/>
          <a:lstStyle/>
          <a:p>
            <a:fld id="{1D6D2140-28D2-4AFB-999C-C763DF12E2E5}" type="slidenum">
              <a:rPr lang="en-IN" smtClean="0"/>
              <a:t>4</a:t>
            </a:fld>
            <a:endParaRPr lang="en-IN"/>
          </a:p>
        </p:txBody>
      </p:sp>
    </p:spTree>
    <p:extLst>
      <p:ext uri="{BB962C8B-B14F-4D97-AF65-F5344CB8AC3E}">
        <p14:creationId xmlns:p14="http://schemas.microsoft.com/office/powerpoint/2010/main" val="419583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product thesis: schedule the complete chain from cargo source to customer commitment while keeping planned, live, confirmed, inferred, and recommended state separate. In the repo, that discipline appears in plan versions, trips, assignments, conflicts, overrides, approvals, and audit.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Planned: what the approved schedule says should happen</a:t>
            </a:r>
          </a:p>
          <a:p>
            <a:r>
              <a:rPr lang="en-US" sz="1200" b="0" i="0" kern="1200" dirty="0">
                <a:solidFill>
                  <a:schemeClr val="tx1"/>
                </a:solidFill>
                <a:effectLst/>
                <a:latin typeface="+mn-lt"/>
                <a:ea typeface="+mn-ea"/>
                <a:cs typeface="+mn-cs"/>
              </a:rPr>
              <a:t>Live / AIS: what telemetry shows is happening now</a:t>
            </a:r>
          </a:p>
          <a:p>
            <a:r>
              <a:rPr lang="en-US" sz="1200" b="0" i="0" kern="1200" dirty="0">
                <a:solidFill>
                  <a:schemeClr val="tx1"/>
                </a:solidFill>
                <a:effectLst/>
                <a:latin typeface="+mn-lt"/>
                <a:ea typeface="+mn-ea"/>
                <a:cs typeface="+mn-cs"/>
              </a:rPr>
              <a:t>Confirmed: what an authorized operator has explicitly verified</a:t>
            </a:r>
          </a:p>
          <a:p>
            <a:r>
              <a:rPr lang="en-US" sz="1200" b="0" i="0" kern="1200" dirty="0">
                <a:solidFill>
                  <a:schemeClr val="tx1"/>
                </a:solidFill>
                <a:effectLst/>
                <a:latin typeface="+mn-lt"/>
                <a:ea typeface="+mn-ea"/>
                <a:cs typeface="+mn-cs"/>
              </a:rPr>
              <a:t>Inferred: what the system derives from available evidence</a:t>
            </a:r>
          </a:p>
          <a:p>
            <a:r>
              <a:rPr lang="en-US" sz="1200" b="0" i="0" kern="1200" dirty="0">
                <a:solidFill>
                  <a:schemeClr val="tx1"/>
                </a:solidFill>
                <a:effectLst/>
                <a:latin typeface="+mn-lt"/>
                <a:ea typeface="+mn-ea"/>
                <a:cs typeface="+mn-cs"/>
              </a:rPr>
              <a:t>Recommended: what the platform suggests as the next action</a:t>
            </a:r>
          </a:p>
          <a:p>
            <a:r>
              <a:rPr lang="en-US" sz="1200" b="0" i="0" kern="1200" dirty="0">
                <a:solidFill>
                  <a:schemeClr val="tx1"/>
                </a:solidFill>
                <a:effectLst/>
                <a:latin typeface="+mn-lt"/>
                <a:ea typeface="+mn-ea"/>
                <a:cs typeface="+mn-cs"/>
              </a:rPr>
              <a:t>Keeping these separate preserves trust: signals do not overwrite plans, estimates do not masquerade as facts, and recommendations still require human approval.</a:t>
            </a:r>
          </a:p>
          <a:p>
            <a:endParaRPr lang="en-IN" dirty="0"/>
          </a:p>
        </p:txBody>
      </p:sp>
      <p:sp>
        <p:nvSpPr>
          <p:cNvPr id="4" name="Slide Number Placeholder 3"/>
          <p:cNvSpPr>
            <a:spLocks noGrp="1"/>
          </p:cNvSpPr>
          <p:nvPr>
            <p:ph type="sldNum" sz="quarter" idx="5"/>
          </p:nvPr>
        </p:nvSpPr>
        <p:spPr/>
        <p:txBody>
          <a:bodyPr/>
          <a:lstStyle/>
          <a:p>
            <a:fld id="{1D6D2140-28D2-4AFB-999C-C763DF12E2E5}" type="slidenum">
              <a:rPr lang="en-IN" smtClean="0"/>
              <a:t>5</a:t>
            </a:fld>
            <a:endParaRPr lang="en-IN"/>
          </a:p>
        </p:txBody>
      </p:sp>
    </p:spTree>
    <p:extLst>
      <p:ext uri="{BB962C8B-B14F-4D97-AF65-F5344CB8AC3E}">
        <p14:creationId xmlns:p14="http://schemas.microsoft.com/office/powerpoint/2010/main" val="2458183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Treat the roadmap as layered capability, not a rewrite. Phase 1 is already proven end to end in the repo: demand intake, tide and bridge windows, schedule generation, dual approval, publishing, audit, and governed export. Phase 2 expands the current scenario shell into real what-if planning.</a:t>
            </a:r>
          </a:p>
          <a:p>
            <a:endParaRPr lang="en-IN" dirty="0"/>
          </a:p>
        </p:txBody>
      </p:sp>
      <p:sp>
        <p:nvSpPr>
          <p:cNvPr id="4" name="Slide Number Placeholder 3"/>
          <p:cNvSpPr>
            <a:spLocks noGrp="1"/>
          </p:cNvSpPr>
          <p:nvPr>
            <p:ph type="sldNum" sz="quarter" idx="5"/>
          </p:nvPr>
        </p:nvSpPr>
        <p:spPr/>
        <p:txBody>
          <a:bodyPr/>
          <a:lstStyle/>
          <a:p>
            <a:fld id="{1D6D2140-28D2-4AFB-999C-C763DF12E2E5}" type="slidenum">
              <a:rPr lang="en-IN" smtClean="0"/>
              <a:t>6</a:t>
            </a:fld>
            <a:endParaRPr lang="en-IN"/>
          </a:p>
        </p:txBody>
      </p:sp>
    </p:spTree>
    <p:extLst>
      <p:ext uri="{BB962C8B-B14F-4D97-AF65-F5344CB8AC3E}">
        <p14:creationId xmlns:p14="http://schemas.microsoft.com/office/powerpoint/2010/main" val="149768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later phases turn a governed scheduler into an operational control tower. The sequence is deliberate: first capture truth, then simulate, then ingest live events, then optimize and expose role-shaped views across parties.</a:t>
            </a:r>
          </a:p>
          <a:p>
            <a:endParaRPr lang="en-IN" dirty="0"/>
          </a:p>
        </p:txBody>
      </p:sp>
      <p:sp>
        <p:nvSpPr>
          <p:cNvPr id="4" name="Slide Number Placeholder 3"/>
          <p:cNvSpPr>
            <a:spLocks noGrp="1"/>
          </p:cNvSpPr>
          <p:nvPr>
            <p:ph type="sldNum" sz="quarter" idx="5"/>
          </p:nvPr>
        </p:nvSpPr>
        <p:spPr/>
        <p:txBody>
          <a:bodyPr/>
          <a:lstStyle/>
          <a:p>
            <a:fld id="{1D6D2140-28D2-4AFB-999C-C763DF12E2E5}" type="slidenum">
              <a:rPr lang="en-IN" smtClean="0"/>
              <a:t>7</a:t>
            </a:fld>
            <a:endParaRPr lang="en-IN"/>
          </a:p>
        </p:txBody>
      </p:sp>
    </p:spTree>
    <p:extLst>
      <p:ext uri="{BB962C8B-B14F-4D97-AF65-F5344CB8AC3E}">
        <p14:creationId xmlns:p14="http://schemas.microsoft.com/office/powerpoint/2010/main" val="970693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open questions are the rulebook required for faithful simulation, not loose discovery. The fastest path forward is to validate grade substitution, river windows, fleet pairing, CTS rules, and source-system ownership with operators before hard-coding assumptions.</a:t>
            </a:r>
          </a:p>
          <a:p>
            <a:endParaRPr lang="en-IN" dirty="0"/>
          </a:p>
        </p:txBody>
      </p:sp>
      <p:sp>
        <p:nvSpPr>
          <p:cNvPr id="4" name="Slide Number Placeholder 3"/>
          <p:cNvSpPr>
            <a:spLocks noGrp="1"/>
          </p:cNvSpPr>
          <p:nvPr>
            <p:ph type="sldNum" sz="quarter" idx="5"/>
          </p:nvPr>
        </p:nvSpPr>
        <p:spPr/>
        <p:txBody>
          <a:bodyPr/>
          <a:lstStyle/>
          <a:p>
            <a:fld id="{1D6D2140-28D2-4AFB-999C-C763DF12E2E5}" type="slidenum">
              <a:rPr lang="en-IN" smtClean="0"/>
              <a:t>8</a:t>
            </a:fld>
            <a:endParaRPr lang="en-IN"/>
          </a:p>
        </p:txBody>
      </p:sp>
    </p:spTree>
    <p:extLst>
      <p:ext uri="{BB962C8B-B14F-4D97-AF65-F5344CB8AC3E}">
        <p14:creationId xmlns:p14="http://schemas.microsoft.com/office/powerpoint/2010/main" val="3914196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2026-05-23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2026-05-23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2026-05-23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2026-05-23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2026-05-23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2026-05-23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2026-05-23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2026-05-23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2026-05-23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2026-05-23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2026-05-23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2026-05-23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B45"/>
        </a:solidFill>
        <a:effectLst/>
      </p:bgPr>
    </p:bg>
    <p:spTree>
      <p:nvGrpSpPr>
        <p:cNvPr id="1" name=""/>
        <p:cNvGrpSpPr/>
        <p:nvPr/>
      </p:nvGrpSpPr>
      <p:grpSpPr>
        <a:xfrm>
          <a:off x="0" y="0"/>
          <a:ext cx="0" cy="0"/>
          <a:chOff x="0" y="0"/>
          <a:chExt cx="0" cy="0"/>
        </a:xfrm>
      </p:grpSpPr>
      <p:sp>
        <p:nvSpPr>
          <p:cNvPr id="2" name="TextBox 1"/>
          <p:cNvSpPr txBox="1"/>
          <p:nvPr/>
        </p:nvSpPr>
        <p:spPr>
          <a:xfrm>
            <a:off x="548640" y="960120"/>
            <a:ext cx="7315200" cy="411480"/>
          </a:xfrm>
          <a:prstGeom prst="rect">
            <a:avLst/>
          </a:prstGeom>
          <a:noFill/>
        </p:spPr>
        <p:txBody>
          <a:bodyPr wrap="square">
            <a:spAutoFit/>
          </a:bodyPr>
          <a:lstStyle/>
          <a:p>
            <a:pPr algn="l"/>
            <a:r>
              <a:rPr sz="1200" b="0" i="0">
                <a:solidFill>
                  <a:srgbClr val="F59E0B"/>
                </a:solidFill>
                <a:latin typeface="Calibri"/>
              </a:rPr>
              <a:t>BERAU COAL  ×  ABL</a:t>
            </a:r>
          </a:p>
        </p:txBody>
      </p:sp>
      <p:sp>
        <p:nvSpPr>
          <p:cNvPr id="3" name="TextBox 2"/>
          <p:cNvSpPr txBox="1"/>
          <p:nvPr/>
        </p:nvSpPr>
        <p:spPr>
          <a:xfrm>
            <a:off x="548640" y="1417320"/>
            <a:ext cx="7772400" cy="1417320"/>
          </a:xfrm>
          <a:prstGeom prst="rect">
            <a:avLst/>
          </a:prstGeom>
          <a:noFill/>
        </p:spPr>
        <p:txBody>
          <a:bodyPr wrap="square">
            <a:spAutoFit/>
          </a:bodyPr>
          <a:lstStyle/>
          <a:p>
            <a:pPr algn="l"/>
            <a:r>
              <a:rPr sz="3600" b="1" i="0">
                <a:solidFill>
                  <a:srgbClr val="FFFFFF"/>
                </a:solidFill>
                <a:latin typeface="Calibri"/>
              </a:rPr>
              <a:t>Scheduling Simulation</a:t>
            </a:r>
          </a:p>
          <a:p>
            <a:pPr algn="l"/>
            <a:r>
              <a:rPr sz="3600" b="1" i="0">
                <a:solidFill>
                  <a:srgbClr val="FFFFFF"/>
                </a:solidFill>
                <a:latin typeface="Calibri"/>
              </a:rPr>
              <a:t>&amp; Live Planning Platform</a:t>
            </a:r>
          </a:p>
        </p:txBody>
      </p:sp>
      <p:sp>
        <p:nvSpPr>
          <p:cNvPr id="4" name="TextBox 3"/>
          <p:cNvSpPr txBox="1"/>
          <p:nvPr/>
        </p:nvSpPr>
        <p:spPr>
          <a:xfrm>
            <a:off x="548640" y="2944368"/>
            <a:ext cx="7315200" cy="411480"/>
          </a:xfrm>
          <a:prstGeom prst="rect">
            <a:avLst/>
          </a:prstGeom>
          <a:noFill/>
        </p:spPr>
        <p:txBody>
          <a:bodyPr wrap="square">
            <a:spAutoFit/>
          </a:bodyPr>
          <a:lstStyle/>
          <a:p>
            <a:pPr algn="l"/>
            <a:r>
              <a:rPr sz="1300" b="0" i="1">
                <a:solidFill>
                  <a:srgbClr val="94A3B8"/>
                </a:solidFill>
                <a:latin typeface="Calibri"/>
              </a:rPr>
              <a:t>From reactive Excel planning to constraint-aware, real-time operations intelligence</a:t>
            </a:r>
          </a:p>
        </p:txBody>
      </p:sp>
      <p:sp>
        <p:nvSpPr>
          <p:cNvPr id="5" name="Rectangle 4"/>
          <p:cNvSpPr/>
          <p:nvPr/>
        </p:nvSpPr>
        <p:spPr>
          <a:xfrm>
            <a:off x="548640" y="3493008"/>
            <a:ext cx="201168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3657600"/>
            <a:ext cx="7315200" cy="320040"/>
          </a:xfrm>
          <a:prstGeom prst="rect">
            <a:avLst/>
          </a:prstGeom>
          <a:noFill/>
        </p:spPr>
        <p:txBody>
          <a:bodyPr wrap="square">
            <a:spAutoFit/>
          </a:bodyPr>
          <a:lstStyle/>
          <a:p>
            <a:pPr algn="l"/>
            <a:r>
              <a:rPr sz="1000" b="0" i="0">
                <a:solidFill>
                  <a:srgbClr val="94A3B8"/>
                </a:solidFill>
                <a:latin typeface="Calibri"/>
              </a:rPr>
              <a:t>Business Context  ·  Solution Scope  ·  Roadmap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8412480" cy="475488"/>
          </a:xfrm>
          <a:prstGeom prst="rect">
            <a:avLst/>
          </a:prstGeom>
          <a:noFill/>
        </p:spPr>
        <p:txBody>
          <a:bodyPr wrap="square">
            <a:spAutoFit/>
          </a:bodyPr>
          <a:lstStyle/>
          <a:p>
            <a:pPr algn="l"/>
            <a:r>
              <a:rPr sz="2200" b="1" i="0">
                <a:solidFill>
                  <a:srgbClr val="1A2B45"/>
                </a:solidFill>
                <a:latin typeface="Calibri"/>
              </a:rPr>
              <a:t>The Two Principals — Scale &amp; Capability</a:t>
            </a:r>
          </a:p>
        </p:txBody>
      </p:sp>
      <p:sp>
        <p:nvSpPr>
          <p:cNvPr id="3" name="Rectangle 2"/>
          <p:cNvSpPr/>
          <p:nvPr/>
        </p:nvSpPr>
        <p:spPr>
          <a:xfrm>
            <a:off x="256032" y="777240"/>
            <a:ext cx="4160520" cy="4041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56032" y="777240"/>
            <a:ext cx="4160520" cy="420624"/>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9184" y="804672"/>
            <a:ext cx="4005072" cy="365760"/>
          </a:xfrm>
          <a:prstGeom prst="rect">
            <a:avLst/>
          </a:prstGeom>
          <a:noFill/>
        </p:spPr>
        <p:txBody>
          <a:bodyPr wrap="square">
            <a:spAutoFit/>
          </a:bodyPr>
          <a:lstStyle/>
          <a:p>
            <a:pPr algn="l"/>
            <a:r>
              <a:rPr sz="950" b="1" i="0">
                <a:solidFill>
                  <a:srgbClr val="FFFFFF"/>
                </a:solidFill>
                <a:latin typeface="Calibri"/>
              </a:rPr>
              <a:t>BERAU COAL ENERGY — Mining Operations</a:t>
            </a:r>
          </a:p>
        </p:txBody>
      </p:sp>
      <p:sp>
        <p:nvSpPr>
          <p:cNvPr id="6" name="Rectangle 5"/>
          <p:cNvSpPr/>
          <p:nvPr/>
        </p:nvSpPr>
        <p:spPr>
          <a:xfrm>
            <a:off x="365760" y="1261872"/>
            <a:ext cx="175564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16736"/>
            <a:ext cx="1755648" cy="402336"/>
          </a:xfrm>
          <a:prstGeom prst="rect">
            <a:avLst/>
          </a:prstGeom>
          <a:noFill/>
        </p:spPr>
        <p:txBody>
          <a:bodyPr wrap="square">
            <a:spAutoFit/>
          </a:bodyPr>
          <a:lstStyle/>
          <a:p>
            <a:pPr algn="ctr"/>
            <a:r>
              <a:rPr sz="2600" b="1" i="0">
                <a:solidFill>
                  <a:srgbClr val="2563EB"/>
                </a:solidFill>
                <a:latin typeface="Calibri"/>
              </a:rPr>
              <a:t>108,900 ha</a:t>
            </a:r>
          </a:p>
        </p:txBody>
      </p:sp>
      <p:sp>
        <p:nvSpPr>
          <p:cNvPr id="8" name="TextBox 7"/>
          <p:cNvSpPr txBox="1"/>
          <p:nvPr/>
        </p:nvSpPr>
        <p:spPr>
          <a:xfrm>
            <a:off x="365760" y="1728581"/>
            <a:ext cx="1755648" cy="305775"/>
          </a:xfrm>
          <a:prstGeom prst="rect">
            <a:avLst/>
          </a:prstGeom>
          <a:noFill/>
        </p:spPr>
        <p:txBody>
          <a:bodyPr wrap="square">
            <a:spAutoFit/>
          </a:bodyPr>
          <a:lstStyle/>
          <a:p>
            <a:pPr algn="ctr"/>
            <a:r>
              <a:rPr sz="850" b="0" i="0">
                <a:solidFill>
                  <a:srgbClr val="475569"/>
                </a:solidFill>
                <a:latin typeface="Calibri"/>
              </a:rPr>
              <a:t>Mining Concession</a:t>
            </a:r>
          </a:p>
          <a:p>
            <a:pPr algn="ctr"/>
            <a:r>
              <a:rPr sz="850" b="0" i="0">
                <a:solidFill>
                  <a:srgbClr val="475569"/>
                </a:solidFill>
                <a:latin typeface="Calibri"/>
              </a:rPr>
              <a:t>(Berau Regency, E. Kalimantan)</a:t>
            </a:r>
          </a:p>
        </p:txBody>
      </p:sp>
      <p:sp>
        <p:nvSpPr>
          <p:cNvPr id="9" name="Rectangle 8"/>
          <p:cNvSpPr/>
          <p:nvPr/>
        </p:nvSpPr>
        <p:spPr>
          <a:xfrm>
            <a:off x="2194560" y="1261872"/>
            <a:ext cx="175564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94560" y="1316736"/>
            <a:ext cx="1755648" cy="402336"/>
          </a:xfrm>
          <a:prstGeom prst="rect">
            <a:avLst/>
          </a:prstGeom>
          <a:noFill/>
        </p:spPr>
        <p:txBody>
          <a:bodyPr wrap="square">
            <a:spAutoFit/>
          </a:bodyPr>
          <a:lstStyle/>
          <a:p>
            <a:pPr algn="ctr"/>
            <a:r>
              <a:rPr sz="2600" b="1" i="0">
                <a:solidFill>
                  <a:srgbClr val="2563EB"/>
                </a:solidFill>
                <a:latin typeface="Calibri"/>
              </a:rPr>
              <a:t>~300 km</a:t>
            </a:r>
          </a:p>
        </p:txBody>
      </p:sp>
      <p:sp>
        <p:nvSpPr>
          <p:cNvPr id="11" name="TextBox 10"/>
          <p:cNvSpPr txBox="1"/>
          <p:nvPr/>
        </p:nvSpPr>
        <p:spPr>
          <a:xfrm>
            <a:off x="2194560" y="1728581"/>
            <a:ext cx="1755648" cy="305775"/>
          </a:xfrm>
          <a:prstGeom prst="rect">
            <a:avLst/>
          </a:prstGeom>
          <a:noFill/>
        </p:spPr>
        <p:txBody>
          <a:bodyPr wrap="square">
            <a:spAutoFit/>
          </a:bodyPr>
          <a:lstStyle/>
          <a:p>
            <a:pPr algn="ctr"/>
            <a:r>
              <a:rPr sz="850" b="0" i="0">
                <a:solidFill>
                  <a:srgbClr val="475569"/>
                </a:solidFill>
                <a:latin typeface="Calibri"/>
              </a:rPr>
              <a:t>North of Samarinda —</a:t>
            </a:r>
          </a:p>
          <a:p>
            <a:pPr algn="ctr"/>
            <a:r>
              <a:rPr sz="850" b="0" i="0">
                <a:solidFill>
                  <a:srgbClr val="475569"/>
                </a:solidFill>
                <a:latin typeface="Calibri"/>
              </a:rPr>
              <a:t>Remote River Logistics</a:t>
            </a:r>
          </a:p>
        </p:txBody>
      </p:sp>
      <p:sp>
        <p:nvSpPr>
          <p:cNvPr id="12" name="Rectangle 11"/>
          <p:cNvSpPr/>
          <p:nvPr/>
        </p:nvSpPr>
        <p:spPr>
          <a:xfrm>
            <a:off x="365760" y="2139696"/>
            <a:ext cx="175564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2194560"/>
            <a:ext cx="1755648" cy="492443"/>
          </a:xfrm>
          <a:prstGeom prst="rect">
            <a:avLst/>
          </a:prstGeom>
          <a:noFill/>
        </p:spPr>
        <p:txBody>
          <a:bodyPr wrap="square">
            <a:spAutoFit/>
          </a:bodyPr>
          <a:lstStyle/>
          <a:p>
            <a:pPr algn="ctr"/>
            <a:r>
              <a:rPr lang="en-US" sz="2600" b="1" dirty="0">
                <a:solidFill>
                  <a:srgbClr val="2563EB"/>
                </a:solidFill>
                <a:latin typeface="Calibri"/>
              </a:rPr>
              <a:t>4</a:t>
            </a:r>
            <a:r>
              <a:rPr sz="2600" b="1" i="0" dirty="0">
                <a:solidFill>
                  <a:srgbClr val="2563EB"/>
                </a:solidFill>
                <a:latin typeface="Calibri"/>
              </a:rPr>
              <a:t> Mines</a:t>
            </a:r>
          </a:p>
        </p:txBody>
      </p:sp>
      <p:sp>
        <p:nvSpPr>
          <p:cNvPr id="14" name="TextBox 13"/>
          <p:cNvSpPr txBox="1"/>
          <p:nvPr/>
        </p:nvSpPr>
        <p:spPr>
          <a:xfrm>
            <a:off x="365760" y="2606405"/>
            <a:ext cx="1755648" cy="484748"/>
          </a:xfrm>
          <a:prstGeom prst="rect">
            <a:avLst/>
          </a:prstGeom>
          <a:noFill/>
        </p:spPr>
        <p:txBody>
          <a:bodyPr wrap="square">
            <a:spAutoFit/>
          </a:bodyPr>
          <a:lstStyle/>
          <a:p>
            <a:pPr algn="ctr"/>
            <a:r>
              <a:rPr sz="850" b="0" i="0" dirty="0">
                <a:solidFill>
                  <a:srgbClr val="475569"/>
                </a:solidFill>
                <a:latin typeface="Calibri"/>
              </a:rPr>
              <a:t>Lati · </a:t>
            </a:r>
            <a:r>
              <a:rPr sz="850" b="0" i="0" dirty="0" err="1">
                <a:solidFill>
                  <a:srgbClr val="475569"/>
                </a:solidFill>
                <a:latin typeface="Calibri"/>
              </a:rPr>
              <a:t>Binungan</a:t>
            </a:r>
            <a:endParaRPr sz="850" b="0" i="0" dirty="0">
              <a:solidFill>
                <a:srgbClr val="475569"/>
              </a:solidFill>
              <a:latin typeface="Calibri"/>
            </a:endParaRPr>
          </a:p>
          <a:p>
            <a:pPr algn="ctr"/>
            <a:r>
              <a:rPr sz="850" b="0" i="0" dirty="0">
                <a:solidFill>
                  <a:srgbClr val="475569"/>
                </a:solidFill>
                <a:latin typeface="Calibri"/>
              </a:rPr>
              <a:t>· </a:t>
            </a:r>
            <a:r>
              <a:rPr sz="850" b="0" i="0" dirty="0" err="1">
                <a:solidFill>
                  <a:srgbClr val="475569"/>
                </a:solidFill>
                <a:latin typeface="Calibri"/>
              </a:rPr>
              <a:t>Sambarata</a:t>
            </a:r>
            <a:r>
              <a:rPr lang="en-US" sz="850" b="0" i="0" dirty="0">
                <a:solidFill>
                  <a:srgbClr val="475569"/>
                </a:solidFill>
                <a:latin typeface="Calibri"/>
              </a:rPr>
              <a:t> </a:t>
            </a:r>
            <a:r>
              <a:rPr lang="en-IN" sz="850" dirty="0">
                <a:solidFill>
                  <a:srgbClr val="475569"/>
                </a:solidFill>
              </a:rPr>
              <a:t>· </a:t>
            </a:r>
            <a:r>
              <a:rPr lang="en-IN" sz="850" dirty="0" err="1">
                <a:solidFill>
                  <a:srgbClr val="475569"/>
                </a:solidFill>
              </a:rPr>
              <a:t>Gurimbang</a:t>
            </a:r>
            <a:endParaRPr lang="en-IN" sz="850" dirty="0">
              <a:solidFill>
                <a:srgbClr val="475569"/>
              </a:solidFill>
            </a:endParaRPr>
          </a:p>
          <a:p>
            <a:pPr algn="ctr"/>
            <a:endParaRPr sz="850" b="0" i="0" dirty="0">
              <a:solidFill>
                <a:srgbClr val="475569"/>
              </a:solidFill>
              <a:latin typeface="Calibri"/>
            </a:endParaRPr>
          </a:p>
        </p:txBody>
      </p:sp>
      <p:sp>
        <p:nvSpPr>
          <p:cNvPr id="15" name="Rectangle 14"/>
          <p:cNvSpPr/>
          <p:nvPr/>
        </p:nvSpPr>
        <p:spPr>
          <a:xfrm>
            <a:off x="2194560" y="2139696"/>
            <a:ext cx="175564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94560" y="2194560"/>
            <a:ext cx="1755648" cy="402336"/>
          </a:xfrm>
          <a:prstGeom prst="rect">
            <a:avLst/>
          </a:prstGeom>
          <a:noFill/>
        </p:spPr>
        <p:txBody>
          <a:bodyPr wrap="square">
            <a:spAutoFit/>
          </a:bodyPr>
          <a:lstStyle/>
          <a:p>
            <a:pPr algn="ctr"/>
            <a:r>
              <a:rPr sz="2600" b="1" i="0">
                <a:solidFill>
                  <a:srgbClr val="2563EB"/>
                </a:solidFill>
                <a:latin typeface="Calibri"/>
              </a:rPr>
              <a:t>5 Brands</a:t>
            </a:r>
          </a:p>
        </p:txBody>
      </p:sp>
      <p:sp>
        <p:nvSpPr>
          <p:cNvPr id="17" name="TextBox 16"/>
          <p:cNvSpPr txBox="1"/>
          <p:nvPr/>
        </p:nvSpPr>
        <p:spPr>
          <a:xfrm>
            <a:off x="2194560" y="2606405"/>
            <a:ext cx="1755648" cy="305775"/>
          </a:xfrm>
          <a:prstGeom prst="rect">
            <a:avLst/>
          </a:prstGeom>
          <a:noFill/>
        </p:spPr>
        <p:txBody>
          <a:bodyPr wrap="square">
            <a:spAutoFit/>
          </a:bodyPr>
          <a:lstStyle/>
          <a:p>
            <a:pPr algn="ctr"/>
            <a:r>
              <a:rPr sz="850" b="0" i="0">
                <a:solidFill>
                  <a:srgbClr val="475569"/>
                </a:solidFill>
                <a:latin typeface="Calibri"/>
              </a:rPr>
              <a:t>Ebony · Mahoni · Agathis</a:t>
            </a:r>
          </a:p>
          <a:p>
            <a:pPr algn="ctr"/>
            <a:r>
              <a:rPr sz="850" b="0" i="0">
                <a:solidFill>
                  <a:srgbClr val="475569"/>
                </a:solidFill>
                <a:latin typeface="Calibri"/>
              </a:rPr>
              <a:t>Sungkai · Mahoni-B</a:t>
            </a:r>
          </a:p>
        </p:txBody>
      </p:sp>
      <p:sp>
        <p:nvSpPr>
          <p:cNvPr id="18" name="Rectangle 17"/>
          <p:cNvSpPr/>
          <p:nvPr/>
        </p:nvSpPr>
        <p:spPr>
          <a:xfrm>
            <a:off x="365760" y="3017520"/>
            <a:ext cx="175564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3072384"/>
            <a:ext cx="1755648" cy="492443"/>
          </a:xfrm>
          <a:prstGeom prst="rect">
            <a:avLst/>
          </a:prstGeom>
          <a:noFill/>
        </p:spPr>
        <p:txBody>
          <a:bodyPr wrap="square">
            <a:spAutoFit/>
          </a:bodyPr>
          <a:lstStyle/>
          <a:p>
            <a:pPr algn="ctr"/>
            <a:r>
              <a:rPr sz="2600" b="1" i="0" dirty="0">
                <a:solidFill>
                  <a:srgbClr val="2563EB"/>
                </a:solidFill>
                <a:latin typeface="Calibri"/>
              </a:rPr>
              <a:t>~</a:t>
            </a:r>
            <a:r>
              <a:rPr lang="en-US" sz="2600" b="1" i="0" dirty="0">
                <a:solidFill>
                  <a:srgbClr val="2563EB"/>
                </a:solidFill>
                <a:latin typeface="Calibri"/>
              </a:rPr>
              <a:t>3</a:t>
            </a:r>
            <a:r>
              <a:rPr sz="2600" b="1" i="0" dirty="0">
                <a:solidFill>
                  <a:srgbClr val="2563EB"/>
                </a:solidFill>
                <a:latin typeface="Calibri"/>
              </a:rPr>
              <a:t>6 MT/yr</a:t>
            </a:r>
          </a:p>
        </p:txBody>
      </p:sp>
      <p:sp>
        <p:nvSpPr>
          <p:cNvPr id="20" name="TextBox 19"/>
          <p:cNvSpPr txBox="1"/>
          <p:nvPr/>
        </p:nvSpPr>
        <p:spPr>
          <a:xfrm>
            <a:off x="365760" y="3484229"/>
            <a:ext cx="1755648" cy="223138"/>
          </a:xfrm>
          <a:prstGeom prst="rect">
            <a:avLst/>
          </a:prstGeom>
          <a:noFill/>
        </p:spPr>
        <p:txBody>
          <a:bodyPr wrap="square">
            <a:spAutoFit/>
          </a:bodyPr>
          <a:lstStyle/>
          <a:p>
            <a:pPr algn="ctr"/>
            <a:r>
              <a:rPr lang="en-US" sz="850" b="0" i="0" dirty="0" err="1">
                <a:solidFill>
                  <a:srgbClr val="475569"/>
                </a:solidFill>
                <a:latin typeface="Calibri"/>
              </a:rPr>
              <a:t>Berau</a:t>
            </a:r>
            <a:r>
              <a:rPr lang="en-US" sz="850" b="0" i="0" dirty="0">
                <a:solidFill>
                  <a:srgbClr val="475569"/>
                </a:solidFill>
                <a:latin typeface="Calibri"/>
              </a:rPr>
              <a:t> output (2024)</a:t>
            </a:r>
            <a:endParaRPr sz="850" b="0" i="0" dirty="0">
              <a:solidFill>
                <a:srgbClr val="475569"/>
              </a:solidFill>
              <a:latin typeface="Calibri"/>
            </a:endParaRPr>
          </a:p>
        </p:txBody>
      </p:sp>
      <p:sp>
        <p:nvSpPr>
          <p:cNvPr id="21" name="Rectangle 20"/>
          <p:cNvSpPr/>
          <p:nvPr/>
        </p:nvSpPr>
        <p:spPr>
          <a:xfrm>
            <a:off x="2194560" y="3017520"/>
            <a:ext cx="175564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194560" y="3072384"/>
            <a:ext cx="1755648" cy="402336"/>
          </a:xfrm>
          <a:prstGeom prst="rect">
            <a:avLst/>
          </a:prstGeom>
          <a:noFill/>
        </p:spPr>
        <p:txBody>
          <a:bodyPr wrap="square">
            <a:spAutoFit/>
          </a:bodyPr>
          <a:lstStyle/>
          <a:p>
            <a:pPr algn="ctr"/>
            <a:r>
              <a:rPr sz="2600" b="1" i="0">
                <a:solidFill>
                  <a:srgbClr val="2563EB"/>
                </a:solidFill>
                <a:latin typeface="Calibri"/>
              </a:rPr>
              <a:t>Asia</a:t>
            </a:r>
          </a:p>
        </p:txBody>
      </p:sp>
      <p:sp>
        <p:nvSpPr>
          <p:cNvPr id="23" name="TextBox 22"/>
          <p:cNvSpPr txBox="1"/>
          <p:nvPr/>
        </p:nvSpPr>
        <p:spPr>
          <a:xfrm>
            <a:off x="2194560" y="3484229"/>
            <a:ext cx="1755648" cy="305775"/>
          </a:xfrm>
          <a:prstGeom prst="rect">
            <a:avLst/>
          </a:prstGeom>
          <a:noFill/>
        </p:spPr>
        <p:txBody>
          <a:bodyPr wrap="square">
            <a:spAutoFit/>
          </a:bodyPr>
          <a:lstStyle/>
          <a:p>
            <a:pPr algn="ctr"/>
            <a:r>
              <a:rPr sz="850" b="0" i="0">
                <a:solidFill>
                  <a:srgbClr val="475569"/>
                </a:solidFill>
                <a:latin typeface="Calibri"/>
              </a:rPr>
              <a:t>Key Export Markets:</a:t>
            </a:r>
          </a:p>
          <a:p>
            <a:pPr algn="ctr"/>
            <a:r>
              <a:rPr sz="850" b="0" i="0">
                <a:solidFill>
                  <a:srgbClr val="475569"/>
                </a:solidFill>
                <a:latin typeface="Calibri"/>
              </a:rPr>
              <a:t>China · India · S. Korea · Taiwan</a:t>
            </a:r>
          </a:p>
        </p:txBody>
      </p:sp>
      <p:sp>
        <p:nvSpPr>
          <p:cNvPr id="24" name="TextBox 23"/>
          <p:cNvSpPr txBox="1"/>
          <p:nvPr/>
        </p:nvSpPr>
        <p:spPr>
          <a:xfrm>
            <a:off x="365760" y="3931920"/>
            <a:ext cx="3749039" cy="201168"/>
          </a:xfrm>
          <a:prstGeom prst="rect">
            <a:avLst/>
          </a:prstGeom>
          <a:noFill/>
        </p:spPr>
        <p:txBody>
          <a:bodyPr wrap="square">
            <a:spAutoFit/>
          </a:bodyPr>
          <a:lstStyle/>
          <a:p>
            <a:pPr algn="l"/>
            <a:r>
              <a:rPr sz="800" b="1" i="0">
                <a:solidFill>
                  <a:srgbClr val="475569"/>
                </a:solidFill>
                <a:latin typeface="Calibri"/>
              </a:rPr>
              <a:t>Transshipment Assets (Berau-listed)</a:t>
            </a:r>
          </a:p>
        </p:txBody>
      </p:sp>
      <p:sp>
        <p:nvSpPr>
          <p:cNvPr id="25" name="Rectangle 24"/>
          <p:cNvSpPr/>
          <p:nvPr/>
        </p:nvSpPr>
        <p:spPr>
          <a:xfrm>
            <a:off x="365760" y="4142232"/>
            <a:ext cx="2331720" cy="118872"/>
          </a:xfrm>
          <a:prstGeom prst="rect">
            <a:avLst/>
          </a:prstGeom>
          <a:solidFill>
            <a:srgbClr val="E8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697480" y="4142232"/>
            <a:ext cx="1554480" cy="118872"/>
          </a:xfrm>
          <a:prstGeom prst="rect">
            <a:avLst/>
          </a:prstGeom>
          <a:solidFill>
            <a:srgbClr val="E8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4133087"/>
            <a:ext cx="2286000" cy="118872"/>
          </a:xfrm>
          <a:prstGeom prst="rect">
            <a:avLst/>
          </a:prstGeom>
          <a:noFill/>
        </p:spPr>
        <p:txBody>
          <a:bodyPr wrap="square">
            <a:spAutoFit/>
          </a:bodyPr>
          <a:lstStyle/>
          <a:p>
            <a:pPr algn="l"/>
            <a:r>
              <a:rPr sz="750" b="1" i="0">
                <a:solidFill>
                  <a:srgbClr val="1A2B45"/>
                </a:solidFill>
                <a:latin typeface="Calibri"/>
              </a:rPr>
              <a:t>Asset</a:t>
            </a:r>
          </a:p>
        </p:txBody>
      </p:sp>
      <p:sp>
        <p:nvSpPr>
          <p:cNvPr id="28" name="TextBox 27"/>
          <p:cNvSpPr txBox="1"/>
          <p:nvPr/>
        </p:nvSpPr>
        <p:spPr>
          <a:xfrm>
            <a:off x="2697480" y="4133087"/>
            <a:ext cx="1508760" cy="118872"/>
          </a:xfrm>
          <a:prstGeom prst="rect">
            <a:avLst/>
          </a:prstGeom>
          <a:noFill/>
        </p:spPr>
        <p:txBody>
          <a:bodyPr wrap="square">
            <a:spAutoFit/>
          </a:bodyPr>
          <a:lstStyle/>
          <a:p>
            <a:pPr algn="r"/>
            <a:r>
              <a:rPr sz="750" b="1" i="0">
                <a:solidFill>
                  <a:srgbClr val="1A2B45"/>
                </a:solidFill>
                <a:latin typeface="Calibri"/>
              </a:rPr>
              <a:t>Capacity (MT/day)</a:t>
            </a:r>
          </a:p>
        </p:txBody>
      </p:sp>
      <p:sp>
        <p:nvSpPr>
          <p:cNvPr id="29" name="Rectangle 28"/>
          <p:cNvSpPr/>
          <p:nvPr/>
        </p:nvSpPr>
        <p:spPr>
          <a:xfrm>
            <a:off x="365760" y="4261104"/>
            <a:ext cx="2331720"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697480" y="4261104"/>
            <a:ext cx="1554480"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251959"/>
            <a:ext cx="2286000" cy="118872"/>
          </a:xfrm>
          <a:prstGeom prst="rect">
            <a:avLst/>
          </a:prstGeom>
          <a:noFill/>
        </p:spPr>
        <p:txBody>
          <a:bodyPr wrap="square">
            <a:spAutoFit/>
          </a:bodyPr>
          <a:lstStyle/>
          <a:p>
            <a:pPr algn="l"/>
            <a:r>
              <a:rPr sz="750" b="0" i="0">
                <a:solidFill>
                  <a:srgbClr val="1A2B45"/>
                </a:solidFill>
                <a:latin typeface="Calibri"/>
              </a:rPr>
              <a:t>FTS Bulk Borneo</a:t>
            </a:r>
          </a:p>
        </p:txBody>
      </p:sp>
      <p:sp>
        <p:nvSpPr>
          <p:cNvPr id="32" name="TextBox 31"/>
          <p:cNvSpPr txBox="1"/>
          <p:nvPr/>
        </p:nvSpPr>
        <p:spPr>
          <a:xfrm>
            <a:off x="2697480" y="4251959"/>
            <a:ext cx="1508760" cy="118872"/>
          </a:xfrm>
          <a:prstGeom prst="rect">
            <a:avLst/>
          </a:prstGeom>
          <a:noFill/>
        </p:spPr>
        <p:txBody>
          <a:bodyPr wrap="square">
            <a:spAutoFit/>
          </a:bodyPr>
          <a:lstStyle/>
          <a:p>
            <a:pPr algn="r"/>
            <a:r>
              <a:rPr sz="750" b="0" i="0">
                <a:solidFill>
                  <a:srgbClr val="1A2B45"/>
                </a:solidFill>
                <a:latin typeface="Calibri"/>
              </a:rPr>
              <a:t>32,000</a:t>
            </a:r>
          </a:p>
        </p:txBody>
      </p:sp>
      <p:sp>
        <p:nvSpPr>
          <p:cNvPr id="33" name="Rectangle 32"/>
          <p:cNvSpPr/>
          <p:nvPr/>
        </p:nvSpPr>
        <p:spPr>
          <a:xfrm>
            <a:off x="365760" y="4379976"/>
            <a:ext cx="2331720"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697480" y="4379976"/>
            <a:ext cx="1554480"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4370831"/>
            <a:ext cx="2286000" cy="118872"/>
          </a:xfrm>
          <a:prstGeom prst="rect">
            <a:avLst/>
          </a:prstGeom>
          <a:noFill/>
        </p:spPr>
        <p:txBody>
          <a:bodyPr wrap="square">
            <a:spAutoFit/>
          </a:bodyPr>
          <a:lstStyle/>
          <a:p>
            <a:pPr algn="l"/>
            <a:r>
              <a:rPr sz="750" b="0" i="0">
                <a:solidFill>
                  <a:srgbClr val="1A2B45"/>
                </a:solidFill>
                <a:latin typeface="Calibri"/>
              </a:rPr>
              <a:t>FTS Bulk Sumatera</a:t>
            </a:r>
          </a:p>
        </p:txBody>
      </p:sp>
      <p:sp>
        <p:nvSpPr>
          <p:cNvPr id="36" name="TextBox 35"/>
          <p:cNvSpPr txBox="1"/>
          <p:nvPr/>
        </p:nvSpPr>
        <p:spPr>
          <a:xfrm>
            <a:off x="2697480" y="4370831"/>
            <a:ext cx="1508760" cy="118872"/>
          </a:xfrm>
          <a:prstGeom prst="rect">
            <a:avLst/>
          </a:prstGeom>
          <a:noFill/>
        </p:spPr>
        <p:txBody>
          <a:bodyPr wrap="square">
            <a:spAutoFit/>
          </a:bodyPr>
          <a:lstStyle/>
          <a:p>
            <a:pPr algn="r"/>
            <a:r>
              <a:rPr sz="750" b="0" i="0">
                <a:solidFill>
                  <a:srgbClr val="1A2B45"/>
                </a:solidFill>
                <a:latin typeface="Calibri"/>
              </a:rPr>
              <a:t>30,000</a:t>
            </a:r>
          </a:p>
        </p:txBody>
      </p:sp>
      <p:sp>
        <p:nvSpPr>
          <p:cNvPr id="37" name="Rectangle 36"/>
          <p:cNvSpPr/>
          <p:nvPr/>
        </p:nvSpPr>
        <p:spPr>
          <a:xfrm>
            <a:off x="365760" y="4498848"/>
            <a:ext cx="2331720"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697480" y="4498848"/>
            <a:ext cx="1554480"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489703"/>
            <a:ext cx="2286000" cy="118872"/>
          </a:xfrm>
          <a:prstGeom prst="rect">
            <a:avLst/>
          </a:prstGeom>
          <a:noFill/>
        </p:spPr>
        <p:txBody>
          <a:bodyPr wrap="square">
            <a:spAutoFit/>
          </a:bodyPr>
          <a:lstStyle/>
          <a:p>
            <a:pPr algn="l"/>
            <a:r>
              <a:rPr sz="750" b="0" i="0">
                <a:solidFill>
                  <a:srgbClr val="1A2B45"/>
                </a:solidFill>
                <a:latin typeface="Calibri"/>
              </a:rPr>
              <a:t>FC Chloe</a:t>
            </a:r>
          </a:p>
        </p:txBody>
      </p:sp>
      <p:sp>
        <p:nvSpPr>
          <p:cNvPr id="40" name="TextBox 39"/>
          <p:cNvSpPr txBox="1"/>
          <p:nvPr/>
        </p:nvSpPr>
        <p:spPr>
          <a:xfrm>
            <a:off x="2697480" y="4489703"/>
            <a:ext cx="1508760" cy="118872"/>
          </a:xfrm>
          <a:prstGeom prst="rect">
            <a:avLst/>
          </a:prstGeom>
          <a:noFill/>
        </p:spPr>
        <p:txBody>
          <a:bodyPr wrap="square">
            <a:spAutoFit/>
          </a:bodyPr>
          <a:lstStyle/>
          <a:p>
            <a:pPr algn="r"/>
            <a:r>
              <a:rPr sz="750" b="0" i="0">
                <a:solidFill>
                  <a:srgbClr val="1A2B45"/>
                </a:solidFill>
                <a:latin typeface="Calibri"/>
              </a:rPr>
              <a:t>30,000</a:t>
            </a:r>
          </a:p>
        </p:txBody>
      </p:sp>
      <p:sp>
        <p:nvSpPr>
          <p:cNvPr id="41" name="Rectangle 40"/>
          <p:cNvSpPr/>
          <p:nvPr/>
        </p:nvSpPr>
        <p:spPr>
          <a:xfrm>
            <a:off x="365760" y="4617720"/>
            <a:ext cx="2331720"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697480" y="4617720"/>
            <a:ext cx="1554480"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11480" y="4608575"/>
            <a:ext cx="2286000" cy="118872"/>
          </a:xfrm>
          <a:prstGeom prst="rect">
            <a:avLst/>
          </a:prstGeom>
          <a:noFill/>
        </p:spPr>
        <p:txBody>
          <a:bodyPr wrap="square">
            <a:spAutoFit/>
          </a:bodyPr>
          <a:lstStyle/>
          <a:p>
            <a:pPr algn="l"/>
            <a:r>
              <a:rPr sz="750" b="0" i="0">
                <a:solidFill>
                  <a:srgbClr val="1A2B45"/>
                </a:solidFill>
                <a:latin typeface="Calibri"/>
              </a:rPr>
              <a:t>FTS Bulk Java</a:t>
            </a:r>
          </a:p>
        </p:txBody>
      </p:sp>
      <p:sp>
        <p:nvSpPr>
          <p:cNvPr id="44" name="TextBox 43"/>
          <p:cNvSpPr txBox="1"/>
          <p:nvPr/>
        </p:nvSpPr>
        <p:spPr>
          <a:xfrm>
            <a:off x="2697480" y="4608575"/>
            <a:ext cx="1508760" cy="118872"/>
          </a:xfrm>
          <a:prstGeom prst="rect">
            <a:avLst/>
          </a:prstGeom>
          <a:noFill/>
        </p:spPr>
        <p:txBody>
          <a:bodyPr wrap="square">
            <a:spAutoFit/>
          </a:bodyPr>
          <a:lstStyle/>
          <a:p>
            <a:pPr algn="r"/>
            <a:r>
              <a:rPr sz="750" b="0" i="0">
                <a:solidFill>
                  <a:srgbClr val="1A2B45"/>
                </a:solidFill>
                <a:latin typeface="Calibri"/>
              </a:rPr>
              <a:t>28,000</a:t>
            </a:r>
          </a:p>
        </p:txBody>
      </p:sp>
      <p:sp>
        <p:nvSpPr>
          <p:cNvPr id="45" name="Rectangle 44"/>
          <p:cNvSpPr/>
          <p:nvPr/>
        </p:nvSpPr>
        <p:spPr>
          <a:xfrm>
            <a:off x="4663440" y="777240"/>
            <a:ext cx="4206240" cy="4041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663440" y="777240"/>
            <a:ext cx="4206240" cy="42062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736592" y="804672"/>
            <a:ext cx="4069080" cy="365760"/>
          </a:xfrm>
          <a:prstGeom prst="rect">
            <a:avLst/>
          </a:prstGeom>
          <a:noFill/>
        </p:spPr>
        <p:txBody>
          <a:bodyPr wrap="square">
            <a:spAutoFit/>
          </a:bodyPr>
          <a:lstStyle/>
          <a:p>
            <a:pPr algn="l"/>
            <a:r>
              <a:rPr sz="950" b="1" i="0">
                <a:solidFill>
                  <a:srgbClr val="FFFFFF"/>
                </a:solidFill>
                <a:latin typeface="Calibri"/>
              </a:rPr>
              <a:t>ABL — Integrated Marine &amp; Logistics Operator</a:t>
            </a:r>
          </a:p>
        </p:txBody>
      </p:sp>
      <p:sp>
        <p:nvSpPr>
          <p:cNvPr id="48" name="Rectangle 47"/>
          <p:cNvSpPr/>
          <p:nvPr/>
        </p:nvSpPr>
        <p:spPr>
          <a:xfrm>
            <a:off x="4736592" y="1261872"/>
            <a:ext cx="184708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736592" y="1316736"/>
            <a:ext cx="1847088" cy="492443"/>
          </a:xfrm>
          <a:prstGeom prst="rect">
            <a:avLst/>
          </a:prstGeom>
          <a:noFill/>
        </p:spPr>
        <p:txBody>
          <a:bodyPr wrap="square">
            <a:spAutoFit/>
          </a:bodyPr>
          <a:lstStyle/>
          <a:p>
            <a:pPr algn="ctr"/>
            <a:r>
              <a:rPr lang="en-US" sz="2600" b="1" i="0">
                <a:solidFill>
                  <a:srgbClr val="2563EB"/>
                </a:solidFill>
                <a:latin typeface="Calibri"/>
              </a:rPr>
              <a:t>40</a:t>
            </a:r>
            <a:r>
              <a:rPr sz="2600" b="1" i="0">
                <a:solidFill>
                  <a:srgbClr val="2563EB"/>
                </a:solidFill>
                <a:latin typeface="Calibri"/>
              </a:rPr>
              <a:t> MT</a:t>
            </a:r>
            <a:r>
              <a:rPr lang="en-US" sz="2600" b="1" i="0">
                <a:solidFill>
                  <a:srgbClr val="2563EB"/>
                </a:solidFill>
                <a:latin typeface="Calibri"/>
              </a:rPr>
              <a:t>/yr</a:t>
            </a:r>
            <a:endParaRPr sz="2600" b="1" i="0" dirty="0">
              <a:solidFill>
                <a:srgbClr val="2563EB"/>
              </a:solidFill>
              <a:latin typeface="Calibri"/>
            </a:endParaRPr>
          </a:p>
        </p:txBody>
      </p:sp>
      <p:sp>
        <p:nvSpPr>
          <p:cNvPr id="50" name="TextBox 49"/>
          <p:cNvSpPr txBox="1"/>
          <p:nvPr/>
        </p:nvSpPr>
        <p:spPr>
          <a:xfrm>
            <a:off x="4736592" y="1728581"/>
            <a:ext cx="1847088" cy="305775"/>
          </a:xfrm>
          <a:prstGeom prst="rect">
            <a:avLst/>
          </a:prstGeom>
          <a:noFill/>
        </p:spPr>
        <p:txBody>
          <a:bodyPr wrap="square">
            <a:spAutoFit/>
          </a:bodyPr>
          <a:lstStyle/>
          <a:p>
            <a:pPr algn="ctr"/>
            <a:r>
              <a:rPr sz="850" b="0" i="0">
                <a:solidFill>
                  <a:srgbClr val="475569"/>
                </a:solidFill>
                <a:latin typeface="Calibri"/>
              </a:rPr>
              <a:t>Annual Transshipment</a:t>
            </a:r>
          </a:p>
          <a:p>
            <a:pPr algn="ctr"/>
            <a:r>
              <a:rPr sz="850" b="0" i="0">
                <a:solidFill>
                  <a:srgbClr val="475569"/>
                </a:solidFill>
                <a:latin typeface="Calibri"/>
              </a:rPr>
              <a:t>Throughput</a:t>
            </a:r>
          </a:p>
        </p:txBody>
      </p:sp>
      <p:sp>
        <p:nvSpPr>
          <p:cNvPr id="51" name="Rectangle 50"/>
          <p:cNvSpPr/>
          <p:nvPr/>
        </p:nvSpPr>
        <p:spPr>
          <a:xfrm>
            <a:off x="6656832" y="1261872"/>
            <a:ext cx="184708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656832" y="1316736"/>
            <a:ext cx="1847088" cy="402336"/>
          </a:xfrm>
          <a:prstGeom prst="rect">
            <a:avLst/>
          </a:prstGeom>
          <a:noFill/>
        </p:spPr>
        <p:txBody>
          <a:bodyPr wrap="square">
            <a:spAutoFit/>
          </a:bodyPr>
          <a:lstStyle/>
          <a:p>
            <a:pPr algn="ctr"/>
            <a:r>
              <a:rPr sz="2600" b="1" i="0">
                <a:solidFill>
                  <a:srgbClr val="2563EB"/>
                </a:solidFill>
                <a:latin typeface="Calibri"/>
              </a:rPr>
              <a:t>11 OGVs</a:t>
            </a:r>
          </a:p>
        </p:txBody>
      </p:sp>
      <p:sp>
        <p:nvSpPr>
          <p:cNvPr id="53" name="TextBox 52"/>
          <p:cNvSpPr txBox="1"/>
          <p:nvPr/>
        </p:nvSpPr>
        <p:spPr>
          <a:xfrm>
            <a:off x="6656832" y="1728581"/>
            <a:ext cx="1847088" cy="305775"/>
          </a:xfrm>
          <a:prstGeom prst="rect">
            <a:avLst/>
          </a:prstGeom>
          <a:noFill/>
        </p:spPr>
        <p:txBody>
          <a:bodyPr wrap="square">
            <a:spAutoFit/>
          </a:bodyPr>
          <a:lstStyle/>
          <a:p>
            <a:pPr algn="ctr"/>
            <a:r>
              <a:rPr sz="850" b="0" i="0">
                <a:solidFill>
                  <a:srgbClr val="475569"/>
                </a:solidFill>
                <a:latin typeface="Calibri"/>
              </a:rPr>
              <a:t>Ocean-Going Vessels</a:t>
            </a:r>
          </a:p>
          <a:p>
            <a:pPr algn="ctr"/>
            <a:r>
              <a:rPr sz="850" b="0" i="0">
                <a:solidFill>
                  <a:srgbClr val="475569"/>
                </a:solidFill>
                <a:latin typeface="Calibri"/>
              </a:rPr>
              <a:t>(~76,000 DWT each)</a:t>
            </a:r>
          </a:p>
        </p:txBody>
      </p:sp>
      <p:sp>
        <p:nvSpPr>
          <p:cNvPr id="54" name="Rectangle 53"/>
          <p:cNvSpPr/>
          <p:nvPr/>
        </p:nvSpPr>
        <p:spPr>
          <a:xfrm>
            <a:off x="4736592" y="2139696"/>
            <a:ext cx="184708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736592" y="2194560"/>
            <a:ext cx="1847088" cy="402336"/>
          </a:xfrm>
          <a:prstGeom prst="rect">
            <a:avLst/>
          </a:prstGeom>
          <a:noFill/>
        </p:spPr>
        <p:txBody>
          <a:bodyPr wrap="square">
            <a:spAutoFit/>
          </a:bodyPr>
          <a:lstStyle/>
          <a:p>
            <a:pPr algn="ctr"/>
            <a:r>
              <a:rPr sz="2600" b="1" i="0">
                <a:solidFill>
                  <a:srgbClr val="2563EB"/>
                </a:solidFill>
                <a:latin typeface="Calibri"/>
              </a:rPr>
              <a:t>15 CTS</a:t>
            </a:r>
          </a:p>
        </p:txBody>
      </p:sp>
      <p:sp>
        <p:nvSpPr>
          <p:cNvPr id="56" name="TextBox 55"/>
          <p:cNvSpPr txBox="1"/>
          <p:nvPr/>
        </p:nvSpPr>
        <p:spPr>
          <a:xfrm>
            <a:off x="4736592" y="2606405"/>
            <a:ext cx="1847088" cy="305775"/>
          </a:xfrm>
          <a:prstGeom prst="rect">
            <a:avLst/>
          </a:prstGeom>
          <a:noFill/>
        </p:spPr>
        <p:txBody>
          <a:bodyPr wrap="square">
            <a:spAutoFit/>
          </a:bodyPr>
          <a:lstStyle/>
          <a:p>
            <a:pPr algn="ctr"/>
            <a:r>
              <a:rPr sz="850" b="0" i="0">
                <a:solidFill>
                  <a:srgbClr val="475569"/>
                </a:solidFill>
                <a:latin typeface="Calibri"/>
              </a:rPr>
              <a:t>Cargo Transfer Ships</a:t>
            </a:r>
          </a:p>
          <a:p>
            <a:pPr algn="ctr"/>
            <a:r>
              <a:rPr sz="850" b="0" i="0">
                <a:solidFill>
                  <a:srgbClr val="475569"/>
                </a:solidFill>
                <a:latin typeface="Calibri"/>
              </a:rPr>
              <a:t>(Conveyor &amp; Conventional)</a:t>
            </a:r>
          </a:p>
        </p:txBody>
      </p:sp>
      <p:sp>
        <p:nvSpPr>
          <p:cNvPr id="57" name="Rectangle 56"/>
          <p:cNvSpPr/>
          <p:nvPr/>
        </p:nvSpPr>
        <p:spPr>
          <a:xfrm>
            <a:off x="6656832" y="2139696"/>
            <a:ext cx="184708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656832" y="2194560"/>
            <a:ext cx="1847088" cy="402336"/>
          </a:xfrm>
          <a:prstGeom prst="rect">
            <a:avLst/>
          </a:prstGeom>
          <a:noFill/>
        </p:spPr>
        <p:txBody>
          <a:bodyPr wrap="square">
            <a:spAutoFit/>
          </a:bodyPr>
          <a:lstStyle/>
          <a:p>
            <a:pPr algn="ctr"/>
            <a:r>
              <a:rPr sz="2600" b="1" i="0">
                <a:solidFill>
                  <a:srgbClr val="2563EB"/>
                </a:solidFill>
                <a:latin typeface="Calibri"/>
              </a:rPr>
              <a:t>61 Sets</a:t>
            </a:r>
          </a:p>
        </p:txBody>
      </p:sp>
      <p:sp>
        <p:nvSpPr>
          <p:cNvPr id="59" name="TextBox 58"/>
          <p:cNvSpPr txBox="1"/>
          <p:nvPr/>
        </p:nvSpPr>
        <p:spPr>
          <a:xfrm>
            <a:off x="6656832" y="2606405"/>
            <a:ext cx="1847088" cy="305775"/>
          </a:xfrm>
          <a:prstGeom prst="rect">
            <a:avLst/>
          </a:prstGeom>
          <a:noFill/>
        </p:spPr>
        <p:txBody>
          <a:bodyPr wrap="square">
            <a:spAutoFit/>
          </a:bodyPr>
          <a:lstStyle/>
          <a:p>
            <a:pPr algn="ctr"/>
            <a:r>
              <a:rPr sz="850" b="0" i="0">
                <a:solidFill>
                  <a:srgbClr val="475569"/>
                </a:solidFill>
                <a:latin typeface="Calibri"/>
              </a:rPr>
              <a:t>Tug &amp; Barge Pairs</a:t>
            </a:r>
          </a:p>
          <a:p>
            <a:pPr algn="ctr"/>
            <a:r>
              <a:rPr sz="850" b="0" i="0">
                <a:solidFill>
                  <a:srgbClr val="475569"/>
                </a:solidFill>
                <a:latin typeface="Calibri"/>
              </a:rPr>
              <a:t>Multi-HP Class Fleet</a:t>
            </a:r>
          </a:p>
        </p:txBody>
      </p:sp>
      <p:sp>
        <p:nvSpPr>
          <p:cNvPr id="60" name="Rectangle 59"/>
          <p:cNvSpPr/>
          <p:nvPr/>
        </p:nvSpPr>
        <p:spPr>
          <a:xfrm>
            <a:off x="4736592" y="3017520"/>
            <a:ext cx="184708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736592" y="3072384"/>
            <a:ext cx="1847088" cy="402336"/>
          </a:xfrm>
          <a:prstGeom prst="rect">
            <a:avLst/>
          </a:prstGeom>
          <a:noFill/>
        </p:spPr>
        <p:txBody>
          <a:bodyPr wrap="square">
            <a:spAutoFit/>
          </a:bodyPr>
          <a:lstStyle/>
          <a:p>
            <a:pPr algn="ctr"/>
            <a:r>
              <a:rPr sz="2600" b="1" i="0">
                <a:solidFill>
                  <a:srgbClr val="2563EB"/>
                </a:solidFill>
                <a:latin typeface="Calibri"/>
              </a:rPr>
              <a:t>54 Trains</a:t>
            </a:r>
          </a:p>
        </p:txBody>
      </p:sp>
      <p:sp>
        <p:nvSpPr>
          <p:cNvPr id="62" name="TextBox 61"/>
          <p:cNvSpPr txBox="1"/>
          <p:nvPr/>
        </p:nvSpPr>
        <p:spPr>
          <a:xfrm>
            <a:off x="4736592" y="3484229"/>
            <a:ext cx="1847088" cy="305775"/>
          </a:xfrm>
          <a:prstGeom prst="rect">
            <a:avLst/>
          </a:prstGeom>
          <a:noFill/>
        </p:spPr>
        <p:txBody>
          <a:bodyPr wrap="square">
            <a:spAutoFit/>
          </a:bodyPr>
          <a:lstStyle/>
          <a:p>
            <a:pPr algn="ctr"/>
            <a:r>
              <a:rPr sz="850" b="0" i="0">
                <a:solidFill>
                  <a:srgbClr val="475569"/>
                </a:solidFill>
                <a:latin typeface="Calibri"/>
              </a:rPr>
              <a:t>Rail Sets + 1,596</a:t>
            </a:r>
          </a:p>
          <a:p>
            <a:pPr algn="ctr"/>
            <a:r>
              <a:rPr sz="850" b="0" i="0">
                <a:solidFill>
                  <a:srgbClr val="475569"/>
                </a:solidFill>
                <a:latin typeface="Calibri"/>
              </a:rPr>
              <a:t>Wagons (Inland)</a:t>
            </a:r>
          </a:p>
        </p:txBody>
      </p:sp>
      <p:sp>
        <p:nvSpPr>
          <p:cNvPr id="63" name="Rectangle 62"/>
          <p:cNvSpPr/>
          <p:nvPr/>
        </p:nvSpPr>
        <p:spPr>
          <a:xfrm>
            <a:off x="6656832" y="3017520"/>
            <a:ext cx="1847088" cy="8046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656832" y="3072384"/>
            <a:ext cx="1847088" cy="402336"/>
          </a:xfrm>
          <a:prstGeom prst="rect">
            <a:avLst/>
          </a:prstGeom>
          <a:noFill/>
        </p:spPr>
        <p:txBody>
          <a:bodyPr wrap="square">
            <a:spAutoFit/>
          </a:bodyPr>
          <a:lstStyle/>
          <a:p>
            <a:pPr algn="ctr"/>
            <a:r>
              <a:rPr sz="2600" b="1" i="0">
                <a:solidFill>
                  <a:srgbClr val="2563EB"/>
                </a:solidFill>
                <a:latin typeface="Calibri"/>
              </a:rPr>
              <a:t>14,000+</a:t>
            </a:r>
          </a:p>
        </p:txBody>
      </p:sp>
      <p:sp>
        <p:nvSpPr>
          <p:cNvPr id="65" name="TextBox 64"/>
          <p:cNvSpPr txBox="1"/>
          <p:nvPr/>
        </p:nvSpPr>
        <p:spPr>
          <a:xfrm>
            <a:off x="6656832" y="3484229"/>
            <a:ext cx="1847088" cy="305775"/>
          </a:xfrm>
          <a:prstGeom prst="rect">
            <a:avLst/>
          </a:prstGeom>
          <a:noFill/>
        </p:spPr>
        <p:txBody>
          <a:bodyPr wrap="square">
            <a:spAutoFit/>
          </a:bodyPr>
          <a:lstStyle/>
          <a:p>
            <a:pPr algn="ctr"/>
            <a:r>
              <a:rPr sz="850" b="0" i="0">
                <a:solidFill>
                  <a:srgbClr val="475569"/>
                </a:solidFill>
                <a:latin typeface="Calibri"/>
              </a:rPr>
              <a:t>Containers</a:t>
            </a:r>
          </a:p>
          <a:p>
            <a:pPr algn="ctr"/>
            <a:r>
              <a:rPr sz="850" b="0" i="0">
                <a:solidFill>
                  <a:srgbClr val="475569"/>
                </a:solidFill>
                <a:latin typeface="Calibri"/>
              </a:rPr>
              <a:t>+ 35 Heavy Equipment</a:t>
            </a:r>
          </a:p>
        </p:txBody>
      </p:sp>
      <p:sp>
        <p:nvSpPr>
          <p:cNvPr id="66" name="TextBox 65"/>
          <p:cNvSpPr txBox="1"/>
          <p:nvPr/>
        </p:nvSpPr>
        <p:spPr>
          <a:xfrm>
            <a:off x="4736592" y="3931920"/>
            <a:ext cx="4023360" cy="228600"/>
          </a:xfrm>
          <a:prstGeom prst="rect">
            <a:avLst/>
          </a:prstGeom>
          <a:noFill/>
        </p:spPr>
        <p:txBody>
          <a:bodyPr wrap="square">
            <a:spAutoFit/>
          </a:bodyPr>
          <a:lstStyle/>
          <a:p>
            <a:pPr algn="ctr"/>
            <a:r>
              <a:rPr sz="800" b="1" i="0">
                <a:solidFill>
                  <a:srgbClr val="0D9488"/>
                </a:solidFill>
                <a:latin typeface="Calibri"/>
              </a:rPr>
              <a:t>CTS Loading Rates  |  Conveyor: 40,000–55,000 MT/day  ·  Conventional: 20,000–30,000 MT/day</a:t>
            </a:r>
          </a:p>
        </p:txBody>
      </p:sp>
      <p:sp>
        <p:nvSpPr>
          <p:cNvPr id="67" name="TextBox 66"/>
          <p:cNvSpPr txBox="1"/>
          <p:nvPr/>
        </p:nvSpPr>
        <p:spPr>
          <a:xfrm>
            <a:off x="4736592" y="4187952"/>
            <a:ext cx="4023360" cy="201168"/>
          </a:xfrm>
          <a:prstGeom prst="rect">
            <a:avLst/>
          </a:prstGeom>
          <a:noFill/>
        </p:spPr>
        <p:txBody>
          <a:bodyPr wrap="square">
            <a:spAutoFit/>
          </a:bodyPr>
          <a:lstStyle/>
          <a:p>
            <a:pPr algn="ctr"/>
            <a:r>
              <a:rPr sz="750" b="0" i="1">
                <a:solidFill>
                  <a:srgbClr val="94A3B8"/>
                </a:solidFill>
                <a:latin typeface="Calibri"/>
              </a:rPr>
              <a:t>Berau office: Tanjung Redeb, East Kalimantan — embedded local operations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konsesi">
            <a:extLst>
              <a:ext uri="{FF2B5EF4-FFF2-40B4-BE49-F238E27FC236}">
                <a16:creationId xmlns:a16="http://schemas.microsoft.com/office/drawing/2014/main" id="{3CBB304F-DB4B-AB81-3D30-454F326CD177}"/>
              </a:ext>
            </a:extLst>
          </p:cNvPr>
          <p:cNvPicPr>
            <a:picLocks noChangeAspect="1"/>
          </p:cNvPicPr>
          <p:nvPr/>
        </p:nvPicPr>
        <p:blipFill>
          <a:blip r:embed="rId2"/>
          <a:stretch>
            <a:fillRect/>
          </a:stretch>
        </p:blipFill>
        <p:spPr>
          <a:xfrm>
            <a:off x="0" y="0"/>
            <a:ext cx="9144000" cy="5154310"/>
          </a:xfrm>
          <a:prstGeom prst="rect">
            <a:avLst/>
          </a:prstGeom>
        </p:spPr>
      </p:pic>
    </p:spTree>
    <p:extLst>
      <p:ext uri="{BB962C8B-B14F-4D97-AF65-F5344CB8AC3E}">
        <p14:creationId xmlns:p14="http://schemas.microsoft.com/office/powerpoint/2010/main" val="296895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8412480" cy="475488"/>
          </a:xfrm>
          <a:prstGeom prst="rect">
            <a:avLst/>
          </a:prstGeom>
          <a:noFill/>
        </p:spPr>
        <p:txBody>
          <a:bodyPr wrap="square">
            <a:spAutoFit/>
          </a:bodyPr>
          <a:lstStyle/>
          <a:p>
            <a:pPr algn="l"/>
            <a:r>
              <a:rPr sz="2200" b="1" i="0">
                <a:solidFill>
                  <a:srgbClr val="1A2B45"/>
                </a:solidFill>
                <a:latin typeface="Calibri"/>
              </a:rPr>
              <a:t>Today's Planning Reality — The Challenge</a:t>
            </a:r>
          </a:p>
        </p:txBody>
      </p:sp>
      <p:sp>
        <p:nvSpPr>
          <p:cNvPr id="3" name="Rectangle 2"/>
          <p:cNvSpPr/>
          <p:nvPr/>
        </p:nvSpPr>
        <p:spPr>
          <a:xfrm>
            <a:off x="256032" y="804672"/>
            <a:ext cx="4846320" cy="8778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56032" y="804672"/>
            <a:ext cx="54864" cy="877824"/>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2336" y="859536"/>
            <a:ext cx="4572000" cy="256032"/>
          </a:xfrm>
          <a:prstGeom prst="rect">
            <a:avLst/>
          </a:prstGeom>
          <a:noFill/>
        </p:spPr>
        <p:txBody>
          <a:bodyPr wrap="square">
            <a:spAutoFit/>
          </a:bodyPr>
          <a:lstStyle/>
          <a:p>
            <a:pPr algn="l"/>
            <a:r>
              <a:rPr sz="1100" b="1" i="0">
                <a:solidFill>
                  <a:srgbClr val="1A2B45"/>
                </a:solidFill>
                <a:latin typeface="Calibri"/>
              </a:rPr>
              <a:t>Excel-Based Scheduling</a:t>
            </a:r>
          </a:p>
        </p:txBody>
      </p:sp>
      <p:sp>
        <p:nvSpPr>
          <p:cNvPr id="6" name="TextBox 5"/>
          <p:cNvSpPr txBox="1"/>
          <p:nvPr/>
        </p:nvSpPr>
        <p:spPr>
          <a:xfrm>
            <a:off x="402336" y="1115568"/>
            <a:ext cx="4572000" cy="530352"/>
          </a:xfrm>
          <a:prstGeom prst="rect">
            <a:avLst/>
          </a:prstGeom>
          <a:noFill/>
        </p:spPr>
        <p:txBody>
          <a:bodyPr wrap="square">
            <a:spAutoFit/>
          </a:bodyPr>
          <a:lstStyle/>
          <a:p>
            <a:pPr algn="l"/>
            <a:r>
              <a:rPr sz="900" b="0" i="0">
                <a:solidFill>
                  <a:srgbClr val="475569"/>
                </a:solidFill>
                <a:latin typeface="Calibri"/>
              </a:rPr>
              <a:t>All fleet assignments, jetty queues, tide windows and cargo sequences are manually maintained in spreadsheets. Updates are ad-hoc with no version control or conflict checks.</a:t>
            </a:r>
          </a:p>
        </p:txBody>
      </p:sp>
      <p:sp>
        <p:nvSpPr>
          <p:cNvPr id="7" name="Rectangle 6"/>
          <p:cNvSpPr/>
          <p:nvPr/>
        </p:nvSpPr>
        <p:spPr>
          <a:xfrm>
            <a:off x="256032" y="1773936"/>
            <a:ext cx="4846320" cy="8778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6032" y="1773936"/>
            <a:ext cx="54864" cy="87782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2336" y="1828800"/>
            <a:ext cx="4572000" cy="256032"/>
          </a:xfrm>
          <a:prstGeom prst="rect">
            <a:avLst/>
          </a:prstGeom>
          <a:noFill/>
        </p:spPr>
        <p:txBody>
          <a:bodyPr wrap="square">
            <a:spAutoFit/>
          </a:bodyPr>
          <a:lstStyle/>
          <a:p>
            <a:pPr algn="l"/>
            <a:r>
              <a:rPr sz="1100" b="1" i="0">
                <a:solidFill>
                  <a:srgbClr val="1A2B45"/>
                </a:solidFill>
                <a:latin typeface="Calibri"/>
              </a:rPr>
              <a:t>Data Available, But Siloed</a:t>
            </a:r>
          </a:p>
        </p:txBody>
      </p:sp>
      <p:sp>
        <p:nvSpPr>
          <p:cNvPr id="10" name="TextBox 9"/>
          <p:cNvSpPr txBox="1"/>
          <p:nvPr/>
        </p:nvSpPr>
        <p:spPr>
          <a:xfrm>
            <a:off x="402336" y="2084831"/>
            <a:ext cx="4572000" cy="530352"/>
          </a:xfrm>
          <a:prstGeom prst="rect">
            <a:avLst/>
          </a:prstGeom>
          <a:noFill/>
        </p:spPr>
        <p:txBody>
          <a:bodyPr wrap="square">
            <a:spAutoFit/>
          </a:bodyPr>
          <a:lstStyle/>
          <a:p>
            <a:pPr algn="l"/>
            <a:r>
              <a:rPr sz="900" b="0" i="0">
                <a:solidFill>
                  <a:srgbClr val="475569"/>
                </a:solidFill>
                <a:latin typeface="Calibri"/>
              </a:rPr>
              <a:t>Operational data exists — barge status, OGV ETAs, stockpile levels — but sits in separate files and inboxes. There is no single source of truth across ABL and Berau.</a:t>
            </a:r>
          </a:p>
        </p:txBody>
      </p:sp>
      <p:sp>
        <p:nvSpPr>
          <p:cNvPr id="11" name="Rectangle 10"/>
          <p:cNvSpPr/>
          <p:nvPr/>
        </p:nvSpPr>
        <p:spPr>
          <a:xfrm>
            <a:off x="256032" y="2743200"/>
            <a:ext cx="4846320" cy="8778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6032" y="2743200"/>
            <a:ext cx="54864" cy="87782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2336" y="2798064"/>
            <a:ext cx="4572000" cy="256032"/>
          </a:xfrm>
          <a:prstGeom prst="rect">
            <a:avLst/>
          </a:prstGeom>
          <a:noFill/>
        </p:spPr>
        <p:txBody>
          <a:bodyPr wrap="square">
            <a:spAutoFit/>
          </a:bodyPr>
          <a:lstStyle/>
          <a:p>
            <a:pPr algn="l"/>
            <a:r>
              <a:rPr sz="1100" b="1" i="0">
                <a:solidFill>
                  <a:srgbClr val="1A2B45"/>
                </a:solidFill>
                <a:latin typeface="Calibri"/>
              </a:rPr>
              <a:t>AIS / GPS via Spinergie</a:t>
            </a:r>
          </a:p>
        </p:txBody>
      </p:sp>
      <p:sp>
        <p:nvSpPr>
          <p:cNvPr id="14" name="TextBox 13"/>
          <p:cNvSpPr txBox="1"/>
          <p:nvPr/>
        </p:nvSpPr>
        <p:spPr>
          <a:xfrm>
            <a:off x="402336" y="3054096"/>
            <a:ext cx="4572000" cy="530352"/>
          </a:xfrm>
          <a:prstGeom prst="rect">
            <a:avLst/>
          </a:prstGeom>
          <a:noFill/>
        </p:spPr>
        <p:txBody>
          <a:bodyPr wrap="square">
            <a:spAutoFit/>
          </a:bodyPr>
          <a:lstStyle/>
          <a:p>
            <a:pPr algn="l"/>
            <a:r>
              <a:rPr sz="900" b="0" i="0">
                <a:solidFill>
                  <a:srgbClr val="475569"/>
                </a:solidFill>
                <a:latin typeface="Calibri"/>
              </a:rPr>
              <a:t>Vessel positions are accessible through Spinergie's platform (spinergie.com). However, live signals are not yet wired into the planning workflow, so planned vs actual ETA diverges silently.</a:t>
            </a:r>
          </a:p>
        </p:txBody>
      </p:sp>
      <p:sp>
        <p:nvSpPr>
          <p:cNvPr id="15" name="Rectangle 14"/>
          <p:cNvSpPr/>
          <p:nvPr/>
        </p:nvSpPr>
        <p:spPr>
          <a:xfrm>
            <a:off x="256032" y="3712464"/>
            <a:ext cx="4846320" cy="8778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6032" y="3712464"/>
            <a:ext cx="54864" cy="87782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2336" y="3767328"/>
            <a:ext cx="4572000" cy="256032"/>
          </a:xfrm>
          <a:prstGeom prst="rect">
            <a:avLst/>
          </a:prstGeom>
          <a:noFill/>
        </p:spPr>
        <p:txBody>
          <a:bodyPr wrap="square">
            <a:spAutoFit/>
          </a:bodyPr>
          <a:lstStyle/>
          <a:p>
            <a:pPr algn="l"/>
            <a:r>
              <a:rPr sz="1100" b="1" i="0">
                <a:solidFill>
                  <a:srgbClr val="1A2B45"/>
                </a:solidFill>
                <a:latin typeface="Calibri"/>
              </a:rPr>
              <a:t>Reactive, Not Proactive</a:t>
            </a:r>
          </a:p>
        </p:txBody>
      </p:sp>
      <p:sp>
        <p:nvSpPr>
          <p:cNvPr id="18" name="TextBox 17"/>
          <p:cNvSpPr txBox="1"/>
          <p:nvPr/>
        </p:nvSpPr>
        <p:spPr>
          <a:xfrm>
            <a:off x="402336" y="4023360"/>
            <a:ext cx="4572000" cy="530352"/>
          </a:xfrm>
          <a:prstGeom prst="rect">
            <a:avLst/>
          </a:prstGeom>
          <a:noFill/>
        </p:spPr>
        <p:txBody>
          <a:bodyPr wrap="square">
            <a:spAutoFit/>
          </a:bodyPr>
          <a:lstStyle/>
          <a:p>
            <a:pPr algn="l"/>
            <a:r>
              <a:rPr sz="900" b="0" i="0">
                <a:solidFill>
                  <a:srgbClr val="475569"/>
                </a:solidFill>
                <a:latin typeface="Calibri"/>
              </a:rPr>
              <a:t>Disruptions — tide misses, breakdowns, grade conflicts — are handled ad-hoc via phone and WhatsApp. Recovery depends entirely on individual expertise with no scenario comparison.</a:t>
            </a:r>
          </a:p>
        </p:txBody>
      </p:sp>
      <p:sp>
        <p:nvSpPr>
          <p:cNvPr id="19" name="Rectangle 18"/>
          <p:cNvSpPr/>
          <p:nvPr/>
        </p:nvSpPr>
        <p:spPr>
          <a:xfrm>
            <a:off x="5321808" y="804672"/>
            <a:ext cx="356616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40680" y="868680"/>
            <a:ext cx="3291840" cy="274320"/>
          </a:xfrm>
          <a:prstGeom prst="rect">
            <a:avLst/>
          </a:prstGeom>
          <a:noFill/>
        </p:spPr>
        <p:txBody>
          <a:bodyPr wrap="square">
            <a:spAutoFit/>
          </a:bodyPr>
          <a:lstStyle/>
          <a:p>
            <a:pPr algn="l"/>
            <a:r>
              <a:rPr sz="1050" b="1" i="0">
                <a:solidFill>
                  <a:srgbClr val="1A2B45"/>
                </a:solidFill>
                <a:latin typeface="Calibri"/>
              </a:rPr>
              <a:t>Where Value Leaks Today</a:t>
            </a:r>
          </a:p>
        </p:txBody>
      </p:sp>
      <p:sp>
        <p:nvSpPr>
          <p:cNvPr id="21" name="Rectangle 20"/>
          <p:cNvSpPr/>
          <p:nvPr/>
        </p:nvSpPr>
        <p:spPr>
          <a:xfrm>
            <a:off x="5449824" y="1280160"/>
            <a:ext cx="109728" cy="1097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32704" y="1216152"/>
            <a:ext cx="3154680" cy="274320"/>
          </a:xfrm>
          <a:prstGeom prst="rect">
            <a:avLst/>
          </a:prstGeom>
          <a:noFill/>
        </p:spPr>
        <p:txBody>
          <a:bodyPr wrap="square">
            <a:spAutoFit/>
          </a:bodyPr>
          <a:lstStyle/>
          <a:p>
            <a:pPr algn="l"/>
            <a:r>
              <a:rPr sz="950" b="0" i="0">
                <a:solidFill>
                  <a:srgbClr val="475569"/>
                </a:solidFill>
                <a:latin typeface="Calibri"/>
              </a:rPr>
              <a:t>Missed tide windows</a:t>
            </a:r>
          </a:p>
        </p:txBody>
      </p:sp>
      <p:sp>
        <p:nvSpPr>
          <p:cNvPr id="23" name="Rectangle 22"/>
          <p:cNvSpPr/>
          <p:nvPr/>
        </p:nvSpPr>
        <p:spPr>
          <a:xfrm>
            <a:off x="5449824" y="1591056"/>
            <a:ext cx="109728" cy="1097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32704" y="1527048"/>
            <a:ext cx="3154680" cy="274320"/>
          </a:xfrm>
          <a:prstGeom prst="rect">
            <a:avLst/>
          </a:prstGeom>
          <a:noFill/>
        </p:spPr>
        <p:txBody>
          <a:bodyPr wrap="square">
            <a:spAutoFit/>
          </a:bodyPr>
          <a:lstStyle/>
          <a:p>
            <a:pPr algn="l"/>
            <a:r>
              <a:rPr sz="950" b="0" i="0">
                <a:solidFill>
                  <a:srgbClr val="475569"/>
                </a:solidFill>
                <a:latin typeface="Calibri"/>
              </a:rPr>
              <a:t>Barge queue congestion</a:t>
            </a:r>
          </a:p>
        </p:txBody>
      </p:sp>
      <p:sp>
        <p:nvSpPr>
          <p:cNvPr id="25" name="Rectangle 24"/>
          <p:cNvSpPr/>
          <p:nvPr/>
        </p:nvSpPr>
        <p:spPr>
          <a:xfrm>
            <a:off x="5449824" y="1901952"/>
            <a:ext cx="109728"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32704" y="1837944"/>
            <a:ext cx="3154680" cy="274320"/>
          </a:xfrm>
          <a:prstGeom prst="rect">
            <a:avLst/>
          </a:prstGeom>
          <a:noFill/>
        </p:spPr>
        <p:txBody>
          <a:bodyPr wrap="square">
            <a:spAutoFit/>
          </a:bodyPr>
          <a:lstStyle/>
          <a:p>
            <a:pPr algn="l"/>
            <a:r>
              <a:rPr sz="950" b="0" i="0">
                <a:solidFill>
                  <a:srgbClr val="475569"/>
                </a:solidFill>
                <a:latin typeface="Calibri"/>
              </a:rPr>
              <a:t>Grade sequence errors</a:t>
            </a:r>
          </a:p>
        </p:txBody>
      </p:sp>
      <p:sp>
        <p:nvSpPr>
          <p:cNvPr id="27" name="Rectangle 26"/>
          <p:cNvSpPr/>
          <p:nvPr/>
        </p:nvSpPr>
        <p:spPr>
          <a:xfrm>
            <a:off x="5449824" y="2212848"/>
            <a:ext cx="109728"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32704" y="2148840"/>
            <a:ext cx="3154680" cy="274320"/>
          </a:xfrm>
          <a:prstGeom prst="rect">
            <a:avLst/>
          </a:prstGeom>
          <a:noFill/>
        </p:spPr>
        <p:txBody>
          <a:bodyPr wrap="square">
            <a:spAutoFit/>
          </a:bodyPr>
          <a:lstStyle/>
          <a:p>
            <a:pPr algn="l"/>
            <a:r>
              <a:rPr sz="950" b="0" i="0">
                <a:solidFill>
                  <a:srgbClr val="475569"/>
                </a:solidFill>
                <a:latin typeface="Calibri"/>
              </a:rPr>
              <a:t>CTS underutilisation</a:t>
            </a:r>
          </a:p>
        </p:txBody>
      </p:sp>
      <p:sp>
        <p:nvSpPr>
          <p:cNvPr id="29" name="Rectangle 28"/>
          <p:cNvSpPr/>
          <p:nvPr/>
        </p:nvSpPr>
        <p:spPr>
          <a:xfrm>
            <a:off x="5449824" y="2523744"/>
            <a:ext cx="109728" cy="1097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32704" y="2459736"/>
            <a:ext cx="3154680" cy="274320"/>
          </a:xfrm>
          <a:prstGeom prst="rect">
            <a:avLst/>
          </a:prstGeom>
          <a:noFill/>
        </p:spPr>
        <p:txBody>
          <a:bodyPr wrap="square">
            <a:spAutoFit/>
          </a:bodyPr>
          <a:lstStyle/>
          <a:p>
            <a:pPr algn="l"/>
            <a:r>
              <a:rPr sz="950" b="0" i="0">
                <a:solidFill>
                  <a:srgbClr val="475569"/>
                </a:solidFill>
                <a:latin typeface="Calibri"/>
              </a:rPr>
              <a:t>OGV demurrage exposure</a:t>
            </a:r>
          </a:p>
        </p:txBody>
      </p:sp>
      <p:sp>
        <p:nvSpPr>
          <p:cNvPr id="31" name="Rectangle 30"/>
          <p:cNvSpPr/>
          <p:nvPr/>
        </p:nvSpPr>
        <p:spPr>
          <a:xfrm>
            <a:off x="5449824" y="2834640"/>
            <a:ext cx="109728"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32704" y="2770632"/>
            <a:ext cx="3154680" cy="274320"/>
          </a:xfrm>
          <a:prstGeom prst="rect">
            <a:avLst/>
          </a:prstGeom>
          <a:noFill/>
        </p:spPr>
        <p:txBody>
          <a:bodyPr wrap="square">
            <a:spAutoFit/>
          </a:bodyPr>
          <a:lstStyle/>
          <a:p>
            <a:pPr algn="l"/>
            <a:r>
              <a:rPr sz="950" b="0" i="0">
                <a:solidFill>
                  <a:srgbClr val="475569"/>
                </a:solidFill>
                <a:latin typeface="Calibri"/>
              </a:rPr>
              <a:t>Manual re-scheduling effort</a:t>
            </a:r>
          </a:p>
        </p:txBody>
      </p:sp>
      <p:sp>
        <p:nvSpPr>
          <p:cNvPr id="33" name="Rectangle 32"/>
          <p:cNvSpPr/>
          <p:nvPr/>
        </p:nvSpPr>
        <p:spPr>
          <a:xfrm>
            <a:off x="5449824" y="3145536"/>
            <a:ext cx="109728" cy="1097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632704" y="3081528"/>
            <a:ext cx="3154680" cy="274320"/>
          </a:xfrm>
          <a:prstGeom prst="rect">
            <a:avLst/>
          </a:prstGeom>
          <a:noFill/>
        </p:spPr>
        <p:txBody>
          <a:bodyPr wrap="square">
            <a:spAutoFit/>
          </a:bodyPr>
          <a:lstStyle/>
          <a:p>
            <a:pPr algn="l"/>
            <a:r>
              <a:rPr sz="950" b="0" i="0">
                <a:solidFill>
                  <a:srgbClr val="475569"/>
                </a:solidFill>
                <a:latin typeface="Calibri"/>
              </a:rPr>
              <a:t>No AIS ↔ plan reconciliation</a:t>
            </a:r>
          </a:p>
        </p:txBody>
      </p:sp>
      <p:sp>
        <p:nvSpPr>
          <p:cNvPr id="35" name="Rectangle 34"/>
          <p:cNvSpPr/>
          <p:nvPr/>
        </p:nvSpPr>
        <p:spPr>
          <a:xfrm>
            <a:off x="5449824" y="3456432"/>
            <a:ext cx="109728" cy="10972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632704" y="3392424"/>
            <a:ext cx="3154680" cy="274320"/>
          </a:xfrm>
          <a:prstGeom prst="rect">
            <a:avLst/>
          </a:prstGeom>
          <a:noFill/>
        </p:spPr>
        <p:txBody>
          <a:bodyPr wrap="square">
            <a:spAutoFit/>
          </a:bodyPr>
          <a:lstStyle/>
          <a:p>
            <a:pPr algn="l"/>
            <a:r>
              <a:rPr sz="950" b="0" i="0">
                <a:solidFill>
                  <a:srgbClr val="475569"/>
                </a:solidFill>
                <a:latin typeface="Calibri"/>
              </a:rPr>
              <a:t>Zero scenario versioning</a:t>
            </a:r>
          </a:p>
        </p:txBody>
      </p:sp>
      <p:sp>
        <p:nvSpPr>
          <p:cNvPr id="37" name="Rectangle 36"/>
          <p:cNvSpPr/>
          <p:nvPr/>
        </p:nvSpPr>
        <p:spPr>
          <a:xfrm>
            <a:off x="5321808" y="3877056"/>
            <a:ext cx="3566160" cy="713232"/>
          </a:xfrm>
          <a:prstGeom prst="rect">
            <a:avLst/>
          </a:prstGeom>
          <a:solidFill>
            <a:srgbClr val="E8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394960" y="3904487"/>
            <a:ext cx="3401568" cy="658368"/>
          </a:xfrm>
          <a:prstGeom prst="rect">
            <a:avLst/>
          </a:prstGeom>
          <a:noFill/>
        </p:spPr>
        <p:txBody>
          <a:bodyPr wrap="square">
            <a:spAutoFit/>
          </a:bodyPr>
          <a:lstStyle/>
          <a:p>
            <a:pPr algn="l"/>
            <a:r>
              <a:rPr sz="850" b="0" i="1">
                <a:solidFill>
                  <a:srgbClr val="1A2B45"/>
                </a:solidFill>
                <a:latin typeface="Calibri"/>
              </a:rPr>
              <a:t>Spinergie (spinergie.com) provides real-time AIS/GPS vessel tracking — but this intelligence is not yet connected to the scheduling workflow.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8412480" cy="475488"/>
          </a:xfrm>
          <a:prstGeom prst="rect">
            <a:avLst/>
          </a:prstGeom>
          <a:noFill/>
        </p:spPr>
        <p:txBody>
          <a:bodyPr wrap="square">
            <a:spAutoFit/>
          </a:bodyPr>
          <a:lstStyle/>
          <a:p>
            <a:pPr algn="l"/>
            <a:r>
              <a:rPr sz="2200" b="1" i="0">
                <a:solidFill>
                  <a:srgbClr val="1A2B45"/>
                </a:solidFill>
                <a:latin typeface="Calibri"/>
              </a:rPr>
              <a:t>End-to-End Solution Scope — The Full Chain</a:t>
            </a:r>
          </a:p>
        </p:txBody>
      </p:sp>
      <p:sp>
        <p:nvSpPr>
          <p:cNvPr id="3" name="Rectangle 2"/>
          <p:cNvSpPr/>
          <p:nvPr/>
        </p:nvSpPr>
        <p:spPr>
          <a:xfrm>
            <a:off x="256032" y="932688"/>
            <a:ext cx="1106424" cy="822960"/>
          </a:xfrm>
          <a:prstGeom prst="rect">
            <a:avLst/>
          </a:prstGeom>
          <a:solidFill>
            <a:srgbClr val="3B52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1752" y="978408"/>
            <a:ext cx="1014983" cy="731520"/>
          </a:xfrm>
          <a:prstGeom prst="rect">
            <a:avLst/>
          </a:prstGeom>
          <a:noFill/>
        </p:spPr>
        <p:txBody>
          <a:bodyPr wrap="square">
            <a:spAutoFit/>
          </a:bodyPr>
          <a:lstStyle/>
          <a:p>
            <a:pPr algn="ctr"/>
            <a:r>
              <a:rPr sz="850" b="1" i="0">
                <a:solidFill>
                  <a:srgbClr val="FFFFFF"/>
                </a:solidFill>
                <a:latin typeface="Calibri"/>
              </a:rPr>
              <a:t>Mine /</a:t>
            </a:r>
          </a:p>
          <a:p>
            <a:pPr algn="ctr"/>
            <a:r>
              <a:rPr sz="850" b="1" i="0">
                <a:solidFill>
                  <a:srgbClr val="FFFFFF"/>
                </a:solidFill>
                <a:latin typeface="Calibri"/>
              </a:rPr>
              <a:t>CPP /</a:t>
            </a:r>
          </a:p>
          <a:p>
            <a:pPr algn="ctr"/>
            <a:r>
              <a:rPr sz="850" b="1" i="0">
                <a:solidFill>
                  <a:srgbClr val="FFFFFF"/>
                </a:solidFill>
                <a:latin typeface="Calibri"/>
              </a:rPr>
              <a:t>Stockpile</a:t>
            </a:r>
          </a:p>
        </p:txBody>
      </p:sp>
      <p:sp>
        <p:nvSpPr>
          <p:cNvPr id="5" name="Rectangle 4"/>
          <p:cNvSpPr/>
          <p:nvPr/>
        </p:nvSpPr>
        <p:spPr>
          <a:xfrm>
            <a:off x="1362456" y="1325880"/>
            <a:ext cx="128016"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90472" y="932688"/>
            <a:ext cx="1106424" cy="82296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36192" y="978408"/>
            <a:ext cx="1014983" cy="731520"/>
          </a:xfrm>
          <a:prstGeom prst="rect">
            <a:avLst/>
          </a:prstGeom>
          <a:noFill/>
        </p:spPr>
        <p:txBody>
          <a:bodyPr wrap="square">
            <a:spAutoFit/>
          </a:bodyPr>
          <a:lstStyle/>
          <a:p>
            <a:pPr algn="ctr"/>
            <a:r>
              <a:rPr sz="850" b="1" i="0">
                <a:solidFill>
                  <a:srgbClr val="FFFFFF"/>
                </a:solidFill>
                <a:latin typeface="Calibri"/>
              </a:rPr>
              <a:t>Jetty /</a:t>
            </a:r>
          </a:p>
          <a:p>
            <a:pPr algn="ctr"/>
            <a:r>
              <a:rPr sz="850" b="1" i="0">
                <a:solidFill>
                  <a:srgbClr val="FFFFFF"/>
                </a:solidFill>
                <a:latin typeface="Calibri"/>
              </a:rPr>
              <a:t>BLC</a:t>
            </a:r>
          </a:p>
          <a:p>
            <a:pPr algn="ctr"/>
            <a:r>
              <a:rPr sz="850" b="1" i="0">
                <a:solidFill>
                  <a:srgbClr val="FFFFFF"/>
                </a:solidFill>
                <a:latin typeface="Calibri"/>
              </a:rPr>
              <a:t>Loading</a:t>
            </a:r>
          </a:p>
        </p:txBody>
      </p:sp>
      <p:sp>
        <p:nvSpPr>
          <p:cNvPr id="8" name="Rectangle 7"/>
          <p:cNvSpPr/>
          <p:nvPr/>
        </p:nvSpPr>
        <p:spPr>
          <a:xfrm>
            <a:off x="2596896" y="1325880"/>
            <a:ext cx="128016"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24912" y="932688"/>
            <a:ext cx="1106424"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70632" y="978408"/>
            <a:ext cx="1014983" cy="731520"/>
          </a:xfrm>
          <a:prstGeom prst="rect">
            <a:avLst/>
          </a:prstGeom>
          <a:noFill/>
        </p:spPr>
        <p:txBody>
          <a:bodyPr wrap="square">
            <a:spAutoFit/>
          </a:bodyPr>
          <a:lstStyle/>
          <a:p>
            <a:pPr algn="ctr"/>
            <a:r>
              <a:rPr sz="850" b="1" i="0">
                <a:solidFill>
                  <a:srgbClr val="FFFFFF"/>
                </a:solidFill>
                <a:latin typeface="Calibri"/>
              </a:rPr>
              <a:t>Tug +</a:t>
            </a:r>
          </a:p>
          <a:p>
            <a:pPr algn="ctr"/>
            <a:r>
              <a:rPr sz="850" b="1" i="0">
                <a:solidFill>
                  <a:srgbClr val="FFFFFF"/>
                </a:solidFill>
                <a:latin typeface="Calibri"/>
              </a:rPr>
              <a:t>Barge</a:t>
            </a:r>
          </a:p>
          <a:p>
            <a:pPr algn="ctr"/>
            <a:r>
              <a:rPr sz="850" b="1" i="0">
                <a:solidFill>
                  <a:srgbClr val="FFFFFF"/>
                </a:solidFill>
                <a:latin typeface="Calibri"/>
              </a:rPr>
              <a:t>River Run</a:t>
            </a:r>
          </a:p>
        </p:txBody>
      </p:sp>
      <p:sp>
        <p:nvSpPr>
          <p:cNvPr id="11" name="Rectangle 10"/>
          <p:cNvSpPr/>
          <p:nvPr/>
        </p:nvSpPr>
        <p:spPr>
          <a:xfrm>
            <a:off x="3831336" y="1325880"/>
            <a:ext cx="128016"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959352" y="932688"/>
            <a:ext cx="1106424" cy="8229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05072" y="978408"/>
            <a:ext cx="1014983" cy="731520"/>
          </a:xfrm>
          <a:prstGeom prst="rect">
            <a:avLst/>
          </a:prstGeom>
          <a:noFill/>
        </p:spPr>
        <p:txBody>
          <a:bodyPr wrap="square">
            <a:spAutoFit/>
          </a:bodyPr>
          <a:lstStyle/>
          <a:p>
            <a:pPr algn="ctr"/>
            <a:r>
              <a:rPr sz="850" b="1" i="0">
                <a:solidFill>
                  <a:srgbClr val="FFFFFF"/>
                </a:solidFill>
                <a:latin typeface="Calibri"/>
              </a:rPr>
              <a:t>Tide ·</a:t>
            </a:r>
          </a:p>
          <a:p>
            <a:pPr algn="ctr"/>
            <a:r>
              <a:rPr sz="850" b="1" i="0">
                <a:solidFill>
                  <a:srgbClr val="FFFFFF"/>
                </a:solidFill>
                <a:latin typeface="Calibri"/>
              </a:rPr>
              <a:t>Bridge</a:t>
            </a:r>
          </a:p>
          <a:p>
            <a:pPr algn="ctr"/>
            <a:r>
              <a:rPr sz="850" b="1" i="0">
                <a:solidFill>
                  <a:srgbClr val="FFFFFF"/>
                </a:solidFill>
                <a:latin typeface="Calibri"/>
              </a:rPr>
              <a:t>Windows</a:t>
            </a:r>
          </a:p>
        </p:txBody>
      </p:sp>
      <p:sp>
        <p:nvSpPr>
          <p:cNvPr id="14" name="Rectangle 13"/>
          <p:cNvSpPr/>
          <p:nvPr/>
        </p:nvSpPr>
        <p:spPr>
          <a:xfrm>
            <a:off x="5065776" y="1325880"/>
            <a:ext cx="128016"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193792" y="932688"/>
            <a:ext cx="1106424" cy="822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39512" y="978408"/>
            <a:ext cx="1014983" cy="731520"/>
          </a:xfrm>
          <a:prstGeom prst="rect">
            <a:avLst/>
          </a:prstGeom>
          <a:noFill/>
        </p:spPr>
        <p:txBody>
          <a:bodyPr wrap="square">
            <a:spAutoFit/>
          </a:bodyPr>
          <a:lstStyle/>
          <a:p>
            <a:pPr algn="ctr"/>
            <a:r>
              <a:rPr sz="850" b="1" i="0">
                <a:solidFill>
                  <a:srgbClr val="FFFFFF"/>
                </a:solidFill>
                <a:latin typeface="Calibri"/>
              </a:rPr>
              <a:t>CTS /</a:t>
            </a:r>
          </a:p>
          <a:p>
            <a:pPr algn="ctr"/>
            <a:r>
              <a:rPr sz="850" b="1" i="0">
                <a:solidFill>
                  <a:srgbClr val="FFFFFF"/>
                </a:solidFill>
                <a:latin typeface="Calibri"/>
              </a:rPr>
              <a:t>FTS /</a:t>
            </a:r>
          </a:p>
          <a:p>
            <a:pPr algn="ctr"/>
            <a:r>
              <a:rPr sz="850" b="1" i="0">
                <a:solidFill>
                  <a:srgbClr val="FFFFFF"/>
                </a:solidFill>
                <a:latin typeface="Calibri"/>
              </a:rPr>
              <a:t>Float.Crane</a:t>
            </a:r>
          </a:p>
        </p:txBody>
      </p:sp>
      <p:sp>
        <p:nvSpPr>
          <p:cNvPr id="17" name="Rectangle 16"/>
          <p:cNvSpPr/>
          <p:nvPr/>
        </p:nvSpPr>
        <p:spPr>
          <a:xfrm>
            <a:off x="6300216" y="1325880"/>
            <a:ext cx="128016"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28231" y="932688"/>
            <a:ext cx="1106424" cy="8229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73951" y="978408"/>
            <a:ext cx="1014983" cy="731520"/>
          </a:xfrm>
          <a:prstGeom prst="rect">
            <a:avLst/>
          </a:prstGeom>
          <a:noFill/>
        </p:spPr>
        <p:txBody>
          <a:bodyPr wrap="square">
            <a:spAutoFit/>
          </a:bodyPr>
          <a:lstStyle/>
          <a:p>
            <a:pPr algn="ctr"/>
            <a:r>
              <a:rPr sz="850" b="1" i="0">
                <a:solidFill>
                  <a:srgbClr val="FFFFFF"/>
                </a:solidFill>
                <a:latin typeface="Calibri"/>
              </a:rPr>
              <a:t>OGV</a:t>
            </a:r>
          </a:p>
          <a:p>
            <a:pPr algn="ctr"/>
            <a:r>
              <a:rPr sz="850" b="1" i="0">
                <a:solidFill>
                  <a:srgbClr val="FFFFFF"/>
                </a:solidFill>
                <a:latin typeface="Calibri"/>
              </a:rPr>
              <a:t>Loading</a:t>
            </a:r>
          </a:p>
        </p:txBody>
      </p:sp>
      <p:sp>
        <p:nvSpPr>
          <p:cNvPr id="20" name="Rectangle 19"/>
          <p:cNvSpPr/>
          <p:nvPr/>
        </p:nvSpPr>
        <p:spPr>
          <a:xfrm>
            <a:off x="7534655" y="1325880"/>
            <a:ext cx="128016"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662671" y="932688"/>
            <a:ext cx="1106424" cy="8229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08392" y="978408"/>
            <a:ext cx="1014983" cy="731520"/>
          </a:xfrm>
          <a:prstGeom prst="rect">
            <a:avLst/>
          </a:prstGeom>
          <a:noFill/>
        </p:spPr>
        <p:txBody>
          <a:bodyPr wrap="square">
            <a:spAutoFit/>
          </a:bodyPr>
          <a:lstStyle/>
          <a:p>
            <a:pPr algn="ctr"/>
            <a:r>
              <a:rPr sz="850" b="1" i="0">
                <a:solidFill>
                  <a:srgbClr val="FFFFFF"/>
                </a:solidFill>
                <a:latin typeface="Calibri"/>
              </a:rPr>
              <a:t>Customer</a:t>
            </a:r>
          </a:p>
          <a:p>
            <a:pPr algn="ctr"/>
            <a:r>
              <a:rPr sz="850" b="1" i="0">
                <a:solidFill>
                  <a:srgbClr val="FFFFFF"/>
                </a:solidFill>
                <a:latin typeface="Calibri"/>
              </a:rPr>
              <a:t>Delivery</a:t>
            </a:r>
          </a:p>
        </p:txBody>
      </p:sp>
      <p:sp>
        <p:nvSpPr>
          <p:cNvPr id="23" name="Rectangle 22"/>
          <p:cNvSpPr/>
          <p:nvPr/>
        </p:nvSpPr>
        <p:spPr>
          <a:xfrm>
            <a:off x="256032" y="1874519"/>
            <a:ext cx="1106424" cy="594360"/>
          </a:xfrm>
          <a:prstGeom prst="rect">
            <a:avLst/>
          </a:prstGeom>
          <a:solidFill>
            <a:srgbClr val="E8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6032" y="1874519"/>
            <a:ext cx="1106424" cy="594360"/>
          </a:xfrm>
          <a:prstGeom prst="rect">
            <a:avLst/>
          </a:prstGeom>
          <a:solidFill>
            <a:srgbClr val="E8EDF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608" y="1920239"/>
            <a:ext cx="1033271" cy="502920"/>
          </a:xfrm>
          <a:prstGeom prst="rect">
            <a:avLst/>
          </a:prstGeom>
          <a:noFill/>
        </p:spPr>
        <p:txBody>
          <a:bodyPr wrap="square">
            <a:spAutoFit/>
          </a:bodyPr>
          <a:lstStyle/>
          <a:p>
            <a:pPr algn="ctr"/>
            <a:r>
              <a:rPr sz="750" b="1" i="0">
                <a:solidFill>
                  <a:srgbClr val="1A2B45"/>
                </a:solidFill>
                <a:latin typeface="Calibri"/>
              </a:rPr>
              <a:t>Grade/Brand</a:t>
            </a:r>
          </a:p>
          <a:p>
            <a:pPr algn="ctr"/>
            <a:r>
              <a:rPr sz="750" b="1" i="0">
                <a:solidFill>
                  <a:srgbClr val="1A2B45"/>
                </a:solidFill>
                <a:latin typeface="Calibri"/>
              </a:rPr>
              <a:t>Compatibility</a:t>
            </a:r>
          </a:p>
        </p:txBody>
      </p:sp>
      <p:sp>
        <p:nvSpPr>
          <p:cNvPr id="26" name="Rectangle 25"/>
          <p:cNvSpPr/>
          <p:nvPr/>
        </p:nvSpPr>
        <p:spPr>
          <a:xfrm>
            <a:off x="1490472" y="1874519"/>
            <a:ext cx="1106424" cy="594360"/>
          </a:xfrm>
          <a:prstGeom prst="rect">
            <a:avLst/>
          </a:prstGeom>
          <a:solidFill>
            <a:srgbClr val="E8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490472" y="1874519"/>
            <a:ext cx="1106424" cy="594360"/>
          </a:xfrm>
          <a:prstGeom prst="rect">
            <a:avLst/>
          </a:prstGeom>
          <a:solidFill>
            <a:srgbClr val="E8EDF4"/>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527048" y="1920239"/>
            <a:ext cx="1033271" cy="502920"/>
          </a:xfrm>
          <a:prstGeom prst="rect">
            <a:avLst/>
          </a:prstGeom>
          <a:noFill/>
        </p:spPr>
        <p:txBody>
          <a:bodyPr wrap="square">
            <a:spAutoFit/>
          </a:bodyPr>
          <a:lstStyle/>
          <a:p>
            <a:pPr algn="ctr"/>
            <a:r>
              <a:rPr sz="750" b="1" i="0">
                <a:solidFill>
                  <a:srgbClr val="1A2B45"/>
                </a:solidFill>
                <a:latin typeface="Calibri"/>
              </a:rPr>
              <a:t>Jetty Queue</a:t>
            </a:r>
          </a:p>
          <a:p>
            <a:pPr algn="ctr"/>
            <a:r>
              <a:rPr sz="750" b="1" i="0">
                <a:solidFill>
                  <a:srgbClr val="1A2B45"/>
                </a:solidFill>
                <a:latin typeface="Calibri"/>
              </a:rPr>
              <a:t>&amp; Loader Rate</a:t>
            </a:r>
          </a:p>
        </p:txBody>
      </p:sp>
      <p:sp>
        <p:nvSpPr>
          <p:cNvPr id="29" name="Rectangle 28"/>
          <p:cNvSpPr/>
          <p:nvPr/>
        </p:nvSpPr>
        <p:spPr>
          <a:xfrm>
            <a:off x="2724912" y="1874519"/>
            <a:ext cx="1106424" cy="594360"/>
          </a:xfrm>
          <a:prstGeom prst="rect">
            <a:avLst/>
          </a:prstGeom>
          <a:solidFill>
            <a:srgbClr val="E8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724912" y="1874519"/>
            <a:ext cx="1106424" cy="594360"/>
          </a:xfrm>
          <a:prstGeom prst="rect">
            <a:avLst/>
          </a:prstGeom>
          <a:solidFill>
            <a:srgbClr val="E8EDF4"/>
          </a:solidFill>
          <a:ln w="15240">
            <a:solidFill>
              <a:srgbClr val="1A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61488" y="1920239"/>
            <a:ext cx="1033271" cy="502920"/>
          </a:xfrm>
          <a:prstGeom prst="rect">
            <a:avLst/>
          </a:prstGeom>
          <a:noFill/>
        </p:spPr>
        <p:txBody>
          <a:bodyPr wrap="square">
            <a:spAutoFit/>
          </a:bodyPr>
          <a:lstStyle/>
          <a:p>
            <a:pPr algn="ctr"/>
            <a:r>
              <a:rPr sz="750" b="1" i="0">
                <a:solidFill>
                  <a:srgbClr val="1A2B45"/>
                </a:solidFill>
                <a:latin typeface="Calibri"/>
              </a:rPr>
              <a:t>Tug HP &amp;</a:t>
            </a:r>
          </a:p>
          <a:p>
            <a:pPr algn="ctr"/>
            <a:r>
              <a:rPr sz="750" b="1" i="0">
                <a:solidFill>
                  <a:srgbClr val="1A2B45"/>
                </a:solidFill>
                <a:latin typeface="Calibri"/>
              </a:rPr>
              <a:t>Barge Capacity</a:t>
            </a:r>
          </a:p>
        </p:txBody>
      </p:sp>
      <p:sp>
        <p:nvSpPr>
          <p:cNvPr id="32" name="Rectangle 31"/>
          <p:cNvSpPr/>
          <p:nvPr/>
        </p:nvSpPr>
        <p:spPr>
          <a:xfrm>
            <a:off x="3959352" y="1874519"/>
            <a:ext cx="1106424" cy="594360"/>
          </a:xfrm>
          <a:prstGeom prst="rect">
            <a:avLst/>
          </a:prstGeom>
          <a:solidFill>
            <a:srgbClr val="E8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959352" y="1874519"/>
            <a:ext cx="1106424" cy="594360"/>
          </a:xfrm>
          <a:prstGeom prst="rect">
            <a:avLst/>
          </a:prstGeom>
          <a:solidFill>
            <a:srgbClr val="E8EDF4"/>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995928" y="1920239"/>
            <a:ext cx="1033271" cy="502920"/>
          </a:xfrm>
          <a:prstGeom prst="rect">
            <a:avLst/>
          </a:prstGeom>
          <a:noFill/>
        </p:spPr>
        <p:txBody>
          <a:bodyPr wrap="square">
            <a:spAutoFit/>
          </a:bodyPr>
          <a:lstStyle/>
          <a:p>
            <a:pPr algn="ctr"/>
            <a:r>
              <a:rPr sz="750" b="1" i="0">
                <a:solidFill>
                  <a:srgbClr val="1A2B45"/>
                </a:solidFill>
                <a:latin typeface="Calibri"/>
              </a:rPr>
              <a:t>River Draft</a:t>
            </a:r>
          </a:p>
          <a:p>
            <a:pPr algn="ctr"/>
            <a:r>
              <a:rPr sz="750" b="1" i="0">
                <a:solidFill>
                  <a:srgbClr val="1A2B45"/>
                </a:solidFill>
                <a:latin typeface="Calibri"/>
              </a:rPr>
              <a:t>&amp; Choke Points</a:t>
            </a:r>
          </a:p>
        </p:txBody>
      </p:sp>
      <p:sp>
        <p:nvSpPr>
          <p:cNvPr id="35" name="Rectangle 34"/>
          <p:cNvSpPr/>
          <p:nvPr/>
        </p:nvSpPr>
        <p:spPr>
          <a:xfrm>
            <a:off x="5193792" y="1874519"/>
            <a:ext cx="1106424" cy="594360"/>
          </a:xfrm>
          <a:prstGeom prst="rect">
            <a:avLst/>
          </a:prstGeom>
          <a:solidFill>
            <a:srgbClr val="E8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193792" y="1874519"/>
            <a:ext cx="1106424" cy="594360"/>
          </a:xfrm>
          <a:prstGeom prst="rect">
            <a:avLst/>
          </a:prstGeom>
          <a:solidFill>
            <a:srgbClr val="E8EDF4"/>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30368" y="1920239"/>
            <a:ext cx="1033271" cy="502920"/>
          </a:xfrm>
          <a:prstGeom prst="rect">
            <a:avLst/>
          </a:prstGeom>
          <a:noFill/>
        </p:spPr>
        <p:txBody>
          <a:bodyPr wrap="square">
            <a:spAutoFit/>
          </a:bodyPr>
          <a:lstStyle/>
          <a:p>
            <a:pPr algn="ctr"/>
            <a:r>
              <a:rPr sz="750" b="1" i="0">
                <a:solidFill>
                  <a:srgbClr val="1A2B45"/>
                </a:solidFill>
                <a:latin typeface="Calibri"/>
              </a:rPr>
              <a:t>CTS Type &amp;</a:t>
            </a:r>
          </a:p>
          <a:p>
            <a:pPr algn="ctr"/>
            <a:r>
              <a:rPr sz="750" b="1" i="0">
                <a:solidFill>
                  <a:srgbClr val="1A2B45"/>
                </a:solidFill>
                <a:latin typeface="Calibri"/>
              </a:rPr>
              <a:t>Discharge Rate</a:t>
            </a:r>
          </a:p>
        </p:txBody>
      </p:sp>
      <p:sp>
        <p:nvSpPr>
          <p:cNvPr id="38" name="Rectangle 37"/>
          <p:cNvSpPr/>
          <p:nvPr/>
        </p:nvSpPr>
        <p:spPr>
          <a:xfrm>
            <a:off x="6428231" y="1874519"/>
            <a:ext cx="1106424" cy="594360"/>
          </a:xfrm>
          <a:prstGeom prst="rect">
            <a:avLst/>
          </a:prstGeom>
          <a:solidFill>
            <a:srgbClr val="E8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428231" y="1874519"/>
            <a:ext cx="1106424" cy="594360"/>
          </a:xfrm>
          <a:prstGeom prst="rect">
            <a:avLst/>
          </a:prstGeom>
          <a:solidFill>
            <a:srgbClr val="E8EDF4"/>
          </a:solidFill>
          <a:ln w="1524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64807" y="1920239"/>
            <a:ext cx="1033271" cy="502920"/>
          </a:xfrm>
          <a:prstGeom prst="rect">
            <a:avLst/>
          </a:prstGeom>
          <a:noFill/>
        </p:spPr>
        <p:txBody>
          <a:bodyPr wrap="square">
            <a:spAutoFit/>
          </a:bodyPr>
          <a:lstStyle/>
          <a:p>
            <a:pPr algn="ctr"/>
            <a:r>
              <a:rPr sz="750" b="1" i="0">
                <a:solidFill>
                  <a:srgbClr val="1A2B45"/>
                </a:solidFill>
                <a:latin typeface="Calibri"/>
              </a:rPr>
              <a:t>Hatch Plan &amp;</a:t>
            </a:r>
          </a:p>
          <a:p>
            <a:pPr algn="ctr"/>
            <a:r>
              <a:rPr sz="750" b="1" i="0">
                <a:solidFill>
                  <a:srgbClr val="1A2B45"/>
                </a:solidFill>
                <a:latin typeface="Calibri"/>
              </a:rPr>
              <a:t>Layering Seq.</a:t>
            </a:r>
          </a:p>
        </p:txBody>
      </p:sp>
      <p:sp>
        <p:nvSpPr>
          <p:cNvPr id="41" name="Rectangle 40"/>
          <p:cNvSpPr/>
          <p:nvPr/>
        </p:nvSpPr>
        <p:spPr>
          <a:xfrm>
            <a:off x="7662671" y="1874519"/>
            <a:ext cx="1106424" cy="594360"/>
          </a:xfrm>
          <a:prstGeom prst="rect">
            <a:avLst/>
          </a:prstGeom>
          <a:solidFill>
            <a:srgbClr val="E8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662671" y="1874519"/>
            <a:ext cx="1106424" cy="594360"/>
          </a:xfrm>
          <a:prstGeom prst="rect">
            <a:avLst/>
          </a:prstGeom>
          <a:solidFill>
            <a:srgbClr val="E8EDF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699247" y="1920239"/>
            <a:ext cx="1033271" cy="502920"/>
          </a:xfrm>
          <a:prstGeom prst="rect">
            <a:avLst/>
          </a:prstGeom>
          <a:noFill/>
        </p:spPr>
        <p:txBody>
          <a:bodyPr wrap="square">
            <a:spAutoFit/>
          </a:bodyPr>
          <a:lstStyle/>
          <a:p>
            <a:pPr algn="ctr"/>
            <a:r>
              <a:rPr sz="750" b="1" i="0">
                <a:solidFill>
                  <a:srgbClr val="1A2B45"/>
                </a:solidFill>
                <a:latin typeface="Calibri"/>
              </a:rPr>
              <a:t>Demurrage</a:t>
            </a:r>
          </a:p>
          <a:p>
            <a:pPr algn="ctr"/>
            <a:r>
              <a:rPr sz="750" b="1" i="0">
                <a:solidFill>
                  <a:srgbClr val="1A2B45"/>
                </a:solidFill>
                <a:latin typeface="Calibri"/>
              </a:rPr>
              <a:t>&amp; Priority</a:t>
            </a:r>
          </a:p>
        </p:txBody>
      </p:sp>
      <p:sp>
        <p:nvSpPr>
          <p:cNvPr id="44" name="Rectangle 43"/>
          <p:cNvSpPr/>
          <p:nvPr/>
        </p:nvSpPr>
        <p:spPr>
          <a:xfrm>
            <a:off x="256032" y="2587752"/>
            <a:ext cx="1572768" cy="749808"/>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6032" y="2624328"/>
            <a:ext cx="1572768" cy="320040"/>
          </a:xfrm>
          <a:prstGeom prst="rect">
            <a:avLst/>
          </a:prstGeom>
          <a:noFill/>
        </p:spPr>
        <p:txBody>
          <a:bodyPr wrap="square">
            <a:spAutoFit/>
          </a:bodyPr>
          <a:lstStyle/>
          <a:p>
            <a:pPr algn="ctr"/>
            <a:r>
              <a:rPr sz="1300" b="1" i="0">
                <a:solidFill>
                  <a:srgbClr val="FFFFFF"/>
                </a:solidFill>
                <a:latin typeface="Calibri"/>
              </a:rPr>
              <a:t>PLAN</a:t>
            </a:r>
          </a:p>
        </p:txBody>
      </p:sp>
      <p:sp>
        <p:nvSpPr>
          <p:cNvPr id="46" name="TextBox 45"/>
          <p:cNvSpPr txBox="1"/>
          <p:nvPr/>
        </p:nvSpPr>
        <p:spPr>
          <a:xfrm>
            <a:off x="256032" y="2944368"/>
            <a:ext cx="1572768" cy="347472"/>
          </a:xfrm>
          <a:prstGeom prst="rect">
            <a:avLst/>
          </a:prstGeom>
          <a:noFill/>
        </p:spPr>
        <p:txBody>
          <a:bodyPr wrap="square">
            <a:spAutoFit/>
          </a:bodyPr>
          <a:lstStyle/>
          <a:p>
            <a:pPr algn="ctr"/>
            <a:r>
              <a:rPr sz="800" b="0" i="0">
                <a:solidFill>
                  <a:srgbClr val="FFFFFF"/>
                </a:solidFill>
                <a:latin typeface="Calibri"/>
              </a:rPr>
              <a:t>Demand → fleet</a:t>
            </a:r>
          </a:p>
          <a:p>
            <a:pPr algn="ctr"/>
            <a:r>
              <a:rPr sz="800" b="0" i="0">
                <a:solidFill>
                  <a:srgbClr val="FFFFFF"/>
                </a:solidFill>
                <a:latin typeface="Calibri"/>
              </a:rPr>
              <a:t>assignment</a:t>
            </a:r>
          </a:p>
        </p:txBody>
      </p:sp>
      <p:sp>
        <p:nvSpPr>
          <p:cNvPr id="47" name="Rectangle 46"/>
          <p:cNvSpPr/>
          <p:nvPr/>
        </p:nvSpPr>
        <p:spPr>
          <a:xfrm>
            <a:off x="1956815" y="2587752"/>
            <a:ext cx="1572768"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956815" y="2624328"/>
            <a:ext cx="1572768" cy="320040"/>
          </a:xfrm>
          <a:prstGeom prst="rect">
            <a:avLst/>
          </a:prstGeom>
          <a:noFill/>
        </p:spPr>
        <p:txBody>
          <a:bodyPr wrap="square">
            <a:spAutoFit/>
          </a:bodyPr>
          <a:lstStyle/>
          <a:p>
            <a:pPr algn="ctr"/>
            <a:r>
              <a:rPr sz="1300" b="1" i="0">
                <a:solidFill>
                  <a:srgbClr val="FFFFFF"/>
                </a:solidFill>
                <a:latin typeface="Calibri"/>
              </a:rPr>
              <a:t>SIMULATE</a:t>
            </a:r>
          </a:p>
        </p:txBody>
      </p:sp>
      <p:sp>
        <p:nvSpPr>
          <p:cNvPr id="49" name="TextBox 48"/>
          <p:cNvSpPr txBox="1"/>
          <p:nvPr/>
        </p:nvSpPr>
        <p:spPr>
          <a:xfrm>
            <a:off x="1956815" y="2944368"/>
            <a:ext cx="1572768" cy="347472"/>
          </a:xfrm>
          <a:prstGeom prst="rect">
            <a:avLst/>
          </a:prstGeom>
          <a:noFill/>
        </p:spPr>
        <p:txBody>
          <a:bodyPr wrap="square">
            <a:spAutoFit/>
          </a:bodyPr>
          <a:lstStyle/>
          <a:p>
            <a:pPr algn="ctr"/>
            <a:r>
              <a:rPr sz="800" b="0" i="0">
                <a:solidFill>
                  <a:srgbClr val="FFFFFF"/>
                </a:solidFill>
                <a:latin typeface="Calibri"/>
              </a:rPr>
              <a:t>What-if scenario</a:t>
            </a:r>
          </a:p>
          <a:p>
            <a:pPr algn="ctr"/>
            <a:r>
              <a:rPr sz="800" b="0" i="0">
                <a:solidFill>
                  <a:srgbClr val="FFFFFF"/>
                </a:solidFill>
                <a:latin typeface="Calibri"/>
              </a:rPr>
              <a:t>comparison</a:t>
            </a:r>
          </a:p>
        </p:txBody>
      </p:sp>
      <p:sp>
        <p:nvSpPr>
          <p:cNvPr id="50" name="Rectangle 49"/>
          <p:cNvSpPr/>
          <p:nvPr/>
        </p:nvSpPr>
        <p:spPr>
          <a:xfrm>
            <a:off x="3657600" y="2587752"/>
            <a:ext cx="1572768" cy="7498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657600" y="2624328"/>
            <a:ext cx="1572768" cy="320040"/>
          </a:xfrm>
          <a:prstGeom prst="rect">
            <a:avLst/>
          </a:prstGeom>
          <a:noFill/>
        </p:spPr>
        <p:txBody>
          <a:bodyPr wrap="square">
            <a:spAutoFit/>
          </a:bodyPr>
          <a:lstStyle/>
          <a:p>
            <a:pPr algn="ctr"/>
            <a:r>
              <a:rPr sz="1300" b="1" i="0">
                <a:solidFill>
                  <a:srgbClr val="FFFFFF"/>
                </a:solidFill>
                <a:latin typeface="Calibri"/>
              </a:rPr>
              <a:t>TRACK</a:t>
            </a:r>
          </a:p>
        </p:txBody>
      </p:sp>
      <p:sp>
        <p:nvSpPr>
          <p:cNvPr id="52" name="TextBox 51"/>
          <p:cNvSpPr txBox="1"/>
          <p:nvPr/>
        </p:nvSpPr>
        <p:spPr>
          <a:xfrm>
            <a:off x="3657600" y="2944368"/>
            <a:ext cx="1572768" cy="347472"/>
          </a:xfrm>
          <a:prstGeom prst="rect">
            <a:avLst/>
          </a:prstGeom>
          <a:noFill/>
        </p:spPr>
        <p:txBody>
          <a:bodyPr wrap="square">
            <a:spAutoFit/>
          </a:bodyPr>
          <a:lstStyle/>
          <a:p>
            <a:pPr algn="ctr"/>
            <a:r>
              <a:rPr sz="800" b="0" i="0">
                <a:solidFill>
                  <a:srgbClr val="FFFFFF"/>
                </a:solidFill>
                <a:latin typeface="Calibri"/>
              </a:rPr>
              <a:t>Live AIS/GPS</a:t>
            </a:r>
          </a:p>
          <a:p>
            <a:pPr algn="ctr"/>
            <a:r>
              <a:rPr sz="800" b="0" i="0">
                <a:solidFill>
                  <a:srgbClr val="FFFFFF"/>
                </a:solidFill>
                <a:latin typeface="Calibri"/>
              </a:rPr>
              <a:t>vs planned</a:t>
            </a:r>
          </a:p>
        </p:txBody>
      </p:sp>
      <p:sp>
        <p:nvSpPr>
          <p:cNvPr id="53" name="Rectangle 52"/>
          <p:cNvSpPr/>
          <p:nvPr/>
        </p:nvSpPr>
        <p:spPr>
          <a:xfrm>
            <a:off x="5358384" y="2587752"/>
            <a:ext cx="1572768" cy="74980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358384" y="2624328"/>
            <a:ext cx="1572768" cy="320040"/>
          </a:xfrm>
          <a:prstGeom prst="rect">
            <a:avLst/>
          </a:prstGeom>
          <a:noFill/>
        </p:spPr>
        <p:txBody>
          <a:bodyPr wrap="square">
            <a:spAutoFit/>
          </a:bodyPr>
          <a:lstStyle/>
          <a:p>
            <a:pPr algn="ctr"/>
            <a:r>
              <a:rPr sz="1300" b="1" i="0">
                <a:solidFill>
                  <a:srgbClr val="FFFFFF"/>
                </a:solidFill>
                <a:latin typeface="Calibri"/>
              </a:rPr>
              <a:t>ALERT</a:t>
            </a:r>
          </a:p>
        </p:txBody>
      </p:sp>
      <p:sp>
        <p:nvSpPr>
          <p:cNvPr id="55" name="TextBox 54"/>
          <p:cNvSpPr txBox="1"/>
          <p:nvPr/>
        </p:nvSpPr>
        <p:spPr>
          <a:xfrm>
            <a:off x="5358384" y="2944368"/>
            <a:ext cx="1572768" cy="347472"/>
          </a:xfrm>
          <a:prstGeom prst="rect">
            <a:avLst/>
          </a:prstGeom>
          <a:noFill/>
        </p:spPr>
        <p:txBody>
          <a:bodyPr wrap="square">
            <a:spAutoFit/>
          </a:bodyPr>
          <a:lstStyle/>
          <a:p>
            <a:pPr algn="ctr"/>
            <a:r>
              <a:rPr sz="800" b="0" i="0" dirty="0">
                <a:solidFill>
                  <a:srgbClr val="FFFFFF"/>
                </a:solidFill>
                <a:latin typeface="Calibri"/>
              </a:rPr>
              <a:t>Conflict, delay</a:t>
            </a:r>
          </a:p>
          <a:p>
            <a:pPr algn="ctr"/>
            <a:r>
              <a:rPr sz="800" b="0" i="0" dirty="0">
                <a:solidFill>
                  <a:srgbClr val="FFFFFF"/>
                </a:solidFill>
                <a:latin typeface="Calibri"/>
              </a:rPr>
              <a:t>&amp; risk flags</a:t>
            </a:r>
          </a:p>
        </p:txBody>
      </p:sp>
      <p:sp>
        <p:nvSpPr>
          <p:cNvPr id="56" name="Rectangle 55"/>
          <p:cNvSpPr/>
          <p:nvPr/>
        </p:nvSpPr>
        <p:spPr>
          <a:xfrm>
            <a:off x="7059168" y="2587752"/>
            <a:ext cx="1572768"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059168" y="2624328"/>
            <a:ext cx="1572768" cy="320040"/>
          </a:xfrm>
          <a:prstGeom prst="rect">
            <a:avLst/>
          </a:prstGeom>
          <a:noFill/>
        </p:spPr>
        <p:txBody>
          <a:bodyPr wrap="square">
            <a:spAutoFit/>
          </a:bodyPr>
          <a:lstStyle/>
          <a:p>
            <a:pPr algn="ctr"/>
            <a:r>
              <a:rPr sz="1300" b="1" i="0">
                <a:solidFill>
                  <a:srgbClr val="FFFFFF"/>
                </a:solidFill>
                <a:latin typeface="Calibri"/>
              </a:rPr>
              <a:t>RECOVER</a:t>
            </a:r>
          </a:p>
        </p:txBody>
      </p:sp>
      <p:sp>
        <p:nvSpPr>
          <p:cNvPr id="58" name="TextBox 57"/>
          <p:cNvSpPr txBox="1"/>
          <p:nvPr/>
        </p:nvSpPr>
        <p:spPr>
          <a:xfrm>
            <a:off x="7059168" y="2944368"/>
            <a:ext cx="1572768" cy="347472"/>
          </a:xfrm>
          <a:prstGeom prst="rect">
            <a:avLst/>
          </a:prstGeom>
          <a:noFill/>
        </p:spPr>
        <p:txBody>
          <a:bodyPr wrap="square">
            <a:spAutoFit/>
          </a:bodyPr>
          <a:lstStyle/>
          <a:p>
            <a:pPr algn="ctr"/>
            <a:r>
              <a:rPr sz="800" b="0" i="0">
                <a:solidFill>
                  <a:srgbClr val="FFFFFF"/>
                </a:solidFill>
                <a:latin typeface="Calibri"/>
              </a:rPr>
              <a:t>Re-sequence &amp;</a:t>
            </a:r>
          </a:p>
          <a:p>
            <a:pPr algn="ctr"/>
            <a:r>
              <a:rPr sz="800" b="0" i="0">
                <a:solidFill>
                  <a:srgbClr val="FFFFFF"/>
                </a:solidFill>
                <a:latin typeface="Calibri"/>
              </a:rPr>
              <a:t>optimise</a:t>
            </a:r>
          </a:p>
        </p:txBody>
      </p:sp>
      <p:sp>
        <p:nvSpPr>
          <p:cNvPr id="59" name="Rectangle 58"/>
          <p:cNvSpPr/>
          <p:nvPr/>
        </p:nvSpPr>
        <p:spPr>
          <a:xfrm>
            <a:off x="256032" y="3438144"/>
            <a:ext cx="8631936" cy="365760"/>
          </a:xfrm>
          <a:prstGeom prst="rect">
            <a:avLst/>
          </a:prstGeom>
          <a:solidFill>
            <a:srgbClr val="E8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20040" y="3456432"/>
            <a:ext cx="8503920" cy="329184"/>
          </a:xfrm>
          <a:prstGeom prst="rect">
            <a:avLst/>
          </a:prstGeom>
          <a:noFill/>
        </p:spPr>
        <p:txBody>
          <a:bodyPr wrap="square">
            <a:spAutoFit/>
          </a:bodyPr>
          <a:lstStyle/>
          <a:p>
            <a:pPr algn="ctr"/>
            <a:r>
              <a:rPr sz="750" b="0" i="0">
                <a:solidFill>
                  <a:srgbClr val="1A2B45"/>
                </a:solidFill>
                <a:latin typeface="Calibri"/>
              </a:rPr>
              <a:t>Planning Objects:  OGV Voyage  ·  Cargo Grade/Qty  ·  Mine/CPP/Stockpile  ·  Jetty/BLC  ·  Tug  ·  Barge  ·  CTS/FTS/FC  ·  River Route  ·  Tide/Bridge Window  ·  Live Position  ·  Operational Event  ·  Simulation Scenario</a:t>
            </a:r>
          </a:p>
        </p:txBody>
      </p:sp>
      <p:sp>
        <p:nvSpPr>
          <p:cNvPr id="61" name="TextBox 60"/>
          <p:cNvSpPr txBox="1"/>
          <p:nvPr/>
        </p:nvSpPr>
        <p:spPr>
          <a:xfrm>
            <a:off x="256032" y="3913632"/>
            <a:ext cx="1097280" cy="237744"/>
          </a:xfrm>
          <a:prstGeom prst="rect">
            <a:avLst/>
          </a:prstGeom>
          <a:noFill/>
        </p:spPr>
        <p:txBody>
          <a:bodyPr wrap="square">
            <a:spAutoFit/>
          </a:bodyPr>
          <a:lstStyle/>
          <a:p>
            <a:pPr algn="l"/>
            <a:r>
              <a:rPr sz="750" b="1" i="0">
                <a:solidFill>
                  <a:srgbClr val="475569"/>
                </a:solidFill>
                <a:latin typeface="Calibri"/>
              </a:rPr>
              <a:t>State:</a:t>
            </a:r>
          </a:p>
        </p:txBody>
      </p:sp>
      <p:sp>
        <p:nvSpPr>
          <p:cNvPr id="62" name="Rectangle 61"/>
          <p:cNvSpPr/>
          <p:nvPr/>
        </p:nvSpPr>
        <p:spPr>
          <a:xfrm>
            <a:off x="1325880" y="3922776"/>
            <a:ext cx="1481328" cy="21945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325880" y="3931920"/>
            <a:ext cx="1481328" cy="201168"/>
          </a:xfrm>
          <a:prstGeom prst="rect">
            <a:avLst/>
          </a:prstGeom>
          <a:noFill/>
        </p:spPr>
        <p:txBody>
          <a:bodyPr wrap="square">
            <a:spAutoFit/>
          </a:bodyPr>
          <a:lstStyle/>
          <a:p>
            <a:pPr algn="ctr"/>
            <a:r>
              <a:rPr sz="700" b="1" i="0">
                <a:solidFill>
                  <a:srgbClr val="FFFFFF"/>
                </a:solidFill>
                <a:latin typeface="Calibri"/>
              </a:rPr>
              <a:t>PLANNED</a:t>
            </a:r>
          </a:p>
        </p:txBody>
      </p:sp>
      <p:sp>
        <p:nvSpPr>
          <p:cNvPr id="64" name="Rectangle 63"/>
          <p:cNvSpPr/>
          <p:nvPr/>
        </p:nvSpPr>
        <p:spPr>
          <a:xfrm>
            <a:off x="2843784" y="3922776"/>
            <a:ext cx="1481328" cy="21945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843784" y="3931920"/>
            <a:ext cx="1481328" cy="201168"/>
          </a:xfrm>
          <a:prstGeom prst="rect">
            <a:avLst/>
          </a:prstGeom>
          <a:noFill/>
        </p:spPr>
        <p:txBody>
          <a:bodyPr wrap="square">
            <a:spAutoFit/>
          </a:bodyPr>
          <a:lstStyle/>
          <a:p>
            <a:pPr algn="ctr"/>
            <a:r>
              <a:rPr sz="700" b="1" i="0">
                <a:solidFill>
                  <a:srgbClr val="FFFFFF"/>
                </a:solidFill>
                <a:latin typeface="Calibri"/>
              </a:rPr>
              <a:t>LIVE / AIS</a:t>
            </a:r>
          </a:p>
        </p:txBody>
      </p:sp>
      <p:sp>
        <p:nvSpPr>
          <p:cNvPr id="66" name="Rectangle 65"/>
          <p:cNvSpPr/>
          <p:nvPr/>
        </p:nvSpPr>
        <p:spPr>
          <a:xfrm>
            <a:off x="4361688" y="3922776"/>
            <a:ext cx="1481328"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361688" y="3931920"/>
            <a:ext cx="1481328" cy="201168"/>
          </a:xfrm>
          <a:prstGeom prst="rect">
            <a:avLst/>
          </a:prstGeom>
          <a:noFill/>
        </p:spPr>
        <p:txBody>
          <a:bodyPr wrap="square">
            <a:spAutoFit/>
          </a:bodyPr>
          <a:lstStyle/>
          <a:p>
            <a:pPr algn="ctr"/>
            <a:r>
              <a:rPr sz="700" b="1" i="0">
                <a:solidFill>
                  <a:srgbClr val="FFFFFF"/>
                </a:solidFill>
                <a:latin typeface="Calibri"/>
              </a:rPr>
              <a:t>CONFIRMED</a:t>
            </a:r>
          </a:p>
        </p:txBody>
      </p:sp>
      <p:sp>
        <p:nvSpPr>
          <p:cNvPr id="68" name="Rectangle 67"/>
          <p:cNvSpPr/>
          <p:nvPr/>
        </p:nvSpPr>
        <p:spPr>
          <a:xfrm>
            <a:off x="5879592" y="3922776"/>
            <a:ext cx="1481328" cy="21945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879592" y="3931920"/>
            <a:ext cx="1481328" cy="201168"/>
          </a:xfrm>
          <a:prstGeom prst="rect">
            <a:avLst/>
          </a:prstGeom>
          <a:noFill/>
        </p:spPr>
        <p:txBody>
          <a:bodyPr wrap="square">
            <a:spAutoFit/>
          </a:bodyPr>
          <a:lstStyle/>
          <a:p>
            <a:pPr algn="ctr"/>
            <a:r>
              <a:rPr sz="700" b="1" i="0">
                <a:solidFill>
                  <a:srgbClr val="FFFFFF"/>
                </a:solidFill>
                <a:latin typeface="Calibri"/>
              </a:rPr>
              <a:t>INFERRED</a:t>
            </a:r>
          </a:p>
        </p:txBody>
      </p:sp>
      <p:sp>
        <p:nvSpPr>
          <p:cNvPr id="70" name="Rectangle 69"/>
          <p:cNvSpPr/>
          <p:nvPr/>
        </p:nvSpPr>
        <p:spPr>
          <a:xfrm>
            <a:off x="7397496" y="3922776"/>
            <a:ext cx="1481328" cy="21945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397496" y="3931920"/>
            <a:ext cx="1481328" cy="201168"/>
          </a:xfrm>
          <a:prstGeom prst="rect">
            <a:avLst/>
          </a:prstGeom>
          <a:noFill/>
        </p:spPr>
        <p:txBody>
          <a:bodyPr wrap="square">
            <a:spAutoFit/>
          </a:bodyPr>
          <a:lstStyle/>
          <a:p>
            <a:pPr algn="ctr"/>
            <a:r>
              <a:rPr sz="700" b="1" i="0">
                <a:solidFill>
                  <a:srgbClr val="FFFFFF"/>
                </a:solidFill>
                <a:latin typeface="Calibri"/>
              </a:rPr>
              <a:t>RECOMMENDED</a:t>
            </a:r>
          </a:p>
        </p:txBody>
      </p:sp>
      <p:sp>
        <p:nvSpPr>
          <p:cNvPr id="72" name="Rectangle 71" hidden="1">
            <a:extLst>
              <a:ext uri="{FF2B5EF4-FFF2-40B4-BE49-F238E27FC236}">
                <a16:creationId xmlns:a16="http://schemas.microsoft.com/office/drawing/2014/main" id="{D2AD9702-AF92-F9FA-D7FB-92518CF069E2}"/>
              </a:ext>
            </a:extLst>
          </p:cNvPr>
          <p:cNvSpPr/>
          <p:nvPr/>
        </p:nvSpPr>
        <p:spPr>
          <a:xfrm>
            <a:off x="104931" y="2571750"/>
            <a:ext cx="8881672" cy="1947784"/>
          </a:xfrm>
          <a:prstGeom prst="rect">
            <a:avLst/>
          </a:prstGeom>
          <a:solidFill>
            <a:srgbClr val="F7F9FC"/>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8412480" cy="475488"/>
          </a:xfrm>
          <a:prstGeom prst="rect">
            <a:avLst/>
          </a:prstGeom>
          <a:noFill/>
        </p:spPr>
        <p:txBody>
          <a:bodyPr wrap="square">
            <a:spAutoFit/>
          </a:bodyPr>
          <a:lstStyle/>
          <a:p>
            <a:pPr algn="l"/>
            <a:r>
              <a:rPr sz="2200" b="1" i="0">
                <a:solidFill>
                  <a:srgbClr val="1A2B45"/>
                </a:solidFill>
                <a:latin typeface="Calibri"/>
              </a:rPr>
              <a:t>Product Roadmap — Building in Layers</a:t>
            </a:r>
          </a:p>
        </p:txBody>
      </p:sp>
      <p:sp>
        <p:nvSpPr>
          <p:cNvPr id="3" name="Rectangle 2"/>
          <p:cNvSpPr/>
          <p:nvPr/>
        </p:nvSpPr>
        <p:spPr>
          <a:xfrm>
            <a:off x="256032" y="777240"/>
            <a:ext cx="2798064"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56032" y="777240"/>
            <a:ext cx="2798064" cy="475488"/>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 y="850392"/>
            <a:ext cx="777240" cy="347472"/>
          </a:xfrm>
          <a:prstGeom prst="rect">
            <a:avLst/>
          </a:prstGeom>
          <a:noFill/>
        </p:spPr>
        <p:txBody>
          <a:bodyPr wrap="square">
            <a:spAutoFit/>
          </a:bodyPr>
          <a:lstStyle/>
          <a:p>
            <a:pPr algn="l"/>
            <a:r>
              <a:rPr sz="1100" b="1" i="0">
                <a:solidFill>
                  <a:srgbClr val="FFFFFF"/>
                </a:solidFill>
                <a:latin typeface="Calibri"/>
              </a:rPr>
              <a:t>Phase 1</a:t>
            </a:r>
          </a:p>
        </p:txBody>
      </p:sp>
      <p:sp>
        <p:nvSpPr>
          <p:cNvPr id="6" name="TextBox 5"/>
          <p:cNvSpPr txBox="1"/>
          <p:nvPr/>
        </p:nvSpPr>
        <p:spPr>
          <a:xfrm>
            <a:off x="1170432" y="850392"/>
            <a:ext cx="1792224" cy="384721"/>
          </a:xfrm>
          <a:prstGeom prst="rect">
            <a:avLst/>
          </a:prstGeom>
          <a:noFill/>
        </p:spPr>
        <p:txBody>
          <a:bodyPr wrap="square">
            <a:spAutoFit/>
          </a:bodyPr>
          <a:lstStyle/>
          <a:p>
            <a:pPr algn="l"/>
            <a:r>
              <a:rPr lang="en-US" sz="950" b="0" i="0" dirty="0">
                <a:solidFill>
                  <a:srgbClr val="FFFFFF"/>
                </a:solidFill>
                <a:latin typeface="Calibri"/>
              </a:rPr>
              <a:t>Collaborative Schedulin</a:t>
            </a:r>
            <a:r>
              <a:rPr lang="en-US" sz="950" dirty="0">
                <a:solidFill>
                  <a:srgbClr val="FFFFFF"/>
                </a:solidFill>
                <a:latin typeface="Calibri"/>
              </a:rPr>
              <a:t>g Architecture</a:t>
            </a:r>
            <a:endParaRPr sz="950" b="0" i="0" dirty="0">
              <a:solidFill>
                <a:srgbClr val="FFFFFF"/>
              </a:solidFill>
              <a:latin typeface="Calibri"/>
            </a:endParaRPr>
          </a:p>
        </p:txBody>
      </p:sp>
      <p:sp>
        <p:nvSpPr>
          <p:cNvPr id="7" name="TextBox 6"/>
          <p:cNvSpPr txBox="1"/>
          <p:nvPr/>
        </p:nvSpPr>
        <p:spPr>
          <a:xfrm>
            <a:off x="256032" y="1298448"/>
            <a:ext cx="2798064" cy="228600"/>
          </a:xfrm>
          <a:prstGeom prst="rect">
            <a:avLst/>
          </a:prstGeom>
          <a:noFill/>
        </p:spPr>
        <p:txBody>
          <a:bodyPr wrap="square">
            <a:spAutoFit/>
          </a:bodyPr>
          <a:lstStyle/>
          <a:p>
            <a:pPr algn="ctr"/>
            <a:r>
              <a:rPr sz="800" b="1" i="0">
                <a:solidFill>
                  <a:srgbClr val="0D9488"/>
                </a:solidFill>
                <a:latin typeface="Calibri"/>
              </a:rPr>
              <a:t>Now → Month 3</a:t>
            </a:r>
          </a:p>
        </p:txBody>
      </p:sp>
      <p:sp>
        <p:nvSpPr>
          <p:cNvPr id="8" name="TextBox 7"/>
          <p:cNvSpPr txBox="1"/>
          <p:nvPr/>
        </p:nvSpPr>
        <p:spPr>
          <a:xfrm>
            <a:off x="365760" y="1581912"/>
            <a:ext cx="2615184" cy="1377300"/>
          </a:xfrm>
          <a:prstGeom prst="rect">
            <a:avLst/>
          </a:prstGeom>
          <a:noFill/>
        </p:spPr>
        <p:txBody>
          <a:bodyPr wrap="square">
            <a:spAutoFit/>
          </a:bodyPr>
          <a:lstStyle/>
          <a:p>
            <a:pPr marL="180000" indent="-180000">
              <a:spcAft>
                <a:spcPts val="300"/>
              </a:spcAft>
              <a:buChar char="•"/>
            </a:pPr>
            <a:r>
              <a:rPr sz="1050" dirty="0">
                <a:solidFill>
                  <a:srgbClr val="475569"/>
                </a:solidFill>
                <a:latin typeface="Calibri"/>
              </a:rPr>
              <a:t>Master data model (fleet, jetty, CTS, routes, grades)</a:t>
            </a:r>
          </a:p>
          <a:p>
            <a:pPr marL="180000" indent="-180000">
              <a:spcAft>
                <a:spcPts val="300"/>
              </a:spcAft>
              <a:buChar char="•"/>
            </a:pPr>
            <a:r>
              <a:rPr sz="1050" dirty="0">
                <a:solidFill>
                  <a:srgbClr val="475569"/>
                </a:solidFill>
                <a:latin typeface="Calibri"/>
              </a:rPr>
              <a:t>Manual OGV demand &amp; fleet availability input</a:t>
            </a:r>
          </a:p>
          <a:p>
            <a:pPr marL="180000" indent="-180000">
              <a:spcAft>
                <a:spcPts val="300"/>
              </a:spcAft>
              <a:buChar char="•"/>
            </a:pPr>
            <a:r>
              <a:rPr sz="1050" dirty="0">
                <a:solidFill>
                  <a:srgbClr val="475569"/>
                </a:solidFill>
                <a:latin typeface="Calibri"/>
              </a:rPr>
              <a:t>Tide/bridge calendar entry</a:t>
            </a:r>
          </a:p>
          <a:p>
            <a:pPr marL="180000" indent="-180000">
              <a:spcAft>
                <a:spcPts val="300"/>
              </a:spcAft>
              <a:buChar char="•"/>
            </a:pPr>
            <a:r>
              <a:rPr sz="1050" dirty="0">
                <a:solidFill>
                  <a:srgbClr val="475569"/>
                </a:solidFill>
                <a:latin typeface="Calibri"/>
              </a:rPr>
              <a:t>Feasible schedule board (Gantt-style)</a:t>
            </a:r>
          </a:p>
          <a:p>
            <a:pPr marL="180000" indent="-180000">
              <a:spcAft>
                <a:spcPts val="300"/>
              </a:spcAft>
              <a:buChar char="•"/>
            </a:pPr>
            <a:r>
              <a:rPr sz="1050" dirty="0">
                <a:solidFill>
                  <a:srgbClr val="475569"/>
                </a:solidFill>
                <a:latin typeface="Calibri"/>
              </a:rPr>
              <a:t>Constraint conflict checklist</a:t>
            </a:r>
          </a:p>
        </p:txBody>
      </p:sp>
      <p:sp>
        <p:nvSpPr>
          <p:cNvPr id="9" name="Rectangle 8"/>
          <p:cNvSpPr/>
          <p:nvPr/>
        </p:nvSpPr>
        <p:spPr>
          <a:xfrm>
            <a:off x="3200400" y="777240"/>
            <a:ext cx="2798064"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0" y="777240"/>
            <a:ext cx="2798064" cy="4754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91840" y="850392"/>
            <a:ext cx="777240" cy="347472"/>
          </a:xfrm>
          <a:prstGeom prst="rect">
            <a:avLst/>
          </a:prstGeom>
          <a:noFill/>
        </p:spPr>
        <p:txBody>
          <a:bodyPr wrap="square">
            <a:spAutoFit/>
          </a:bodyPr>
          <a:lstStyle/>
          <a:p>
            <a:pPr algn="l"/>
            <a:r>
              <a:rPr sz="1100" b="1" i="0">
                <a:solidFill>
                  <a:srgbClr val="FFFFFF"/>
                </a:solidFill>
                <a:latin typeface="Calibri"/>
              </a:rPr>
              <a:t>Phase 2</a:t>
            </a:r>
          </a:p>
        </p:txBody>
      </p:sp>
      <p:sp>
        <p:nvSpPr>
          <p:cNvPr id="12" name="TextBox 11"/>
          <p:cNvSpPr txBox="1"/>
          <p:nvPr/>
        </p:nvSpPr>
        <p:spPr>
          <a:xfrm>
            <a:off x="4114800" y="850392"/>
            <a:ext cx="1792224" cy="347472"/>
          </a:xfrm>
          <a:prstGeom prst="rect">
            <a:avLst/>
          </a:prstGeom>
          <a:noFill/>
        </p:spPr>
        <p:txBody>
          <a:bodyPr wrap="square">
            <a:spAutoFit/>
          </a:bodyPr>
          <a:lstStyle/>
          <a:p>
            <a:pPr algn="l"/>
            <a:r>
              <a:rPr sz="950" b="0" i="0">
                <a:solidFill>
                  <a:srgbClr val="FFFFFF"/>
                </a:solidFill>
                <a:latin typeface="Calibri"/>
              </a:rPr>
              <a:t>Simulation &amp; Scenario Planning</a:t>
            </a:r>
          </a:p>
        </p:txBody>
      </p:sp>
      <p:sp>
        <p:nvSpPr>
          <p:cNvPr id="13" name="TextBox 12"/>
          <p:cNvSpPr txBox="1"/>
          <p:nvPr/>
        </p:nvSpPr>
        <p:spPr>
          <a:xfrm>
            <a:off x="3200400" y="1298448"/>
            <a:ext cx="2798064" cy="228600"/>
          </a:xfrm>
          <a:prstGeom prst="rect">
            <a:avLst/>
          </a:prstGeom>
          <a:noFill/>
        </p:spPr>
        <p:txBody>
          <a:bodyPr wrap="square">
            <a:spAutoFit/>
          </a:bodyPr>
          <a:lstStyle/>
          <a:p>
            <a:pPr algn="ctr"/>
            <a:r>
              <a:rPr sz="800" b="1" i="0">
                <a:solidFill>
                  <a:srgbClr val="0D9488"/>
                </a:solidFill>
                <a:latin typeface="Calibri"/>
              </a:rPr>
              <a:t>Month 4–7</a:t>
            </a:r>
          </a:p>
        </p:txBody>
      </p:sp>
      <p:sp>
        <p:nvSpPr>
          <p:cNvPr id="14" name="TextBox 13"/>
          <p:cNvSpPr txBox="1"/>
          <p:nvPr/>
        </p:nvSpPr>
        <p:spPr>
          <a:xfrm>
            <a:off x="3310128" y="1581912"/>
            <a:ext cx="2615184" cy="1700466"/>
          </a:xfrm>
          <a:prstGeom prst="rect">
            <a:avLst/>
          </a:prstGeom>
          <a:noFill/>
        </p:spPr>
        <p:txBody>
          <a:bodyPr wrap="square">
            <a:spAutoFit/>
          </a:bodyPr>
          <a:lstStyle/>
          <a:p>
            <a:pPr marL="180000" indent="-180000">
              <a:spcAft>
                <a:spcPts val="300"/>
              </a:spcAft>
              <a:buChar char="•"/>
            </a:pPr>
            <a:r>
              <a:rPr sz="1050" dirty="0">
                <a:solidFill>
                  <a:srgbClr val="475569"/>
                </a:solidFill>
                <a:latin typeface="Calibri"/>
              </a:rPr>
              <a:t>What-if disruption engine (breakdown, delay)</a:t>
            </a:r>
          </a:p>
          <a:p>
            <a:pPr marL="180000" indent="-180000">
              <a:spcAft>
                <a:spcPts val="300"/>
              </a:spcAft>
              <a:buChar char="•"/>
            </a:pPr>
            <a:r>
              <a:rPr sz="1050" dirty="0">
                <a:solidFill>
                  <a:srgbClr val="475569"/>
                </a:solidFill>
                <a:latin typeface="Calibri"/>
              </a:rPr>
              <a:t>OGV completion projection &amp; demurrage risk</a:t>
            </a:r>
          </a:p>
          <a:p>
            <a:pPr marL="180000" indent="-180000">
              <a:spcAft>
                <a:spcPts val="300"/>
              </a:spcAft>
              <a:buChar char="•"/>
            </a:pPr>
            <a:r>
              <a:rPr sz="1050" dirty="0">
                <a:solidFill>
                  <a:srgbClr val="475569"/>
                </a:solidFill>
                <a:latin typeface="Calibri"/>
              </a:rPr>
              <a:t>Asset </a:t>
            </a:r>
            <a:r>
              <a:rPr sz="1050" dirty="0" err="1">
                <a:solidFill>
                  <a:srgbClr val="475569"/>
                </a:solidFill>
                <a:latin typeface="Calibri"/>
              </a:rPr>
              <a:t>utilisation</a:t>
            </a:r>
            <a:r>
              <a:rPr sz="1050" dirty="0">
                <a:solidFill>
                  <a:srgbClr val="475569"/>
                </a:solidFill>
                <a:latin typeface="Calibri"/>
              </a:rPr>
              <a:t> reports (idle / active / waiting)</a:t>
            </a:r>
          </a:p>
          <a:p>
            <a:pPr marL="180000" indent="-180000">
              <a:spcAft>
                <a:spcPts val="300"/>
              </a:spcAft>
              <a:buChar char="•"/>
            </a:pPr>
            <a:r>
              <a:rPr sz="1050" dirty="0">
                <a:solidFill>
                  <a:srgbClr val="475569"/>
                </a:solidFill>
                <a:latin typeface="Calibri"/>
              </a:rPr>
              <a:t>Version comparison (baseline vs recovery)</a:t>
            </a:r>
          </a:p>
          <a:p>
            <a:pPr marL="180000" indent="-180000">
              <a:spcAft>
                <a:spcPts val="300"/>
              </a:spcAft>
              <a:buChar char="•"/>
            </a:pPr>
            <a:r>
              <a:rPr sz="1050" dirty="0">
                <a:solidFill>
                  <a:srgbClr val="475569"/>
                </a:solidFill>
                <a:latin typeface="Calibri"/>
              </a:rPr>
              <a:t>Manual override with full audit trail</a:t>
            </a:r>
          </a:p>
        </p:txBody>
      </p:sp>
      <p:sp>
        <p:nvSpPr>
          <p:cNvPr id="15" name="Rectangle 14"/>
          <p:cNvSpPr/>
          <p:nvPr/>
        </p:nvSpPr>
        <p:spPr>
          <a:xfrm>
            <a:off x="6144768" y="777240"/>
            <a:ext cx="2798064"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44768" y="777240"/>
            <a:ext cx="2798064"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36208" y="850392"/>
            <a:ext cx="777240" cy="347472"/>
          </a:xfrm>
          <a:prstGeom prst="rect">
            <a:avLst/>
          </a:prstGeom>
          <a:noFill/>
        </p:spPr>
        <p:txBody>
          <a:bodyPr wrap="square">
            <a:spAutoFit/>
          </a:bodyPr>
          <a:lstStyle/>
          <a:p>
            <a:pPr algn="l"/>
            <a:r>
              <a:rPr sz="1100" b="1" i="0">
                <a:solidFill>
                  <a:srgbClr val="FFFFFF"/>
                </a:solidFill>
                <a:latin typeface="Calibri"/>
              </a:rPr>
              <a:t>Phase 3</a:t>
            </a:r>
          </a:p>
        </p:txBody>
      </p:sp>
      <p:sp>
        <p:nvSpPr>
          <p:cNvPr id="18" name="TextBox 17"/>
          <p:cNvSpPr txBox="1"/>
          <p:nvPr/>
        </p:nvSpPr>
        <p:spPr>
          <a:xfrm>
            <a:off x="7059168" y="850392"/>
            <a:ext cx="1792224" cy="347472"/>
          </a:xfrm>
          <a:prstGeom prst="rect">
            <a:avLst/>
          </a:prstGeom>
          <a:noFill/>
        </p:spPr>
        <p:txBody>
          <a:bodyPr wrap="square">
            <a:spAutoFit/>
          </a:bodyPr>
          <a:lstStyle/>
          <a:p>
            <a:pPr algn="l"/>
            <a:r>
              <a:rPr sz="950" b="0" i="0">
                <a:solidFill>
                  <a:srgbClr val="FFFFFF"/>
                </a:solidFill>
                <a:latin typeface="Calibri"/>
              </a:rPr>
              <a:t>GPS / AIS Live Tracking</a:t>
            </a:r>
          </a:p>
        </p:txBody>
      </p:sp>
      <p:sp>
        <p:nvSpPr>
          <p:cNvPr id="19" name="TextBox 18"/>
          <p:cNvSpPr txBox="1"/>
          <p:nvPr/>
        </p:nvSpPr>
        <p:spPr>
          <a:xfrm>
            <a:off x="6144768" y="1298448"/>
            <a:ext cx="2798064" cy="228600"/>
          </a:xfrm>
          <a:prstGeom prst="rect">
            <a:avLst/>
          </a:prstGeom>
          <a:noFill/>
        </p:spPr>
        <p:txBody>
          <a:bodyPr wrap="square">
            <a:spAutoFit/>
          </a:bodyPr>
          <a:lstStyle/>
          <a:p>
            <a:pPr algn="ctr"/>
            <a:r>
              <a:rPr sz="800" b="1" i="0">
                <a:solidFill>
                  <a:srgbClr val="0D9488"/>
                </a:solidFill>
                <a:latin typeface="Calibri"/>
              </a:rPr>
              <a:t>Month 8–12</a:t>
            </a:r>
          </a:p>
        </p:txBody>
      </p:sp>
      <p:sp>
        <p:nvSpPr>
          <p:cNvPr id="20" name="TextBox 19"/>
          <p:cNvSpPr txBox="1"/>
          <p:nvPr/>
        </p:nvSpPr>
        <p:spPr>
          <a:xfrm>
            <a:off x="6254496" y="1581912"/>
            <a:ext cx="2615184" cy="1054135"/>
          </a:xfrm>
          <a:prstGeom prst="rect">
            <a:avLst/>
          </a:prstGeom>
          <a:noFill/>
        </p:spPr>
        <p:txBody>
          <a:bodyPr wrap="square">
            <a:spAutoFit/>
          </a:bodyPr>
          <a:lstStyle/>
          <a:p>
            <a:pPr marL="180000" indent="-180000">
              <a:spcAft>
                <a:spcPts val="300"/>
              </a:spcAft>
              <a:buChar char="•"/>
            </a:pPr>
            <a:r>
              <a:rPr sz="1050">
                <a:solidFill>
                  <a:srgbClr val="475569"/>
                </a:solidFill>
                <a:latin typeface="Calibri"/>
              </a:rPr>
              <a:t>Spinergie AIS/GPS ingestion</a:t>
            </a:r>
          </a:p>
          <a:p>
            <a:pPr marL="180000" indent="-180000">
              <a:spcAft>
                <a:spcPts val="300"/>
              </a:spcAft>
              <a:buChar char="•"/>
            </a:pPr>
            <a:r>
              <a:rPr sz="1050">
                <a:solidFill>
                  <a:srgbClr val="475569"/>
                </a:solidFill>
                <a:latin typeface="Calibri"/>
              </a:rPr>
              <a:t>Geofence events (jetty arrive, CTS arrive)</a:t>
            </a:r>
          </a:p>
          <a:p>
            <a:pPr marL="180000" indent="-180000">
              <a:spcAft>
                <a:spcPts val="300"/>
              </a:spcAft>
              <a:buChar char="•"/>
            </a:pPr>
            <a:r>
              <a:rPr sz="1050">
                <a:solidFill>
                  <a:srgbClr val="475569"/>
                </a:solidFill>
                <a:latin typeface="Calibri"/>
              </a:rPr>
              <a:t>Planned vs actual ETA reconciliation</a:t>
            </a:r>
          </a:p>
          <a:p>
            <a:pPr marL="180000" indent="-180000">
              <a:spcAft>
                <a:spcPts val="300"/>
              </a:spcAft>
              <a:buChar char="•"/>
            </a:pPr>
            <a:r>
              <a:rPr sz="1050">
                <a:solidFill>
                  <a:srgbClr val="475569"/>
                </a:solidFill>
                <a:latin typeface="Calibri"/>
              </a:rPr>
              <a:t>Live map with fleet positions</a:t>
            </a:r>
          </a:p>
          <a:p>
            <a:pPr marL="180000" indent="-180000">
              <a:spcAft>
                <a:spcPts val="300"/>
              </a:spcAft>
              <a:buChar char="•"/>
            </a:pPr>
            <a:r>
              <a:rPr sz="1050">
                <a:solidFill>
                  <a:srgbClr val="475569"/>
                </a:solidFill>
                <a:latin typeface="Calibri"/>
              </a:rPr>
              <a:t>Automated delay alerts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8412480" cy="475488"/>
          </a:xfrm>
          <a:prstGeom prst="rect">
            <a:avLst/>
          </a:prstGeom>
          <a:noFill/>
        </p:spPr>
        <p:txBody>
          <a:bodyPr wrap="square">
            <a:spAutoFit/>
          </a:bodyPr>
          <a:lstStyle/>
          <a:p>
            <a:pPr algn="l"/>
            <a:r>
              <a:rPr sz="2000" b="1" i="0">
                <a:solidFill>
                  <a:srgbClr val="1A2B45"/>
                </a:solidFill>
                <a:latin typeface="Calibri"/>
              </a:rPr>
              <a:t>Toward Mature Platform — IoT, Optimisation &amp; Control Tower</a:t>
            </a:r>
          </a:p>
        </p:txBody>
      </p:sp>
      <p:sp>
        <p:nvSpPr>
          <p:cNvPr id="3" name="Rectangle 2"/>
          <p:cNvSpPr/>
          <p:nvPr/>
        </p:nvSpPr>
        <p:spPr>
          <a:xfrm>
            <a:off x="256032" y="777240"/>
            <a:ext cx="2798064" cy="3840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56032" y="777240"/>
            <a:ext cx="2798064" cy="47548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 y="850392"/>
            <a:ext cx="777240" cy="347472"/>
          </a:xfrm>
          <a:prstGeom prst="rect">
            <a:avLst/>
          </a:prstGeom>
          <a:noFill/>
        </p:spPr>
        <p:txBody>
          <a:bodyPr wrap="square">
            <a:spAutoFit/>
          </a:bodyPr>
          <a:lstStyle/>
          <a:p>
            <a:pPr algn="l"/>
            <a:r>
              <a:rPr sz="1100" b="1" i="0">
                <a:solidFill>
                  <a:srgbClr val="FFFFFF"/>
                </a:solidFill>
                <a:latin typeface="Calibri"/>
              </a:rPr>
              <a:t>Phase 4</a:t>
            </a:r>
          </a:p>
        </p:txBody>
      </p:sp>
      <p:sp>
        <p:nvSpPr>
          <p:cNvPr id="6" name="TextBox 5"/>
          <p:cNvSpPr txBox="1"/>
          <p:nvPr/>
        </p:nvSpPr>
        <p:spPr>
          <a:xfrm>
            <a:off x="1170432" y="850392"/>
            <a:ext cx="1792224" cy="347472"/>
          </a:xfrm>
          <a:prstGeom prst="rect">
            <a:avLst/>
          </a:prstGeom>
          <a:noFill/>
        </p:spPr>
        <p:txBody>
          <a:bodyPr wrap="square">
            <a:spAutoFit/>
          </a:bodyPr>
          <a:lstStyle/>
          <a:p>
            <a:pPr algn="l"/>
            <a:r>
              <a:rPr sz="950" b="0" i="0">
                <a:solidFill>
                  <a:srgbClr val="FFFFFF"/>
                </a:solidFill>
                <a:latin typeface="Calibri"/>
              </a:rPr>
              <a:t>IoT / Event-Driven Operations</a:t>
            </a:r>
          </a:p>
        </p:txBody>
      </p:sp>
      <p:sp>
        <p:nvSpPr>
          <p:cNvPr id="7" name="TextBox 6"/>
          <p:cNvSpPr txBox="1"/>
          <p:nvPr/>
        </p:nvSpPr>
        <p:spPr>
          <a:xfrm>
            <a:off x="256032" y="1298448"/>
            <a:ext cx="2798064" cy="228600"/>
          </a:xfrm>
          <a:prstGeom prst="rect">
            <a:avLst/>
          </a:prstGeom>
          <a:noFill/>
        </p:spPr>
        <p:txBody>
          <a:bodyPr wrap="square">
            <a:spAutoFit/>
          </a:bodyPr>
          <a:lstStyle/>
          <a:p>
            <a:pPr algn="ctr"/>
            <a:r>
              <a:rPr sz="800" b="1" i="0">
                <a:solidFill>
                  <a:srgbClr val="0D9488"/>
                </a:solidFill>
                <a:latin typeface="Calibri"/>
              </a:rPr>
              <a:t>Year 2 · Q1</a:t>
            </a:r>
          </a:p>
        </p:txBody>
      </p:sp>
      <p:sp>
        <p:nvSpPr>
          <p:cNvPr id="8" name="TextBox 7"/>
          <p:cNvSpPr txBox="1"/>
          <p:nvPr/>
        </p:nvSpPr>
        <p:spPr>
          <a:xfrm>
            <a:off x="365760" y="1581912"/>
            <a:ext cx="2615184" cy="1538883"/>
          </a:xfrm>
          <a:prstGeom prst="rect">
            <a:avLst/>
          </a:prstGeom>
          <a:noFill/>
        </p:spPr>
        <p:txBody>
          <a:bodyPr wrap="square">
            <a:spAutoFit/>
          </a:bodyPr>
          <a:lstStyle/>
          <a:p>
            <a:pPr marL="180000" indent="-180000">
              <a:spcAft>
                <a:spcPts val="300"/>
              </a:spcAft>
              <a:buChar char="•"/>
            </a:pPr>
            <a:r>
              <a:rPr sz="1050" dirty="0">
                <a:solidFill>
                  <a:srgbClr val="475569"/>
                </a:solidFill>
                <a:latin typeface="Calibri"/>
              </a:rPr>
              <a:t>Jetty loading &amp; CTS discharge events via field devices</a:t>
            </a:r>
          </a:p>
          <a:p>
            <a:pPr marL="180000" indent="-180000">
              <a:spcAft>
                <a:spcPts val="300"/>
              </a:spcAft>
              <a:buChar char="•"/>
            </a:pPr>
            <a:r>
              <a:rPr sz="1050" dirty="0">
                <a:solidFill>
                  <a:srgbClr val="475569"/>
                </a:solidFill>
                <a:latin typeface="Calibri"/>
              </a:rPr>
              <a:t>Tide/bridge status via sensors or API</a:t>
            </a:r>
          </a:p>
          <a:p>
            <a:pPr marL="180000" indent="-180000">
              <a:spcAft>
                <a:spcPts val="300"/>
              </a:spcAft>
              <a:buChar char="•"/>
            </a:pPr>
            <a:r>
              <a:rPr sz="1050" dirty="0">
                <a:solidFill>
                  <a:srgbClr val="475569"/>
                </a:solidFill>
                <a:latin typeface="Calibri"/>
              </a:rPr>
              <a:t>Equipment/device health monitoring</a:t>
            </a:r>
          </a:p>
          <a:p>
            <a:pPr marL="180000" indent="-180000">
              <a:spcAft>
                <a:spcPts val="300"/>
              </a:spcAft>
              <a:buChar char="•"/>
            </a:pPr>
            <a:r>
              <a:rPr lang="en-US" sz="1050" dirty="0" err="1">
                <a:solidFill>
                  <a:srgbClr val="475569"/>
                </a:solidFill>
                <a:latin typeface="Calibri"/>
              </a:rPr>
              <a:t>digitial</a:t>
            </a:r>
            <a:r>
              <a:rPr sz="1050" dirty="0">
                <a:solidFill>
                  <a:srgbClr val="475569"/>
                </a:solidFill>
                <a:latin typeface="Calibri"/>
              </a:rPr>
              <a:t> event broker + local edge buffering</a:t>
            </a:r>
          </a:p>
          <a:p>
            <a:pPr marL="180000" indent="-180000">
              <a:spcAft>
                <a:spcPts val="300"/>
              </a:spcAft>
              <a:buChar char="•"/>
            </a:pPr>
            <a:r>
              <a:rPr sz="1050" dirty="0">
                <a:solidFill>
                  <a:srgbClr val="475569"/>
                </a:solidFill>
                <a:latin typeface="Calibri"/>
              </a:rPr>
              <a:t>Trusted operational event log (replaces WhatsApp)</a:t>
            </a:r>
          </a:p>
        </p:txBody>
      </p:sp>
      <p:sp>
        <p:nvSpPr>
          <p:cNvPr id="9" name="Rectangle 8"/>
          <p:cNvSpPr/>
          <p:nvPr/>
        </p:nvSpPr>
        <p:spPr>
          <a:xfrm>
            <a:off x="3200400" y="777240"/>
            <a:ext cx="2798064" cy="3840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0" y="777240"/>
            <a:ext cx="2798064"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91840" y="850392"/>
            <a:ext cx="777240" cy="347472"/>
          </a:xfrm>
          <a:prstGeom prst="rect">
            <a:avLst/>
          </a:prstGeom>
          <a:noFill/>
        </p:spPr>
        <p:txBody>
          <a:bodyPr wrap="square">
            <a:spAutoFit/>
          </a:bodyPr>
          <a:lstStyle/>
          <a:p>
            <a:pPr algn="l"/>
            <a:r>
              <a:rPr sz="1100" b="1" i="0">
                <a:solidFill>
                  <a:srgbClr val="FFFFFF"/>
                </a:solidFill>
                <a:latin typeface="Calibri"/>
              </a:rPr>
              <a:t>Phase 5</a:t>
            </a:r>
          </a:p>
        </p:txBody>
      </p:sp>
      <p:sp>
        <p:nvSpPr>
          <p:cNvPr id="12" name="TextBox 11"/>
          <p:cNvSpPr txBox="1"/>
          <p:nvPr/>
        </p:nvSpPr>
        <p:spPr>
          <a:xfrm>
            <a:off x="4114800" y="850392"/>
            <a:ext cx="1792224" cy="347472"/>
          </a:xfrm>
          <a:prstGeom prst="rect">
            <a:avLst/>
          </a:prstGeom>
          <a:noFill/>
        </p:spPr>
        <p:txBody>
          <a:bodyPr wrap="square">
            <a:spAutoFit/>
          </a:bodyPr>
          <a:lstStyle/>
          <a:p>
            <a:pPr algn="l"/>
            <a:r>
              <a:rPr sz="950" b="0" i="0">
                <a:solidFill>
                  <a:srgbClr val="FFFFFF"/>
                </a:solidFill>
                <a:latin typeface="Calibri"/>
              </a:rPr>
              <a:t>Optimisation &amp; Recovery AI</a:t>
            </a:r>
          </a:p>
        </p:txBody>
      </p:sp>
      <p:sp>
        <p:nvSpPr>
          <p:cNvPr id="13" name="TextBox 12"/>
          <p:cNvSpPr txBox="1"/>
          <p:nvPr/>
        </p:nvSpPr>
        <p:spPr>
          <a:xfrm>
            <a:off x="3200400" y="1298448"/>
            <a:ext cx="2798064" cy="228600"/>
          </a:xfrm>
          <a:prstGeom prst="rect">
            <a:avLst/>
          </a:prstGeom>
          <a:noFill/>
        </p:spPr>
        <p:txBody>
          <a:bodyPr wrap="square">
            <a:spAutoFit/>
          </a:bodyPr>
          <a:lstStyle/>
          <a:p>
            <a:pPr algn="ctr"/>
            <a:r>
              <a:rPr sz="800" b="1" i="0">
                <a:solidFill>
                  <a:srgbClr val="0D9488"/>
                </a:solidFill>
                <a:latin typeface="Calibri"/>
              </a:rPr>
              <a:t>Year 2 · Q2–Q3</a:t>
            </a:r>
          </a:p>
        </p:txBody>
      </p:sp>
      <p:sp>
        <p:nvSpPr>
          <p:cNvPr id="14" name="TextBox 13"/>
          <p:cNvSpPr txBox="1"/>
          <p:nvPr/>
        </p:nvSpPr>
        <p:spPr>
          <a:xfrm>
            <a:off x="3310128" y="1581912"/>
            <a:ext cx="2615184" cy="1538883"/>
          </a:xfrm>
          <a:prstGeom prst="rect">
            <a:avLst/>
          </a:prstGeom>
          <a:noFill/>
        </p:spPr>
        <p:txBody>
          <a:bodyPr wrap="square">
            <a:spAutoFit/>
          </a:bodyPr>
          <a:lstStyle/>
          <a:p>
            <a:pPr marL="180000" indent="-180000">
              <a:spcAft>
                <a:spcPts val="300"/>
              </a:spcAft>
              <a:buChar char="•"/>
            </a:pPr>
            <a:r>
              <a:rPr sz="1050" dirty="0">
                <a:solidFill>
                  <a:srgbClr val="475569"/>
                </a:solidFill>
                <a:latin typeface="Calibri"/>
              </a:rPr>
              <a:t>Assignment </a:t>
            </a:r>
            <a:r>
              <a:rPr sz="1050" dirty="0" err="1">
                <a:solidFill>
                  <a:srgbClr val="475569"/>
                </a:solidFill>
                <a:latin typeface="Calibri"/>
              </a:rPr>
              <a:t>optimiser</a:t>
            </a:r>
            <a:r>
              <a:rPr sz="1050" dirty="0">
                <a:solidFill>
                  <a:srgbClr val="475569"/>
                </a:solidFill>
                <a:latin typeface="Calibri"/>
              </a:rPr>
              <a:t> (tug/barge/CTS/OGV pairing)</a:t>
            </a:r>
          </a:p>
          <a:p>
            <a:pPr marL="180000" indent="-180000">
              <a:spcAft>
                <a:spcPts val="300"/>
              </a:spcAft>
              <a:buChar char="•"/>
            </a:pPr>
            <a:r>
              <a:rPr sz="1050" dirty="0">
                <a:solidFill>
                  <a:srgbClr val="475569"/>
                </a:solidFill>
                <a:latin typeface="Calibri"/>
              </a:rPr>
              <a:t>Trip sequencing under multi-constraint solver</a:t>
            </a:r>
          </a:p>
          <a:p>
            <a:pPr marL="180000" indent="-180000">
              <a:spcAft>
                <a:spcPts val="300"/>
              </a:spcAft>
              <a:buChar char="•"/>
            </a:pPr>
            <a:r>
              <a:rPr sz="1050" dirty="0">
                <a:solidFill>
                  <a:srgbClr val="475569"/>
                </a:solidFill>
                <a:latin typeface="Calibri"/>
              </a:rPr>
              <a:t>Resource conflict auto-repair suggestions</a:t>
            </a:r>
          </a:p>
          <a:p>
            <a:pPr marL="180000" indent="-180000">
              <a:spcAft>
                <a:spcPts val="300"/>
              </a:spcAft>
              <a:buChar char="•"/>
            </a:pPr>
            <a:r>
              <a:rPr sz="1050" dirty="0">
                <a:solidFill>
                  <a:srgbClr val="475569"/>
                </a:solidFill>
                <a:latin typeface="Calibri"/>
              </a:rPr>
              <a:t>Recovery recommendation engine</a:t>
            </a:r>
          </a:p>
          <a:p>
            <a:pPr marL="180000" indent="-180000">
              <a:spcAft>
                <a:spcPts val="300"/>
              </a:spcAft>
              <a:buChar char="•"/>
            </a:pPr>
            <a:r>
              <a:rPr sz="1050" dirty="0">
                <a:solidFill>
                  <a:srgbClr val="475569"/>
                </a:solidFill>
                <a:latin typeface="Calibri"/>
              </a:rPr>
              <a:t>Planner approval workflow before auto-commit</a:t>
            </a:r>
          </a:p>
        </p:txBody>
      </p:sp>
      <p:sp>
        <p:nvSpPr>
          <p:cNvPr id="15" name="Rectangle 14"/>
          <p:cNvSpPr/>
          <p:nvPr/>
        </p:nvSpPr>
        <p:spPr>
          <a:xfrm>
            <a:off x="6144768" y="777240"/>
            <a:ext cx="2798064" cy="3840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44768" y="777240"/>
            <a:ext cx="2798064"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36208" y="850392"/>
            <a:ext cx="777240" cy="347472"/>
          </a:xfrm>
          <a:prstGeom prst="rect">
            <a:avLst/>
          </a:prstGeom>
          <a:noFill/>
        </p:spPr>
        <p:txBody>
          <a:bodyPr wrap="square">
            <a:spAutoFit/>
          </a:bodyPr>
          <a:lstStyle/>
          <a:p>
            <a:pPr algn="l"/>
            <a:r>
              <a:rPr sz="1100" b="1" i="0">
                <a:solidFill>
                  <a:srgbClr val="FFFFFF"/>
                </a:solidFill>
                <a:latin typeface="Calibri"/>
              </a:rPr>
              <a:t>Phase 6</a:t>
            </a:r>
          </a:p>
        </p:txBody>
      </p:sp>
      <p:sp>
        <p:nvSpPr>
          <p:cNvPr id="18" name="TextBox 17"/>
          <p:cNvSpPr txBox="1"/>
          <p:nvPr/>
        </p:nvSpPr>
        <p:spPr>
          <a:xfrm>
            <a:off x="7059168" y="850392"/>
            <a:ext cx="1792224" cy="347472"/>
          </a:xfrm>
          <a:prstGeom prst="rect">
            <a:avLst/>
          </a:prstGeom>
          <a:noFill/>
        </p:spPr>
        <p:txBody>
          <a:bodyPr wrap="square">
            <a:spAutoFit/>
          </a:bodyPr>
          <a:lstStyle/>
          <a:p>
            <a:pPr algn="l"/>
            <a:r>
              <a:rPr sz="950" b="0" i="0">
                <a:solidFill>
                  <a:srgbClr val="FFFFFF"/>
                </a:solidFill>
                <a:latin typeface="Calibri"/>
              </a:rPr>
              <a:t>Multi-Party Control Tower</a:t>
            </a:r>
          </a:p>
        </p:txBody>
      </p:sp>
      <p:sp>
        <p:nvSpPr>
          <p:cNvPr id="19" name="TextBox 18"/>
          <p:cNvSpPr txBox="1"/>
          <p:nvPr/>
        </p:nvSpPr>
        <p:spPr>
          <a:xfrm>
            <a:off x="6144768" y="1298448"/>
            <a:ext cx="2798064" cy="228600"/>
          </a:xfrm>
          <a:prstGeom prst="rect">
            <a:avLst/>
          </a:prstGeom>
          <a:noFill/>
        </p:spPr>
        <p:txBody>
          <a:bodyPr wrap="square">
            <a:spAutoFit/>
          </a:bodyPr>
          <a:lstStyle/>
          <a:p>
            <a:pPr algn="ctr"/>
            <a:r>
              <a:rPr sz="800" b="1" i="0">
                <a:solidFill>
                  <a:srgbClr val="0D9488"/>
                </a:solidFill>
                <a:latin typeface="Calibri"/>
              </a:rPr>
              <a:t>Year 2 · Q4</a:t>
            </a:r>
          </a:p>
        </p:txBody>
      </p:sp>
      <p:sp>
        <p:nvSpPr>
          <p:cNvPr id="20" name="TextBox 19"/>
          <p:cNvSpPr txBox="1"/>
          <p:nvPr/>
        </p:nvSpPr>
        <p:spPr>
          <a:xfrm>
            <a:off x="6254496" y="1581912"/>
            <a:ext cx="2615184" cy="1538883"/>
          </a:xfrm>
          <a:prstGeom prst="rect">
            <a:avLst/>
          </a:prstGeom>
          <a:noFill/>
        </p:spPr>
        <p:txBody>
          <a:bodyPr wrap="square">
            <a:spAutoFit/>
          </a:bodyPr>
          <a:lstStyle/>
          <a:p>
            <a:pPr marL="180000" indent="-180000">
              <a:spcAft>
                <a:spcPts val="300"/>
              </a:spcAft>
              <a:buChar char="•"/>
            </a:pPr>
            <a:r>
              <a:rPr sz="1050">
                <a:solidFill>
                  <a:srgbClr val="475569"/>
                </a:solidFill>
                <a:latin typeface="Calibri"/>
              </a:rPr>
              <a:t>ABL dispatcher view: fleet + CTS assignments</a:t>
            </a:r>
          </a:p>
          <a:p>
            <a:pPr marL="180000" indent="-180000">
              <a:spcAft>
                <a:spcPts val="300"/>
              </a:spcAft>
              <a:buChar char="•"/>
            </a:pPr>
            <a:r>
              <a:rPr sz="1050">
                <a:solidFill>
                  <a:srgbClr val="475569"/>
                </a:solidFill>
                <a:latin typeface="Calibri"/>
              </a:rPr>
              <a:t>Berau cargo/OGV view: grade, sequence, OGV risk</a:t>
            </a:r>
          </a:p>
          <a:p>
            <a:pPr marL="180000" indent="-180000">
              <a:spcAft>
                <a:spcPts val="300"/>
              </a:spcAft>
              <a:buChar char="•"/>
            </a:pPr>
            <a:r>
              <a:rPr sz="1050">
                <a:solidFill>
                  <a:srgbClr val="475569"/>
                </a:solidFill>
                <a:latin typeface="Calibri"/>
              </a:rPr>
              <a:t>Customer shipment status portal</a:t>
            </a:r>
          </a:p>
          <a:p>
            <a:pPr marL="180000" indent="-180000">
              <a:spcAft>
                <a:spcPts val="300"/>
              </a:spcAft>
              <a:buChar char="•"/>
            </a:pPr>
            <a:r>
              <a:rPr sz="1050">
                <a:solidFill>
                  <a:srgbClr val="475569"/>
                </a:solidFill>
                <a:latin typeface="Calibri"/>
              </a:rPr>
              <a:t>Management KPI dashboard (throughput, demurrage, OTIF)</a:t>
            </a:r>
          </a:p>
          <a:p>
            <a:pPr marL="180000" indent="-180000">
              <a:spcAft>
                <a:spcPts val="300"/>
              </a:spcAft>
              <a:buChar char="•"/>
            </a:pPr>
            <a:r>
              <a:rPr sz="1050">
                <a:solidFill>
                  <a:srgbClr val="475569"/>
                </a:solidFill>
                <a:latin typeface="Calibri"/>
              </a:rPr>
              <a:t>Alert escalation &amp; SLA tracking</a:t>
            </a:r>
          </a:p>
        </p:txBody>
      </p:sp>
      <p:sp>
        <p:nvSpPr>
          <p:cNvPr id="21" name="Rectangle 20"/>
          <p:cNvSpPr/>
          <p:nvPr/>
        </p:nvSpPr>
        <p:spPr>
          <a:xfrm>
            <a:off x="256032" y="4690872"/>
            <a:ext cx="1440180" cy="347472"/>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6032" y="4700016"/>
            <a:ext cx="1440180" cy="320040"/>
          </a:xfrm>
          <a:prstGeom prst="rect">
            <a:avLst/>
          </a:prstGeom>
          <a:noFill/>
        </p:spPr>
        <p:txBody>
          <a:bodyPr wrap="square">
            <a:spAutoFit/>
          </a:bodyPr>
          <a:lstStyle/>
          <a:p>
            <a:pPr algn="ctr"/>
            <a:r>
              <a:rPr sz="800" b="1" i="0">
                <a:solidFill>
                  <a:srgbClr val="FFFFFF"/>
                </a:solidFill>
                <a:latin typeface="Calibri"/>
              </a:rPr>
              <a:t>P1 Model</a:t>
            </a:r>
          </a:p>
        </p:txBody>
      </p:sp>
      <p:sp>
        <p:nvSpPr>
          <p:cNvPr id="23" name="Rectangle 22"/>
          <p:cNvSpPr/>
          <p:nvPr/>
        </p:nvSpPr>
        <p:spPr>
          <a:xfrm>
            <a:off x="1705356" y="4690872"/>
            <a:ext cx="1440180" cy="3474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705356" y="4700016"/>
            <a:ext cx="1440180" cy="320040"/>
          </a:xfrm>
          <a:prstGeom prst="rect">
            <a:avLst/>
          </a:prstGeom>
          <a:noFill/>
        </p:spPr>
        <p:txBody>
          <a:bodyPr wrap="square">
            <a:spAutoFit/>
          </a:bodyPr>
          <a:lstStyle/>
          <a:p>
            <a:pPr algn="ctr"/>
            <a:r>
              <a:rPr sz="800" b="1" i="0">
                <a:solidFill>
                  <a:srgbClr val="FFFFFF"/>
                </a:solidFill>
                <a:latin typeface="Calibri"/>
              </a:rPr>
              <a:t>P2 Simulate</a:t>
            </a:r>
          </a:p>
        </p:txBody>
      </p:sp>
      <p:sp>
        <p:nvSpPr>
          <p:cNvPr id="25" name="Rectangle 24"/>
          <p:cNvSpPr/>
          <p:nvPr/>
        </p:nvSpPr>
        <p:spPr>
          <a:xfrm>
            <a:off x="3154680" y="4690872"/>
            <a:ext cx="1440180"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154680" y="4700016"/>
            <a:ext cx="1440180" cy="320040"/>
          </a:xfrm>
          <a:prstGeom prst="rect">
            <a:avLst/>
          </a:prstGeom>
          <a:noFill/>
        </p:spPr>
        <p:txBody>
          <a:bodyPr wrap="square">
            <a:spAutoFit/>
          </a:bodyPr>
          <a:lstStyle/>
          <a:p>
            <a:pPr algn="ctr"/>
            <a:r>
              <a:rPr sz="800" b="1" i="0">
                <a:solidFill>
                  <a:srgbClr val="FFFFFF"/>
                </a:solidFill>
                <a:latin typeface="Calibri"/>
              </a:rPr>
              <a:t>P3 Track</a:t>
            </a:r>
          </a:p>
        </p:txBody>
      </p:sp>
      <p:sp>
        <p:nvSpPr>
          <p:cNvPr id="27" name="Rectangle 26"/>
          <p:cNvSpPr/>
          <p:nvPr/>
        </p:nvSpPr>
        <p:spPr>
          <a:xfrm>
            <a:off x="4604004" y="4690872"/>
            <a:ext cx="1440180" cy="34747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04004" y="4700016"/>
            <a:ext cx="1440180" cy="320040"/>
          </a:xfrm>
          <a:prstGeom prst="rect">
            <a:avLst/>
          </a:prstGeom>
          <a:noFill/>
        </p:spPr>
        <p:txBody>
          <a:bodyPr wrap="square">
            <a:spAutoFit/>
          </a:bodyPr>
          <a:lstStyle/>
          <a:p>
            <a:pPr algn="ctr"/>
            <a:r>
              <a:rPr sz="800" b="1" i="0">
                <a:solidFill>
                  <a:srgbClr val="FFFFFF"/>
                </a:solidFill>
                <a:latin typeface="Calibri"/>
              </a:rPr>
              <a:t>P4 IoT</a:t>
            </a:r>
          </a:p>
        </p:txBody>
      </p:sp>
      <p:sp>
        <p:nvSpPr>
          <p:cNvPr id="29" name="Rectangle 28"/>
          <p:cNvSpPr/>
          <p:nvPr/>
        </p:nvSpPr>
        <p:spPr>
          <a:xfrm>
            <a:off x="6053328" y="4690872"/>
            <a:ext cx="144018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53328" y="4700016"/>
            <a:ext cx="1440180" cy="320040"/>
          </a:xfrm>
          <a:prstGeom prst="rect">
            <a:avLst/>
          </a:prstGeom>
          <a:noFill/>
        </p:spPr>
        <p:txBody>
          <a:bodyPr wrap="square">
            <a:spAutoFit/>
          </a:bodyPr>
          <a:lstStyle/>
          <a:p>
            <a:pPr algn="ctr"/>
            <a:r>
              <a:rPr sz="800" b="1" i="0">
                <a:solidFill>
                  <a:srgbClr val="FFFFFF"/>
                </a:solidFill>
                <a:latin typeface="Calibri"/>
              </a:rPr>
              <a:t>P5 Optimise</a:t>
            </a:r>
          </a:p>
        </p:txBody>
      </p:sp>
      <p:sp>
        <p:nvSpPr>
          <p:cNvPr id="31" name="Rectangle 30"/>
          <p:cNvSpPr/>
          <p:nvPr/>
        </p:nvSpPr>
        <p:spPr>
          <a:xfrm>
            <a:off x="7502652" y="4690872"/>
            <a:ext cx="1440180"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02652" y="4700016"/>
            <a:ext cx="1440180" cy="320040"/>
          </a:xfrm>
          <a:prstGeom prst="rect">
            <a:avLst/>
          </a:prstGeom>
          <a:noFill/>
        </p:spPr>
        <p:txBody>
          <a:bodyPr wrap="square">
            <a:spAutoFit/>
          </a:bodyPr>
          <a:lstStyle/>
          <a:p>
            <a:pPr algn="ctr"/>
            <a:r>
              <a:rPr sz="800" b="1" i="0">
                <a:solidFill>
                  <a:srgbClr val="FFFFFF"/>
                </a:solidFill>
                <a:latin typeface="Calibri"/>
              </a:rPr>
              <a:t>P6 Tower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B45"/>
        </a:solidFill>
        <a:effectLst/>
      </p:bgPr>
    </p:bg>
    <p:spTree>
      <p:nvGrpSpPr>
        <p:cNvPr id="1" name=""/>
        <p:cNvGrpSpPr/>
        <p:nvPr/>
      </p:nvGrpSpPr>
      <p:grpSpPr>
        <a:xfrm>
          <a:off x="0" y="0"/>
          <a:ext cx="0" cy="0"/>
          <a:chOff x="0" y="0"/>
          <a:chExt cx="0" cy="0"/>
        </a:xfrm>
      </p:grpSpPr>
      <p:sp>
        <p:nvSpPr>
          <p:cNvPr id="2" name="TextBox 1"/>
          <p:cNvSpPr txBox="1"/>
          <p:nvPr/>
        </p:nvSpPr>
        <p:spPr>
          <a:xfrm>
            <a:off x="411480" y="164592"/>
            <a:ext cx="8321040" cy="400110"/>
          </a:xfrm>
          <a:prstGeom prst="rect">
            <a:avLst/>
          </a:prstGeom>
          <a:noFill/>
        </p:spPr>
        <p:txBody>
          <a:bodyPr wrap="square">
            <a:spAutoFit/>
          </a:bodyPr>
          <a:lstStyle/>
          <a:p>
            <a:r>
              <a:rPr sz="2000" b="1" i="0" dirty="0">
                <a:solidFill>
                  <a:srgbClr val="FFFFFF"/>
                </a:solidFill>
                <a:latin typeface="Calibri"/>
              </a:rPr>
              <a:t>Open Questions — </a:t>
            </a:r>
            <a:r>
              <a:rPr lang="en-US" sz="2000" b="1" dirty="0">
                <a:solidFill>
                  <a:srgbClr val="FFFFFF"/>
                </a:solidFill>
              </a:rPr>
              <a:t>Discovery Topics from the Questionnaire 1</a:t>
            </a:r>
            <a:endParaRPr sz="2000" b="1" i="0" dirty="0">
              <a:solidFill>
                <a:srgbClr val="FFFFFF"/>
              </a:solidFill>
              <a:latin typeface="Calibri"/>
            </a:endParaRPr>
          </a:p>
        </p:txBody>
      </p:sp>
      <p:sp>
        <p:nvSpPr>
          <p:cNvPr id="3" name="TextBox 2"/>
          <p:cNvSpPr txBox="1"/>
          <p:nvPr/>
        </p:nvSpPr>
        <p:spPr>
          <a:xfrm>
            <a:off x="411480" y="658368"/>
            <a:ext cx="6400800" cy="256032"/>
          </a:xfrm>
          <a:prstGeom prst="rect">
            <a:avLst/>
          </a:prstGeom>
          <a:noFill/>
        </p:spPr>
        <p:txBody>
          <a:bodyPr wrap="square">
            <a:spAutoFit/>
          </a:bodyPr>
          <a:lstStyle/>
          <a:p>
            <a:pPr algn="l"/>
            <a:r>
              <a:rPr sz="1000" b="0" i="1">
                <a:solidFill>
                  <a:srgbClr val="94A3B8"/>
                </a:solidFill>
                <a:latin typeface="Calibri"/>
              </a:rPr>
              <a:t>Answers to these will sharpen every layer of the platform</a:t>
            </a:r>
          </a:p>
        </p:txBody>
      </p:sp>
      <p:sp>
        <p:nvSpPr>
          <p:cNvPr id="4" name="Rectangle 3"/>
          <p:cNvSpPr/>
          <p:nvPr/>
        </p:nvSpPr>
        <p:spPr>
          <a:xfrm>
            <a:off x="292608" y="987552"/>
            <a:ext cx="4160520" cy="1298448"/>
          </a:xfrm>
          <a:prstGeom prst="rect">
            <a:avLst/>
          </a:prstGeom>
          <a:solidFill>
            <a:srgbClr val="25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92608" y="987552"/>
            <a:ext cx="45720" cy="12984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20624" y="1042416"/>
            <a:ext cx="3977639" cy="219456"/>
          </a:xfrm>
          <a:prstGeom prst="rect">
            <a:avLst/>
          </a:prstGeom>
          <a:noFill/>
        </p:spPr>
        <p:txBody>
          <a:bodyPr wrap="square">
            <a:spAutoFit/>
          </a:bodyPr>
          <a:lstStyle/>
          <a:p>
            <a:pPr algn="l"/>
            <a:r>
              <a:rPr sz="750" b="1" i="0">
                <a:solidFill>
                  <a:srgbClr val="F59E0B"/>
                </a:solidFill>
                <a:latin typeface="Calibri"/>
              </a:rPr>
              <a:t>CARGO &amp; GRADE</a:t>
            </a:r>
          </a:p>
        </p:txBody>
      </p:sp>
      <p:sp>
        <p:nvSpPr>
          <p:cNvPr id="7" name="TextBox 6"/>
          <p:cNvSpPr txBox="1"/>
          <p:nvPr/>
        </p:nvSpPr>
        <p:spPr>
          <a:xfrm>
            <a:off x="420624" y="1280160"/>
            <a:ext cx="3959352" cy="950976"/>
          </a:xfrm>
          <a:prstGeom prst="rect">
            <a:avLst/>
          </a:prstGeom>
          <a:noFill/>
        </p:spPr>
        <p:txBody>
          <a:bodyPr wrap="square">
            <a:spAutoFit/>
          </a:bodyPr>
          <a:lstStyle/>
          <a:p>
            <a:pPr marL="180000" indent="-180000">
              <a:spcAft>
                <a:spcPts val="300"/>
              </a:spcAft>
              <a:buChar char="•"/>
            </a:pPr>
            <a:r>
              <a:rPr sz="850">
                <a:solidFill>
                  <a:srgbClr val="D1D5DB"/>
                </a:solidFill>
                <a:latin typeface="Calibri"/>
              </a:rPr>
              <a:t>What is the actual blending/substitution approval process if a planned grade is short?</a:t>
            </a:r>
          </a:p>
          <a:p>
            <a:pPr marL="180000" indent="-180000">
              <a:spcAft>
                <a:spcPts val="300"/>
              </a:spcAft>
              <a:buChar char="•"/>
            </a:pPr>
            <a:r>
              <a:rPr sz="850">
                <a:solidFill>
                  <a:srgbClr val="D1D5DB"/>
                </a:solidFill>
                <a:latin typeface="Calibri"/>
              </a:rPr>
              <a:t>Are stockpile levels shared with ABL in real-time, or only at scheduling horizon?</a:t>
            </a:r>
          </a:p>
          <a:p>
            <a:pPr marL="180000" indent="-180000">
              <a:spcAft>
                <a:spcPts val="300"/>
              </a:spcAft>
              <a:buChar char="•"/>
            </a:pPr>
            <a:r>
              <a:rPr sz="850">
                <a:solidFill>
                  <a:srgbClr val="D1D5DB"/>
                </a:solidFill>
                <a:latin typeface="Calibri"/>
              </a:rPr>
              <a:t>Which mines/CPPs can serve which jetties — is there a fixed routing or is it dynamic?</a:t>
            </a:r>
          </a:p>
        </p:txBody>
      </p:sp>
      <p:sp>
        <p:nvSpPr>
          <p:cNvPr id="8" name="Rectangle 7"/>
          <p:cNvSpPr/>
          <p:nvPr/>
        </p:nvSpPr>
        <p:spPr>
          <a:xfrm>
            <a:off x="292608" y="2395728"/>
            <a:ext cx="4160520" cy="1298448"/>
          </a:xfrm>
          <a:prstGeom prst="rect">
            <a:avLst/>
          </a:prstGeom>
          <a:solidFill>
            <a:srgbClr val="25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92608" y="2395728"/>
            <a:ext cx="45720" cy="12984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 y="2450592"/>
            <a:ext cx="3977639" cy="219456"/>
          </a:xfrm>
          <a:prstGeom prst="rect">
            <a:avLst/>
          </a:prstGeom>
          <a:noFill/>
        </p:spPr>
        <p:txBody>
          <a:bodyPr wrap="square">
            <a:spAutoFit/>
          </a:bodyPr>
          <a:lstStyle/>
          <a:p>
            <a:pPr algn="l"/>
            <a:r>
              <a:rPr sz="750" b="1" i="0">
                <a:solidFill>
                  <a:srgbClr val="F59E0B"/>
                </a:solidFill>
                <a:latin typeface="Calibri"/>
              </a:rPr>
              <a:t>CTS / TRANSSHIPMENT</a:t>
            </a:r>
          </a:p>
        </p:txBody>
      </p:sp>
      <p:sp>
        <p:nvSpPr>
          <p:cNvPr id="11" name="TextBox 10"/>
          <p:cNvSpPr txBox="1"/>
          <p:nvPr/>
        </p:nvSpPr>
        <p:spPr>
          <a:xfrm>
            <a:off x="420624" y="2688336"/>
            <a:ext cx="3959352" cy="950976"/>
          </a:xfrm>
          <a:prstGeom prst="rect">
            <a:avLst/>
          </a:prstGeom>
          <a:noFill/>
        </p:spPr>
        <p:txBody>
          <a:bodyPr wrap="square">
            <a:spAutoFit/>
          </a:bodyPr>
          <a:lstStyle/>
          <a:p>
            <a:pPr marL="180000" indent="-180000">
              <a:spcAft>
                <a:spcPts val="300"/>
              </a:spcAft>
              <a:buChar char="•"/>
            </a:pPr>
            <a:r>
              <a:rPr sz="850">
                <a:solidFill>
                  <a:srgbClr val="D1D5DB"/>
                </a:solidFill>
                <a:latin typeface="Calibri"/>
              </a:rPr>
              <a:t>Does each CTS have a fixed OGV anchorage zone, or can assignments shift by demand?</a:t>
            </a:r>
          </a:p>
          <a:p>
            <a:pPr marL="180000" indent="-180000">
              <a:spcAft>
                <a:spcPts val="300"/>
              </a:spcAft>
              <a:buChar char="•"/>
            </a:pPr>
            <a:r>
              <a:rPr sz="850">
                <a:solidFill>
                  <a:srgbClr val="D1D5DB"/>
                </a:solidFill>
                <a:latin typeface="Calibri"/>
              </a:rPr>
              <a:t>What triggers a metal-detection hold, and what is the typical resolution time?</a:t>
            </a:r>
          </a:p>
          <a:p>
            <a:pPr marL="180000" indent="-180000">
              <a:spcAft>
                <a:spcPts val="300"/>
              </a:spcAft>
              <a:buChar char="•"/>
            </a:pPr>
            <a:r>
              <a:rPr sz="850">
                <a:solidFill>
                  <a:srgbClr val="D1D5DB"/>
                </a:solidFill>
                <a:latin typeface="Calibri"/>
              </a:rPr>
              <a:t>How is the barge queue managed at the CTS today — radio, WhatsApp, log sheet?</a:t>
            </a:r>
          </a:p>
        </p:txBody>
      </p:sp>
      <p:sp>
        <p:nvSpPr>
          <p:cNvPr id="12" name="Rectangle 11"/>
          <p:cNvSpPr/>
          <p:nvPr/>
        </p:nvSpPr>
        <p:spPr>
          <a:xfrm>
            <a:off x="292608" y="3803904"/>
            <a:ext cx="4160520" cy="1298448"/>
          </a:xfrm>
          <a:prstGeom prst="rect">
            <a:avLst/>
          </a:prstGeom>
          <a:solidFill>
            <a:srgbClr val="25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2608" y="3803904"/>
            <a:ext cx="45720" cy="12984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0624" y="3858768"/>
            <a:ext cx="3977639" cy="219456"/>
          </a:xfrm>
          <a:prstGeom prst="rect">
            <a:avLst/>
          </a:prstGeom>
          <a:noFill/>
        </p:spPr>
        <p:txBody>
          <a:bodyPr wrap="square">
            <a:spAutoFit/>
          </a:bodyPr>
          <a:lstStyle/>
          <a:p>
            <a:pPr algn="l"/>
            <a:r>
              <a:rPr sz="750" b="1" i="0">
                <a:solidFill>
                  <a:srgbClr val="F59E0B"/>
                </a:solidFill>
                <a:latin typeface="Calibri"/>
              </a:rPr>
              <a:t>TIDE, RIVER &amp; NAVIGATION</a:t>
            </a:r>
          </a:p>
        </p:txBody>
      </p:sp>
      <p:sp>
        <p:nvSpPr>
          <p:cNvPr id="15" name="TextBox 14"/>
          <p:cNvSpPr txBox="1"/>
          <p:nvPr/>
        </p:nvSpPr>
        <p:spPr>
          <a:xfrm>
            <a:off x="420624" y="4096512"/>
            <a:ext cx="3959352" cy="950976"/>
          </a:xfrm>
          <a:prstGeom prst="rect">
            <a:avLst/>
          </a:prstGeom>
          <a:noFill/>
        </p:spPr>
        <p:txBody>
          <a:bodyPr wrap="square">
            <a:spAutoFit/>
          </a:bodyPr>
          <a:lstStyle/>
          <a:p>
            <a:pPr marL="180000" indent="-180000">
              <a:spcAft>
                <a:spcPts val="300"/>
              </a:spcAft>
              <a:buChar char="•"/>
            </a:pPr>
            <a:r>
              <a:rPr sz="850">
                <a:solidFill>
                  <a:srgbClr val="D1D5DB"/>
                </a:solidFill>
                <a:latin typeface="Calibri"/>
              </a:rPr>
              <a:t>What is the actual tidal window data source and how far ahead is it reliable?</a:t>
            </a:r>
          </a:p>
          <a:p>
            <a:pPr marL="180000" indent="-180000">
              <a:spcAft>
                <a:spcPts val="300"/>
              </a:spcAft>
              <a:buChar char="•"/>
            </a:pPr>
            <a:r>
              <a:rPr sz="850">
                <a:solidFill>
                  <a:srgbClr val="D1D5DB"/>
                </a:solidFill>
                <a:latin typeface="Calibri"/>
              </a:rPr>
              <a:t>How many bridges have constrained windows, and which river segments are critical choke points?</a:t>
            </a:r>
          </a:p>
          <a:p>
            <a:pPr marL="180000" indent="-180000">
              <a:spcAft>
                <a:spcPts val="300"/>
              </a:spcAft>
              <a:buChar char="•"/>
            </a:pPr>
            <a:r>
              <a:rPr sz="850">
                <a:solidFill>
                  <a:srgbClr val="D1D5DB"/>
                </a:solidFill>
                <a:latin typeface="Calibri"/>
              </a:rPr>
              <a:t>Are there seasonal or weather-driven draft restrictions beyond the tidal cycle?</a:t>
            </a:r>
          </a:p>
        </p:txBody>
      </p:sp>
      <p:sp>
        <p:nvSpPr>
          <p:cNvPr id="16" name="Rectangle 15"/>
          <p:cNvSpPr/>
          <p:nvPr/>
        </p:nvSpPr>
        <p:spPr>
          <a:xfrm>
            <a:off x="4663440" y="987552"/>
            <a:ext cx="4160520" cy="1298448"/>
          </a:xfrm>
          <a:prstGeom prst="rect">
            <a:avLst/>
          </a:prstGeom>
          <a:solidFill>
            <a:srgbClr val="25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663440" y="987552"/>
            <a:ext cx="45720" cy="12984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91455" y="1042416"/>
            <a:ext cx="3977639" cy="219456"/>
          </a:xfrm>
          <a:prstGeom prst="rect">
            <a:avLst/>
          </a:prstGeom>
          <a:noFill/>
        </p:spPr>
        <p:txBody>
          <a:bodyPr wrap="square">
            <a:spAutoFit/>
          </a:bodyPr>
          <a:lstStyle/>
          <a:p>
            <a:pPr algn="l"/>
            <a:r>
              <a:rPr sz="750" b="1" i="0">
                <a:solidFill>
                  <a:srgbClr val="F59E0B"/>
                </a:solidFill>
                <a:latin typeface="Calibri"/>
              </a:rPr>
              <a:t>INTEGRATION &amp; DATA</a:t>
            </a:r>
          </a:p>
        </p:txBody>
      </p:sp>
      <p:sp>
        <p:nvSpPr>
          <p:cNvPr id="19" name="TextBox 18"/>
          <p:cNvSpPr txBox="1"/>
          <p:nvPr/>
        </p:nvSpPr>
        <p:spPr>
          <a:xfrm>
            <a:off x="4791455" y="1280160"/>
            <a:ext cx="3959352" cy="950976"/>
          </a:xfrm>
          <a:prstGeom prst="rect">
            <a:avLst/>
          </a:prstGeom>
          <a:noFill/>
        </p:spPr>
        <p:txBody>
          <a:bodyPr wrap="square">
            <a:spAutoFit/>
          </a:bodyPr>
          <a:lstStyle/>
          <a:p>
            <a:pPr marL="180000" indent="-180000">
              <a:spcAft>
                <a:spcPts val="300"/>
              </a:spcAft>
              <a:buChar char="•"/>
            </a:pPr>
            <a:r>
              <a:rPr sz="850">
                <a:solidFill>
                  <a:srgbClr val="D1D5DB"/>
                </a:solidFill>
                <a:latin typeface="Calibri"/>
              </a:rPr>
              <a:t>What data does Spinergie already export — raw AIS, processed events, or both?</a:t>
            </a:r>
          </a:p>
          <a:p>
            <a:pPr marL="180000" indent="-180000">
              <a:spcAft>
                <a:spcPts val="300"/>
              </a:spcAft>
              <a:buChar char="•"/>
            </a:pPr>
            <a:r>
              <a:rPr sz="850">
                <a:solidFill>
                  <a:srgbClr val="D1D5DB"/>
                </a:solidFill>
                <a:latin typeface="Calibri"/>
              </a:rPr>
              <a:t>Is there any existing ERP or TMS at Berau or ABL that could be a data source?</a:t>
            </a:r>
          </a:p>
          <a:p>
            <a:pPr marL="180000" indent="-180000">
              <a:spcAft>
                <a:spcPts val="300"/>
              </a:spcAft>
              <a:buChar char="•"/>
            </a:pPr>
            <a:r>
              <a:rPr sz="850">
                <a:solidFill>
                  <a:srgbClr val="D1D5DB"/>
                </a:solidFill>
                <a:latin typeface="Calibri"/>
              </a:rPr>
              <a:t>Who owns the master data authority for vessel specs, jetty limits, and grade compatibility?</a:t>
            </a:r>
          </a:p>
        </p:txBody>
      </p:sp>
      <p:sp>
        <p:nvSpPr>
          <p:cNvPr id="20" name="Rectangle 19"/>
          <p:cNvSpPr/>
          <p:nvPr/>
        </p:nvSpPr>
        <p:spPr>
          <a:xfrm>
            <a:off x="4663440" y="2395728"/>
            <a:ext cx="4160520" cy="1298448"/>
          </a:xfrm>
          <a:prstGeom prst="rect">
            <a:avLst/>
          </a:prstGeom>
          <a:solidFill>
            <a:srgbClr val="25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663440" y="2395728"/>
            <a:ext cx="45720" cy="12984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91455" y="2450592"/>
            <a:ext cx="3977639" cy="219456"/>
          </a:xfrm>
          <a:prstGeom prst="rect">
            <a:avLst/>
          </a:prstGeom>
          <a:noFill/>
        </p:spPr>
        <p:txBody>
          <a:bodyPr wrap="square">
            <a:spAutoFit/>
          </a:bodyPr>
          <a:lstStyle/>
          <a:p>
            <a:pPr algn="l"/>
            <a:r>
              <a:rPr sz="750" b="1" i="0">
                <a:solidFill>
                  <a:srgbClr val="F59E0B"/>
                </a:solidFill>
                <a:latin typeface="Calibri"/>
              </a:rPr>
              <a:t>FLEET &amp; MAINTENANCE</a:t>
            </a:r>
          </a:p>
        </p:txBody>
      </p:sp>
      <p:sp>
        <p:nvSpPr>
          <p:cNvPr id="23" name="TextBox 22"/>
          <p:cNvSpPr txBox="1"/>
          <p:nvPr/>
        </p:nvSpPr>
        <p:spPr>
          <a:xfrm>
            <a:off x="4791455" y="2688336"/>
            <a:ext cx="3959352" cy="950976"/>
          </a:xfrm>
          <a:prstGeom prst="rect">
            <a:avLst/>
          </a:prstGeom>
          <a:noFill/>
        </p:spPr>
        <p:txBody>
          <a:bodyPr wrap="square">
            <a:spAutoFit/>
          </a:bodyPr>
          <a:lstStyle/>
          <a:p>
            <a:pPr marL="180000" indent="-180000">
              <a:spcAft>
                <a:spcPts val="300"/>
              </a:spcAft>
              <a:buChar char="•"/>
            </a:pPr>
            <a:r>
              <a:rPr sz="850">
                <a:solidFill>
                  <a:srgbClr val="D1D5DB"/>
                </a:solidFill>
                <a:latin typeface="Calibri"/>
              </a:rPr>
              <a:t>What is the realistic cycle time (load→sail→transship→return) for each barge class?</a:t>
            </a:r>
          </a:p>
          <a:p>
            <a:pPr marL="180000" indent="-180000">
              <a:spcAft>
                <a:spcPts val="300"/>
              </a:spcAft>
              <a:buChar char="•"/>
            </a:pPr>
            <a:r>
              <a:rPr sz="850">
                <a:solidFill>
                  <a:srgbClr val="D1D5DB"/>
                </a:solidFill>
                <a:latin typeface="Calibri"/>
              </a:rPr>
              <a:t>How is maintenance planned and communicated today — spreadsheet, paper, verbal?</a:t>
            </a:r>
          </a:p>
          <a:p>
            <a:pPr marL="180000" indent="-180000">
              <a:spcAft>
                <a:spcPts val="300"/>
              </a:spcAft>
              <a:buChar char="•"/>
            </a:pPr>
            <a:r>
              <a:rPr sz="850">
                <a:solidFill>
                  <a:srgbClr val="D1D5DB"/>
                </a:solidFill>
                <a:latin typeface="Calibri"/>
              </a:rPr>
              <a:t>Is tug-barge pairing fixed or can tugs be swapped mid-assignment?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2B45"/>
        </a:solidFill>
        <a:effectLst/>
      </p:bgPr>
    </p:bg>
    <p:spTree>
      <p:nvGrpSpPr>
        <p:cNvPr id="1" name=""/>
        <p:cNvGrpSpPr/>
        <p:nvPr/>
      </p:nvGrpSpPr>
      <p:grpSpPr>
        <a:xfrm>
          <a:off x="0" y="0"/>
          <a:ext cx="0" cy="0"/>
          <a:chOff x="0" y="0"/>
          <a:chExt cx="0" cy="0"/>
        </a:xfrm>
      </p:grpSpPr>
      <p:sp>
        <p:nvSpPr>
          <p:cNvPr id="2" name="Title"/>
          <p:cNvSpPr txBox="1"/>
          <p:nvPr/>
        </p:nvSpPr>
        <p:spPr>
          <a:xfrm>
            <a:off x="411480" y="164592"/>
            <a:ext cx="8321040" cy="400110"/>
          </a:xfrm>
          <a:prstGeom prst="rect">
            <a:avLst/>
          </a:prstGeom>
          <a:noFill/>
        </p:spPr>
        <p:txBody>
          <a:bodyPr wrap="square">
            <a:spAutoFit/>
          </a:bodyPr>
          <a:lstStyle/>
          <a:p>
            <a:pPr algn="l"/>
            <a:r>
              <a:rPr sz="2000" b="1" i="0" dirty="0">
                <a:solidFill>
                  <a:srgbClr val="FFFFFF"/>
                </a:solidFill>
                <a:latin typeface="Calibri"/>
              </a:rPr>
              <a:t>Open Questions — Discovery Topics from the Questionnaire</a:t>
            </a:r>
            <a:r>
              <a:rPr lang="en-US" sz="2000" b="1" i="0" dirty="0">
                <a:solidFill>
                  <a:srgbClr val="FFFFFF"/>
                </a:solidFill>
                <a:latin typeface="Calibri"/>
              </a:rPr>
              <a:t> 2</a:t>
            </a:r>
            <a:endParaRPr sz="2000" b="1" i="0" dirty="0">
              <a:solidFill>
                <a:srgbClr val="FFFFFF"/>
              </a:solidFill>
              <a:latin typeface="Calibri"/>
            </a:endParaRPr>
          </a:p>
        </p:txBody>
      </p:sp>
      <p:sp>
        <p:nvSpPr>
          <p:cNvPr id="3" name="Subtitle"/>
          <p:cNvSpPr txBox="1"/>
          <p:nvPr/>
        </p:nvSpPr>
        <p:spPr>
          <a:xfrm>
            <a:off x="411480" y="658368"/>
            <a:ext cx="7200000" cy="256032"/>
          </a:xfrm>
          <a:prstGeom prst="rect">
            <a:avLst/>
          </a:prstGeom>
          <a:noFill/>
        </p:spPr>
        <p:txBody>
          <a:bodyPr wrap="square">
            <a:spAutoFit/>
          </a:bodyPr>
          <a:lstStyle/>
          <a:p>
            <a:pPr algn="l"/>
            <a:r>
              <a:rPr sz="1000" b="0" i="1">
                <a:solidFill>
                  <a:srgbClr val="94A3B8"/>
                </a:solidFill>
                <a:latin typeface="Calibri"/>
              </a:rPr>
              <a:t>These questions from the business discovery session are not yet addressed in the platform design</a:t>
            </a:r>
          </a:p>
        </p:txBody>
      </p:sp>
      <p:sp>
        <p:nvSpPr>
          <p:cNvPr id="4" name="Card1BG"/>
          <p:cNvSpPr/>
          <p:nvPr/>
        </p:nvSpPr>
        <p:spPr>
          <a:xfrm>
            <a:off x="292608" y="987552"/>
            <a:ext cx="4160520" cy="1298448"/>
          </a:xfrm>
          <a:prstGeom prst="rect">
            <a:avLst/>
          </a:prstGeom>
          <a:solidFill>
            <a:srgbClr val="25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ard1Accent"/>
          <p:cNvSpPr/>
          <p:nvPr/>
        </p:nvSpPr>
        <p:spPr>
          <a:xfrm>
            <a:off x="292608" y="987552"/>
            <a:ext cx="45720" cy="12984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at1Label"/>
          <p:cNvSpPr txBox="1"/>
          <p:nvPr/>
        </p:nvSpPr>
        <p:spPr>
          <a:xfrm>
            <a:off x="420624" y="1042416"/>
            <a:ext cx="3977639" cy="219456"/>
          </a:xfrm>
          <a:prstGeom prst="rect">
            <a:avLst/>
          </a:prstGeom>
          <a:noFill/>
        </p:spPr>
        <p:txBody>
          <a:bodyPr wrap="square">
            <a:spAutoFit/>
          </a:bodyPr>
          <a:lstStyle/>
          <a:p>
            <a:pPr algn="l"/>
            <a:r>
              <a:rPr sz="750" b="1" i="0">
                <a:solidFill>
                  <a:srgbClr val="F59E0B"/>
                </a:solidFill>
                <a:latin typeface="Calibri"/>
              </a:rPr>
              <a:t>THE OPERATION TODAY</a:t>
            </a:r>
          </a:p>
        </p:txBody>
      </p:sp>
      <p:sp>
        <p:nvSpPr>
          <p:cNvPr id="7" name="Cat1Qs"/>
          <p:cNvSpPr txBox="1"/>
          <p:nvPr/>
        </p:nvSpPr>
        <p:spPr>
          <a:xfrm>
            <a:off x="420624" y="1270000"/>
            <a:ext cx="3959352" cy="980000"/>
          </a:xfrm>
          <a:prstGeom prst="rect">
            <a:avLst/>
          </a:prstGeom>
          <a:noFill/>
        </p:spPr>
        <p:txBody>
          <a:bodyPr wrap="square">
            <a:spAutoFit/>
          </a:bodyPr>
          <a:lstStyle/>
          <a:p>
            <a:pPr marL="180000" indent="-180000">
              <a:spcAft>
                <a:spcPts val="300"/>
              </a:spcAft>
              <a:buChar char="•"/>
            </a:pPr>
            <a:r>
              <a:rPr sz="820">
                <a:solidFill>
                  <a:srgbClr val="D1D5DB"/>
                </a:solidFill>
                <a:latin typeface="Calibri"/>
              </a:rPr>
              <a:t>Walk through a typical shipment from OGV confirmation to sailing — what are the key handoffs at each stage?</a:t>
            </a:r>
          </a:p>
          <a:p>
            <a:pPr marL="180000" indent="-180000">
              <a:spcAft>
                <a:spcPts val="300"/>
              </a:spcAft>
              <a:buChar char="•"/>
            </a:pPr>
            <a:r>
              <a:rPr sz="820">
                <a:solidFill>
                  <a:srgbClr val="D1D5DB"/>
                </a:solidFill>
                <a:latin typeface="Calibri"/>
              </a:rPr>
              <a:t>How many OGV shipments per month, and how many barges and tugs are in play at any given time?</a:t>
            </a:r>
          </a:p>
          <a:p>
            <a:pPr marL="180000" indent="-180000">
              <a:spcAft>
                <a:spcPts val="300"/>
              </a:spcAft>
              <a:buChar char="•"/>
            </a:pPr>
            <a:r>
              <a:rPr sz="820">
                <a:solidFill>
                  <a:srgbClr val="D1D5DB"/>
                </a:solidFill>
                <a:latin typeface="Calibri"/>
              </a:rPr>
              <a:t>Who owns scheduling decisions today — one person or a team — and how is the plan communicated to the fleet?</a:t>
            </a:r>
          </a:p>
        </p:txBody>
      </p:sp>
      <p:sp>
        <p:nvSpPr>
          <p:cNvPr id="8" name="Card2BG"/>
          <p:cNvSpPr/>
          <p:nvPr/>
        </p:nvSpPr>
        <p:spPr>
          <a:xfrm>
            <a:off x="4663440" y="987552"/>
            <a:ext cx="4160520" cy="1298448"/>
          </a:xfrm>
          <a:prstGeom prst="rect">
            <a:avLst/>
          </a:prstGeom>
          <a:solidFill>
            <a:srgbClr val="25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ard2Accent"/>
          <p:cNvSpPr/>
          <p:nvPr/>
        </p:nvSpPr>
        <p:spPr>
          <a:xfrm>
            <a:off x="4663440" y="987552"/>
            <a:ext cx="45720" cy="12984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at2Label"/>
          <p:cNvSpPr txBox="1"/>
          <p:nvPr/>
        </p:nvSpPr>
        <p:spPr>
          <a:xfrm>
            <a:off x="4791455" y="1042416"/>
            <a:ext cx="3977639" cy="219456"/>
          </a:xfrm>
          <a:prstGeom prst="rect">
            <a:avLst/>
          </a:prstGeom>
          <a:noFill/>
        </p:spPr>
        <p:txBody>
          <a:bodyPr wrap="square">
            <a:spAutoFit/>
          </a:bodyPr>
          <a:lstStyle/>
          <a:p>
            <a:pPr algn="l"/>
            <a:r>
              <a:rPr sz="750" b="1" i="0">
                <a:solidFill>
                  <a:srgbClr val="F59E0B"/>
                </a:solidFill>
                <a:latin typeface="Calibri"/>
              </a:rPr>
              <a:t>SCHEDULING INPUTS</a:t>
            </a:r>
          </a:p>
        </p:txBody>
      </p:sp>
      <p:sp>
        <p:nvSpPr>
          <p:cNvPr id="11" name="Cat2Qs"/>
          <p:cNvSpPr txBox="1"/>
          <p:nvPr/>
        </p:nvSpPr>
        <p:spPr>
          <a:xfrm>
            <a:off x="4791455" y="1270000"/>
            <a:ext cx="3959352" cy="980000"/>
          </a:xfrm>
          <a:prstGeom prst="rect">
            <a:avLst/>
          </a:prstGeom>
          <a:noFill/>
        </p:spPr>
        <p:txBody>
          <a:bodyPr wrap="square">
            <a:spAutoFit/>
          </a:bodyPr>
          <a:lstStyle/>
          <a:p>
            <a:pPr marL="180000" indent="-180000">
              <a:spcAft>
                <a:spcPts val="300"/>
              </a:spcAft>
              <a:buChar char="•"/>
            </a:pPr>
            <a:r>
              <a:rPr sz="820">
                <a:solidFill>
                  <a:srgbClr val="D1D5DB"/>
                </a:solidFill>
                <a:latin typeface="Calibri"/>
              </a:rPr>
              <a:t>What information must be confirmed before a barge trip can be scheduled — what does a planner check first?</a:t>
            </a:r>
          </a:p>
          <a:p>
            <a:pPr marL="180000" indent="-180000">
              <a:spcAft>
                <a:spcPts val="300"/>
              </a:spcAft>
              <a:buChar char="•"/>
            </a:pPr>
            <a:r>
              <a:rPr sz="820">
                <a:solidFill>
                  <a:srgbClr val="D1D5DB"/>
                </a:solidFill>
                <a:latin typeface="Calibri"/>
              </a:rPr>
              <a:t>How is OGV arrival information received, and how far in advance and how reliable is that notice in practice?</a:t>
            </a:r>
          </a:p>
          <a:p>
            <a:pPr marL="180000" indent="-180000">
              <a:spcAft>
                <a:spcPts val="300"/>
              </a:spcAft>
              <a:buChar char="•"/>
            </a:pPr>
            <a:r>
              <a:rPr sz="820">
                <a:solidFill>
                  <a:srgbClr val="D1D5DB"/>
                </a:solidFill>
                <a:latin typeface="Calibri"/>
              </a:rPr>
              <a:t>How is current barge and tug position tracked today — GPS, phone calls, radio, or manual log?</a:t>
            </a:r>
          </a:p>
        </p:txBody>
      </p:sp>
      <p:sp>
        <p:nvSpPr>
          <p:cNvPr id="12" name="Card3BG"/>
          <p:cNvSpPr/>
          <p:nvPr/>
        </p:nvSpPr>
        <p:spPr>
          <a:xfrm>
            <a:off x="292608" y="2395728"/>
            <a:ext cx="4160520" cy="1298448"/>
          </a:xfrm>
          <a:prstGeom prst="rect">
            <a:avLst/>
          </a:prstGeom>
          <a:solidFill>
            <a:srgbClr val="25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ard3Accent"/>
          <p:cNvSpPr/>
          <p:nvPr/>
        </p:nvSpPr>
        <p:spPr>
          <a:xfrm>
            <a:off x="292608" y="2395728"/>
            <a:ext cx="45720" cy="12984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at3Label"/>
          <p:cNvSpPr txBox="1"/>
          <p:nvPr/>
        </p:nvSpPr>
        <p:spPr>
          <a:xfrm>
            <a:off x="420624" y="2450592"/>
            <a:ext cx="3977639" cy="219456"/>
          </a:xfrm>
          <a:prstGeom prst="rect">
            <a:avLst/>
          </a:prstGeom>
          <a:noFill/>
        </p:spPr>
        <p:txBody>
          <a:bodyPr wrap="square">
            <a:spAutoFit/>
          </a:bodyPr>
          <a:lstStyle/>
          <a:p>
            <a:pPr algn="l"/>
            <a:r>
              <a:rPr sz="750" b="1" i="0">
                <a:solidFill>
                  <a:srgbClr val="F59E0B"/>
                </a:solidFill>
                <a:latin typeface="Calibri"/>
              </a:rPr>
              <a:t>RULES &amp; DISRUPTIONS</a:t>
            </a:r>
          </a:p>
        </p:txBody>
      </p:sp>
      <p:sp>
        <p:nvSpPr>
          <p:cNvPr id="15" name="Cat3Qs"/>
          <p:cNvSpPr txBox="1"/>
          <p:nvPr/>
        </p:nvSpPr>
        <p:spPr>
          <a:xfrm>
            <a:off x="420624" y="2688336"/>
            <a:ext cx="3959352" cy="980000"/>
          </a:xfrm>
          <a:prstGeom prst="rect">
            <a:avLst/>
          </a:prstGeom>
          <a:noFill/>
        </p:spPr>
        <p:txBody>
          <a:bodyPr wrap="square">
            <a:spAutoFit/>
          </a:bodyPr>
          <a:lstStyle/>
          <a:p>
            <a:pPr marL="180000" indent="-180000">
              <a:spcAft>
                <a:spcPts val="300"/>
              </a:spcAft>
              <a:buChar char="•"/>
            </a:pPr>
            <a:r>
              <a:rPr sz="820">
                <a:solidFill>
                  <a:srgbClr val="D1D5DB"/>
                </a:solidFill>
                <a:latin typeface="Calibri"/>
              </a:rPr>
              <a:t>Can two OGVs load simultaneously — and how is it decided which barge goes to which ship at any given moment?</a:t>
            </a:r>
          </a:p>
          <a:p>
            <a:pPr marL="180000" indent="-180000">
              <a:spcAft>
                <a:spcPts val="300"/>
              </a:spcAft>
              <a:buChar char="•"/>
            </a:pPr>
            <a:r>
              <a:rPr sz="820">
                <a:solidFill>
                  <a:srgbClr val="D1D5DB"/>
                </a:solidFill>
                <a:latin typeface="Calibri"/>
              </a:rPr>
              <a:t>When a barge breaks down or an OGV arrives late, walk through the actual recovery process step by step.</a:t>
            </a:r>
          </a:p>
          <a:p>
            <a:pPr marL="180000" indent="-180000">
              <a:spcAft>
                <a:spcPts val="300"/>
              </a:spcAft>
              <a:buChar char="•"/>
            </a:pPr>
            <a:r>
              <a:rPr sz="820">
                <a:solidFill>
                  <a:srgbClr val="D1D5DB"/>
                </a:solidFill>
                <a:latin typeface="Calibri"/>
              </a:rPr>
              <a:t>When two OGVs urgently need barges simultaneously, how is priority decided and who makes that call?</a:t>
            </a:r>
          </a:p>
        </p:txBody>
      </p:sp>
      <p:sp>
        <p:nvSpPr>
          <p:cNvPr id="16" name="Card4BG"/>
          <p:cNvSpPr/>
          <p:nvPr/>
        </p:nvSpPr>
        <p:spPr>
          <a:xfrm>
            <a:off x="4663440" y="2395728"/>
            <a:ext cx="4160520" cy="1298448"/>
          </a:xfrm>
          <a:prstGeom prst="rect">
            <a:avLst/>
          </a:prstGeom>
          <a:solidFill>
            <a:srgbClr val="25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ard4Accent"/>
          <p:cNvSpPr/>
          <p:nvPr/>
        </p:nvSpPr>
        <p:spPr>
          <a:xfrm>
            <a:off x="4663440" y="2395728"/>
            <a:ext cx="45720" cy="12984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at4Label"/>
          <p:cNvSpPr txBox="1"/>
          <p:nvPr/>
        </p:nvSpPr>
        <p:spPr>
          <a:xfrm>
            <a:off x="4791455" y="2450592"/>
            <a:ext cx="3977639" cy="219456"/>
          </a:xfrm>
          <a:prstGeom prst="rect">
            <a:avLst/>
          </a:prstGeom>
          <a:noFill/>
        </p:spPr>
        <p:txBody>
          <a:bodyPr wrap="square">
            <a:spAutoFit/>
          </a:bodyPr>
          <a:lstStyle/>
          <a:p>
            <a:pPr algn="l"/>
            <a:r>
              <a:rPr sz="750" b="1" i="0">
                <a:solidFill>
                  <a:srgbClr val="F59E0B"/>
                </a:solidFill>
                <a:latin typeface="Calibri"/>
              </a:rPr>
              <a:t>CURRENT PAIN &amp; PROCESS</a:t>
            </a:r>
          </a:p>
        </p:txBody>
      </p:sp>
      <p:sp>
        <p:nvSpPr>
          <p:cNvPr id="19" name="Cat4Qs"/>
          <p:cNvSpPr txBox="1"/>
          <p:nvPr/>
        </p:nvSpPr>
        <p:spPr>
          <a:xfrm>
            <a:off x="4791455" y="2688336"/>
            <a:ext cx="3959352" cy="980000"/>
          </a:xfrm>
          <a:prstGeom prst="rect">
            <a:avLst/>
          </a:prstGeom>
          <a:noFill/>
        </p:spPr>
        <p:txBody>
          <a:bodyPr wrap="square">
            <a:spAutoFit/>
          </a:bodyPr>
          <a:lstStyle/>
          <a:p>
            <a:pPr marL="180000" indent="-180000">
              <a:spcAft>
                <a:spcPts val="300"/>
              </a:spcAft>
              <a:buChar char="•"/>
            </a:pPr>
            <a:r>
              <a:rPr sz="820">
                <a:solidFill>
                  <a:srgbClr val="D1D5DB"/>
                </a:solidFill>
                <a:latin typeface="Calibri"/>
              </a:rPr>
              <a:t>What does the current Excel schedule look like — structure, columns, how it is updated and shared with the team?</a:t>
            </a:r>
          </a:p>
          <a:p>
            <a:pPr marL="180000" indent="-180000">
              <a:spcAft>
                <a:spcPts val="300"/>
              </a:spcAft>
              <a:buChar char="•"/>
            </a:pPr>
            <a:r>
              <a:rPr sz="820">
                <a:solidFill>
                  <a:srgbClr val="D1D5DB"/>
                </a:solidFill>
                <a:latin typeface="Calibri"/>
              </a:rPr>
              <a:t>Which parts of the current process cause the most pain — where does the schedule most often break down?</a:t>
            </a:r>
          </a:p>
          <a:p>
            <a:pPr marL="180000" indent="-180000">
              <a:spcAft>
                <a:spcPts val="300"/>
              </a:spcAft>
              <a:buChar char="•"/>
            </a:pPr>
            <a:r>
              <a:rPr sz="820">
                <a:solidFill>
                  <a:srgbClr val="D1D5DB"/>
                </a:solidFill>
                <a:latin typeface="Calibri"/>
              </a:rPr>
              <a:t>What reports or documents are produced post-scheduling — are these still created manually, and who receives them?</a:t>
            </a:r>
          </a:p>
        </p:txBody>
      </p:sp>
      <p:sp>
        <p:nvSpPr>
          <p:cNvPr id="20" name="FootnoteBar"/>
          <p:cNvSpPr txBox="1"/>
          <p:nvPr/>
        </p:nvSpPr>
        <p:spPr>
          <a:xfrm>
            <a:off x="411480" y="3786624"/>
            <a:ext cx="8321040" cy="228600"/>
          </a:xfrm>
          <a:prstGeom prst="rect">
            <a:avLst/>
          </a:prstGeom>
          <a:noFill/>
        </p:spPr>
        <p:txBody>
          <a:bodyPr wrap="square">
            <a:spAutoFit/>
          </a:bodyPr>
          <a:lstStyle/>
          <a:p>
            <a:pPr algn="l"/>
            <a:r>
              <a:rPr sz="800" b="0" i="1">
                <a:solidFill>
                  <a:srgbClr val="94A3B8"/>
                </a:solidFill>
                <a:latin typeface="Calibri"/>
              </a:rPr>
              <a:t>Also: Is there anything unique or unusual about the operation we should know? Can the current Excel schedule file be shared after the call?</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1324</TotalTime>
  <Words>1857</Words>
  <Application>Microsoft Office PowerPoint</Application>
  <PresentationFormat>On-screen Show (16:9)</PresentationFormat>
  <Paragraphs>249</Paragraphs>
  <Slides>9</Slides>
  <Notes>7</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Santosh Thapa</cp:lastModifiedBy>
  <cp:revision>12</cp:revision>
  <dcterms:created xsi:type="dcterms:W3CDTF">2013-01-27T09:14:16Z</dcterms:created>
  <dcterms:modified xsi:type="dcterms:W3CDTF">2026-05-23T16:07:48Z</dcterms:modified>
  <cp:category/>
</cp:coreProperties>
</file>