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6af608928f4be2" /><Relationship Type="http://schemas.openxmlformats.org/officeDocument/2006/relationships/extended-properties" Target="/docProps/app.xml" Id="R23a588c96d774d7f" /><Relationship Type="http://schemas.openxmlformats.org/officeDocument/2006/relationships/officeDocument" Target="/ppt/presentation.xml" Id="Rcfe4b2c045c941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e9e830ddac47b6"/>
  </p:sldMasterIdLst>
  <p:notesMasterIdLst>
    <p:notesMasterId xmlns:r="http://schemas.openxmlformats.org/officeDocument/2006/relationships" r:id="R9fe7b9fc0c324cd4"/>
  </p:notesMasterIdLst>
  <p:sldIdLst>
    <p:sldId xmlns:r="http://schemas.openxmlformats.org/officeDocument/2006/relationships" id="256" r:id="Red78e982c1cf48c7"/>
    <p:sldId xmlns:r="http://schemas.openxmlformats.org/officeDocument/2006/relationships" id="257" r:id="Rd30ff8e5cab74492"/>
    <p:sldId xmlns:r="http://schemas.openxmlformats.org/officeDocument/2006/relationships" id="258" r:id="Rcd1bd7efe25b4ff4"/>
    <p:sldId xmlns:r="http://schemas.openxmlformats.org/officeDocument/2006/relationships" id="259" r:id="R6911056ea1e243cc"/>
    <p:sldId xmlns:r="http://schemas.openxmlformats.org/officeDocument/2006/relationships" id="260" r:id="Rd1985aa67a144b1d"/>
    <p:sldId xmlns:r="http://schemas.openxmlformats.org/officeDocument/2006/relationships" id="261" r:id="R6115a634f70c42b5"/>
    <p:sldId xmlns:r="http://schemas.openxmlformats.org/officeDocument/2006/relationships" id="262" r:id="R290df9d9eec94ad3"/>
    <p:sldId xmlns:r="http://schemas.openxmlformats.org/officeDocument/2006/relationships" id="263" r:id="R7e885b9d599240fd"/>
    <p:sldId xmlns:r="http://schemas.openxmlformats.org/officeDocument/2006/relationships" id="264" r:id="R7a3b4cf1faf34cc7"/>
    <p:sldId xmlns:r="http://schemas.openxmlformats.org/officeDocument/2006/relationships" id="265" r:id="R6d02663a572c4aad"/>
    <p:sldId xmlns:r="http://schemas.openxmlformats.org/officeDocument/2006/relationships" id="266" r:id="R67610ab1b9d9450a"/>
    <p:sldId xmlns:r="http://schemas.openxmlformats.org/officeDocument/2006/relationships" id="267" r:id="Rdc11662df573497d"/>
    <p:sldId xmlns:r="http://schemas.openxmlformats.org/officeDocument/2006/relationships" id="268" r:id="Re0cb92cea1394c6f"/>
    <p:sldId xmlns:r="http://schemas.openxmlformats.org/officeDocument/2006/relationships" id="269" r:id="Reae1744bef154c5e"/>
    <p:sldId xmlns:r="http://schemas.openxmlformats.org/officeDocument/2006/relationships" id="270" r:id="R34b554c92a6c4bf4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c9f8dff49143e8" /><Relationship Type="http://schemas.openxmlformats.org/officeDocument/2006/relationships/slideMaster" Target="/ppt/slideMasters/slideMaster1.xml" Id="Rb3e9e830ddac47b6" /><Relationship Type="http://schemas.openxmlformats.org/officeDocument/2006/relationships/notesMaster" Target="/ppt/notesMasters/notesMaster1.xml" Id="R9fe7b9fc0c324cd4" /><Relationship Type="http://schemas.openxmlformats.org/officeDocument/2006/relationships/presProps" Target="/ppt/presProps.xml" Id="R9aafe58d433b4b5e" /><Relationship Type="http://schemas.openxmlformats.org/officeDocument/2006/relationships/viewProps" Target="/ppt/viewProps.xml" Id="R7e267d3eb3d94166" /><Relationship Type="http://schemas.openxmlformats.org/officeDocument/2006/relationships/tableStyles" Target="/ppt/tableStyles.xml" Id="R54d8ce82b9664649" /><Relationship Type="http://schemas.openxmlformats.org/officeDocument/2006/relationships/slide" Target="/ppt/slides/slide1.xml" Id="Red78e982c1cf48c7" /><Relationship Type="http://schemas.openxmlformats.org/officeDocument/2006/relationships/slide" Target="/ppt/slides/slide2.xml" Id="Rd30ff8e5cab74492" /><Relationship Type="http://schemas.openxmlformats.org/officeDocument/2006/relationships/slide" Target="/ppt/slides/slide3.xml" Id="Rcd1bd7efe25b4ff4" /><Relationship Type="http://schemas.openxmlformats.org/officeDocument/2006/relationships/slide" Target="/ppt/slides/slide4.xml" Id="R6911056ea1e243cc" /><Relationship Type="http://schemas.openxmlformats.org/officeDocument/2006/relationships/slide" Target="/ppt/slides/slide5.xml" Id="Rd1985aa67a144b1d" /><Relationship Type="http://schemas.openxmlformats.org/officeDocument/2006/relationships/slide" Target="/ppt/slides/slide6.xml" Id="R6115a634f70c42b5" /><Relationship Type="http://schemas.openxmlformats.org/officeDocument/2006/relationships/slide" Target="/ppt/slides/slide7.xml" Id="R290df9d9eec94ad3" /><Relationship Type="http://schemas.openxmlformats.org/officeDocument/2006/relationships/slide" Target="/ppt/slides/slide8.xml" Id="R7e885b9d599240fd" /><Relationship Type="http://schemas.openxmlformats.org/officeDocument/2006/relationships/slide" Target="/ppt/slides/slide9.xml" Id="R7a3b4cf1faf34cc7" /><Relationship Type="http://schemas.openxmlformats.org/officeDocument/2006/relationships/slide" Target="/ppt/slides/slide10.xml" Id="R6d02663a572c4aad" /><Relationship Type="http://schemas.openxmlformats.org/officeDocument/2006/relationships/slide" Target="/ppt/slides/slide11.xml" Id="R67610ab1b9d9450a" /><Relationship Type="http://schemas.openxmlformats.org/officeDocument/2006/relationships/slide" Target="/ppt/slides/slide12.xml" Id="Rdc11662df573497d" /><Relationship Type="http://schemas.openxmlformats.org/officeDocument/2006/relationships/slide" Target="/ppt/slides/slide13.xml" Id="Re0cb92cea1394c6f" /><Relationship Type="http://schemas.openxmlformats.org/officeDocument/2006/relationships/slide" Target="/ppt/slides/slide14.xml" Id="Reae1744bef154c5e" /><Relationship Type="http://schemas.openxmlformats.org/officeDocument/2006/relationships/slide" Target="/ppt/slides/slide15.xml" Id="R34b554c92a6c4b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75e859a0a84c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fd04f29c374990" /><Relationship Type="http://schemas.openxmlformats.org/officeDocument/2006/relationships/notesMaster" Target="/ppt/notesMasters/notesMaster1.xml" Id="Ra431de73fa1f4b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b6e6616c1843b1" /><Relationship Type="http://schemas.openxmlformats.org/officeDocument/2006/relationships/notesMaster" Target="/ppt/notesMasters/notesMaster1.xml" Id="R7459464b2d3a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5be21d748a4435" /><Relationship Type="http://schemas.openxmlformats.org/officeDocument/2006/relationships/notesMaster" Target="/ppt/notesMasters/notesMaster1.xml" Id="R8df88eec0f7b42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67d46cb19e4cd0" /><Relationship Type="http://schemas.openxmlformats.org/officeDocument/2006/relationships/notesMaster" Target="/ppt/notesMasters/notesMaster1.xml" Id="R3bccac550ad649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ec82380fa246fb" /><Relationship Type="http://schemas.openxmlformats.org/officeDocument/2006/relationships/notesMaster" Target="/ppt/notesMasters/notesMaster1.xml" Id="Rbabbe70737c74f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4b7ff097b9453b" /><Relationship Type="http://schemas.openxmlformats.org/officeDocument/2006/relationships/notesMaster" Target="/ppt/notesMasters/notesMaster1.xml" Id="Rb5aa666262174b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92ba21d8df4ebf" /><Relationship Type="http://schemas.openxmlformats.org/officeDocument/2006/relationships/notesMaster" Target="/ppt/notesMasters/notesMaster1.xml" Id="Ree711b02cc0d44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3426dc12b94d2a" /><Relationship Type="http://schemas.openxmlformats.org/officeDocument/2006/relationships/notesMaster" Target="/ppt/notesMasters/notesMaster1.xml" Id="R9998a1491fae44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5b40fbb1474db5" /><Relationship Type="http://schemas.openxmlformats.org/officeDocument/2006/relationships/notesMaster" Target="/ppt/notesMasters/notesMaster1.xml" Id="R757eff0a348c4ba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323c8acc824e5f" /><Relationship Type="http://schemas.openxmlformats.org/officeDocument/2006/relationships/notesMaster" Target="/ppt/notesMasters/notesMaster1.xml" Id="Radd16f1fc4f84b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2564388711431e" /><Relationship Type="http://schemas.openxmlformats.org/officeDocument/2006/relationships/notesMaster" Target="/ppt/notesMasters/notesMaster1.xml" Id="Rd1c51d78886b44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7a4ecfa1424f56" /><Relationship Type="http://schemas.openxmlformats.org/officeDocument/2006/relationships/notesMaster" Target="/ppt/notesMasters/notesMaster1.xml" Id="R437d8a48282e4c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d34ad92ecc4777" /><Relationship Type="http://schemas.openxmlformats.org/officeDocument/2006/relationships/notesMaster" Target="/ppt/notesMasters/notesMaster1.xml" Id="R8d6eeb72df944d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e92d6775924e21" /><Relationship Type="http://schemas.openxmlformats.org/officeDocument/2006/relationships/notesMaster" Target="/ppt/notesMasters/notesMaster1.xml" Id="R366bf23715044a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5b942bde5d48b1" /><Relationship Type="http://schemas.openxmlformats.org/officeDocument/2006/relationships/notesMaster" Target="/ppt/notesMasters/notesMaster1.xml" Id="R30c7b40a5b34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3429d8c664b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285e0baa734747" /><Relationship Type="http://schemas.openxmlformats.org/officeDocument/2006/relationships/slideLayout" Target="/ppt/slideLayouts/slideLayout1.xml" Id="R5c08eca21ae044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8eca21ae044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5ecc5d9dd48dc" /><Relationship Type="http://schemas.openxmlformats.org/officeDocument/2006/relationships/notesSlide" Target="/ppt/notesSlides/notesSlide1.xml" Id="R26e066d4af744d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83e0406648f7" /><Relationship Type="http://schemas.openxmlformats.org/officeDocument/2006/relationships/notesSlide" Target="/ppt/notesSlides/notesSlide2.xml" Id="Rf9717a85f8334b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78b6ce2724c4e" /><Relationship Type="http://schemas.openxmlformats.org/officeDocument/2006/relationships/notesSlide" Target="/ppt/notesSlides/notesSlide3.xml" Id="R16c2f616dd2e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c5277297740d6" /><Relationship Type="http://schemas.openxmlformats.org/officeDocument/2006/relationships/notesSlide" Target="/ppt/notesSlides/notesSlide4.xml" Id="R79a750918385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aa32f308c4299" /><Relationship Type="http://schemas.openxmlformats.org/officeDocument/2006/relationships/notesSlide" Target="/ppt/notesSlides/notesSlide5.xml" Id="R1863c9de135b4e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bf4ae64fa44a3d" /><Relationship Type="http://schemas.openxmlformats.org/officeDocument/2006/relationships/notesSlide" Target="/ppt/notesSlides/notesSlide6.xml" Id="R585155fe40e949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53ea3bc34496c" /><Relationship Type="http://schemas.openxmlformats.org/officeDocument/2006/relationships/notesSlide" Target="/ppt/notesSlides/notesSlide7.xml" Id="Rb9cb4705c90f4b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fbd67aed4652" /><Relationship Type="http://schemas.openxmlformats.org/officeDocument/2006/relationships/notesSlide" Target="/ppt/notesSlides/notesSlide8.xml" Id="R6a0201a3da194e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5304fdf164123" /><Relationship Type="http://schemas.openxmlformats.org/officeDocument/2006/relationships/notesSlide" Target="/ppt/notesSlides/notesSlide9.xml" Id="Rfc92ad49661e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a440d5d1e40f7" /><Relationship Type="http://schemas.openxmlformats.org/officeDocument/2006/relationships/notesSlide" Target="/ppt/notesSlides/notesSlide10.xml" Id="Reffcaed1310f48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32ace331a4fdc" /><Relationship Type="http://schemas.openxmlformats.org/officeDocument/2006/relationships/notesSlide" Target="/ppt/notesSlides/notesSlide11.xml" Id="Ra8b868ae926947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bd7c490c5418c" /><Relationship Type="http://schemas.openxmlformats.org/officeDocument/2006/relationships/notesSlide" Target="/ppt/notesSlides/notesSlide12.xml" Id="R15ab282a490045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7ec9c37024778" /><Relationship Type="http://schemas.openxmlformats.org/officeDocument/2006/relationships/notesSlide" Target="/ppt/notesSlides/notesSlide13.xml" Id="R8f04bca7b43944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4ee74e29a4a53" /><Relationship Type="http://schemas.openxmlformats.org/officeDocument/2006/relationships/notesSlide" Target="/ppt/notesSlides/notesSlide14.xml" Id="Rc9aa56b318a34e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a7c0b2d994b46" /><Relationship Type="http://schemas.openxmlformats.org/officeDocument/2006/relationships/notesSlide" Target="/ppt/notesSlides/notesSlide15.xml" Id="R7bed6482f7fe43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E0B3AC-D0ED-43F1-8B1E-4164AD65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62CD3-18C9-415B-8BFE-5B67317E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58A84-C21E-4E14-B5C7-8D65D3D2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Proposal Context &amp; Operating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2D79D-1553-4F51-B577-17AE56D3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341B4-E904-4D80-8A10-51766EFA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ABL needs synchronized planning across a moving transshipment 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1DC28-4CCF-4E87-A1BA-369CD32E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FE7C2-3176-4A69-ADCF-B9E2EC79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A790E-E751-4F3F-81C6-44D0A80B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59C20-E8E5-4E63-B39A-EFB902DA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8C849-968C-4BE4-BEB7-3C59CC7D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OPERATING SYSTEM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AC91D-68CD-4E91-9FAC-EE7C952D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A8FC3-2F5B-424B-A146-F6009B9A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90875"/>
            <a:ext cx="154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Berau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43748-CE5E-4945-AAFD-9AED7A1F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DA28A5-1AD3-42BF-9570-A7462AB8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944620" y="34351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73578F-F64B-4275-A268-C3688E01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480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57695-4828-4D54-B277-D66D79A7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90875"/>
            <a:ext cx="154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B0021-B60D-4738-B7EE-7C6A6083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DB2E7B-4DE3-4E53-AF6E-4D1543C9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5021070" y="34351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63C26-74A7-4597-B5EE-9C453E76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0480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65DF3-28CA-490D-9054-8650CD5C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90875"/>
            <a:ext cx="154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Jetty / BLC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C6206A-6E31-4120-9C6C-0E31E4E4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AF53A5-0F2C-4D49-AF24-B74A8B29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097520" y="34351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E0C99-EFDD-4AE9-8FF2-F4697074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480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5B5E7-C5AA-40A8-AF22-64C1ADF1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90875"/>
            <a:ext cx="154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Tug-barge flow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B39B09-FF7D-4622-86D2-41B719A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AB6A14-A415-4565-B304-2D362C5E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9173970" y="34351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501B3-B8CA-445F-8D79-12602177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480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FA572-4552-4CE8-88B2-BC6DAFE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90875"/>
            <a:ext cx="154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6E6C37-6532-4710-B798-E2F1E9BC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EECC4B-163B-4CA2-9FCC-C545F6BD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33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1250420" y="34351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8531CD-A8E7-4482-A2F5-9F2859DC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048000"/>
            <a:ext cx="180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3E863C-3BEC-431F-93D6-96D26A41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3190875"/>
            <a:ext cx="15430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OGV loading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039E06-E7A7-412A-93A8-7653C0A9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1295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B48090-51D9-4A57-8F84-10B5573D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05050"/>
            <a:ext cx="1066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Tide window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76E73F-F4E3-479A-8542-01439E5D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E96BD0-626E-4B63-B8B2-9ACF2EB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Bridge window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878B63-17FC-4A59-8334-446376BC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57763F6-7947-4392-A8A4-710AC8BD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050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Berth / CTS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C54FE7-C43A-4887-8E4A-5DB249B0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1771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132295-8C54-48AD-8A57-BDC14206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562475"/>
            <a:ext cx="1543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Fleet availability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4363AF-E232-4AE1-915C-54CF01EA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29300"/>
            <a:ext cx="1057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</a:defRPr>
            </a:pPr>
            <a:r>
              <a:t>Each operational decision changes the feasibility of the next movement.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1D5AEC-2F33-4E5C-A653-BA1E64F5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286500"/>
            <a:ext cx="914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A5F78"/>
                </a:solidFill>
              </a:defRPr>
            </a:pPr>
            <a:r>
              <a:t>The platform must synchronize demand, assets, windows and approvals into one governed flow.</a:t>
            </a:r>
          </a:p>
        </p:txBody>
      </p:sp>
    </p:spTree>
    <p:extLst>
      <p:ext uri="{BB962C8B-B14F-4D97-AF65-F5344CB8AC3E}">
        <p14:creationId xmlns:p14="http://schemas.microsoft.com/office/powerpoint/2010/main" val="926619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22B08-683B-484B-A5CC-200F6663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E5CC4-26B4-4100-91F9-8E08436D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B33D4-0740-43E7-B980-22289F7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94E67-DC01-4A3F-AEE6-A5E07B86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26C9F-0F0C-483A-B34E-1619C264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Planning changes faster than manual coordination can stabilize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B8144-5BF8-495F-91DB-5196659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151EC-89E9-4754-B90F-BBB98FCE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CE02B-F012-4553-B6C6-6B782C0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2/15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1C221-D9C4-4890-84B4-F6964E07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1E562-77C6-4E3A-9A88-403C38C6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PLANNING STRESS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C2128-460E-48EB-9595-0A161FA0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76500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3335">
            <a:solidFill>
              <a:srgbClr val="F2C8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F24EE-47E6-424A-B523-7E7FD5E1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1543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Demand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D47C1-6772-4E5F-895A-DDD27D39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E73C3-4238-4B17-A24D-17775565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43125"/>
            <a:ext cx="1924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Spreadsheet revision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227CA-C407-4BD2-BEAC-41BA83C1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571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69E30-43F1-4D2F-B021-09846881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19375"/>
            <a:ext cx="2305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WhatsApp / phone coordination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D991E6-93DB-4AE7-B1FF-D317673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33875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C901D-D00C-4E14-A324-E519A6CC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76750"/>
            <a:ext cx="2019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Planner judgement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61566-7E3C-4173-B675-B67212EB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57750"/>
            <a:ext cx="2000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4DD40-4C29-4F27-A277-D36D2196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00625"/>
            <a:ext cx="1733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Field change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3DD20-2770-47A3-9AEF-246F6D7E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33875"/>
            <a:ext cx="2286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3335">
            <a:solidFill>
              <a:srgbClr val="F2C8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DE6B2-2E82-464F-ADEC-3A377E4D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76750"/>
            <a:ext cx="2019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Replanned 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367D2-C044-4931-9E59-5477C6AD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805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801C3-A5AD-4E68-B12E-5116C03B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76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4678170" y="2377883"/>
            <a:ext cx="581025" cy="43536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1D64F6-CBC1-4464-91A1-D16ECC2D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3764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52AB1D-7A90-4D39-8116-63A7E07F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05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535670" y="2384618"/>
            <a:ext cx="542925" cy="4218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A9984-D332-46C6-BDD9-0D53409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76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FE3611-C362-40EC-919D-509E8272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624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421620" y="3184718"/>
            <a:ext cx="9525" cy="107911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AE056-2E8F-4AB6-B8B7-13C85C53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81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BB9F3A-A214-413A-BAF1-E0052286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157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7402320" y="4682933"/>
            <a:ext cx="733425" cy="4829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50747D-91C8-4FE2-B607-45741DA1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863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BDBD60-4DAD-4F74-95AA-A8D713FF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6815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5059170" y="4689668"/>
            <a:ext cx="257175" cy="49809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BEA0AC-99C7-437B-81AD-476B65FC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195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F05C88-6D45-4B84-92A0-2E9C2E89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186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 flipV="1">
            <a:off x="3135120" y="3194243"/>
            <a:ext cx="28575" cy="11267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A075E6-53AB-4EC8-8544-DE8813ED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34125"/>
            <a:ext cx="1981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4697CA-CADB-457B-81ED-D34362F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6400800"/>
            <a:ext cx="1752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Missed OGV schedule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2FB87D-D8AA-4F16-907B-B29B6C7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334125"/>
            <a:ext cx="1028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4B94F-E8B1-4E74-83D3-BB10CBD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00800"/>
            <a:ext cx="80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Waiting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EFE559-D415-43A0-A8C7-E4F0D0C0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334125"/>
            <a:ext cx="2228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3D5989-247D-4391-BDE9-AE859E8B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640080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Repeated reassignment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80A114-FA57-404F-B598-B81167C0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334125"/>
            <a:ext cx="2057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B66EFD-9A26-4C0E-BAAE-7AEACF4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6400800"/>
            <a:ext cx="1828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Underutilized assets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3B6713-BA7A-48B4-8F06-16FDFEBB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1847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2D2D"/>
          </a:solidFill>
          <a:ln xmlns:a="http://schemas.openxmlformats.org/drawingml/2006/main" w="0">
            <a:solidFill>
              <a:srgbClr val="BA2D2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08DE1A-2996-427D-8044-EEE58677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Reactive escalation</a:t>
            </a:r>
          </a:p>
        </p:txBody>
      </p:sp>
    </p:spTree>
    <p:extLst>
      <p:ext uri="{BB962C8B-B14F-4D97-AF65-F5344CB8AC3E}">
        <p14:creationId xmlns:p14="http://schemas.microsoft.com/office/powerpoint/2010/main" val="10735523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38EF7D-35F1-4140-B171-0C1261D7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5FD3D-F4FA-41AC-9663-7FC89ABE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C19B0-6012-4C06-92A3-67128EA2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Root Cause Perspective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135BD-F495-411C-933A-278CC384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CA31E-9B7D-49DB-91CC-96E161B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active constraint moves. The plan must move with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316FE-5544-4D92-A09E-F742AE5C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27884-DFF6-4A6B-BA38-06C4244D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8E63C-F7D9-4431-91D1-53D59E07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3/15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0A8B6-B395-4016-A302-9658ED8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E146C-DB34-4F65-8342-37472317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CCR-BASED 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D946-9EDA-4486-A6B2-784514C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ABC51-4DC0-48D3-8665-5C91EF3B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01DE-D418-488B-B801-5E41C7C9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54BFA-8739-4AC9-BD11-CE8A4398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696970" y="3739958"/>
            <a:ext cx="3524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4FEFB-1937-48A0-93C8-1128E874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477DC-7089-4B72-96EF-0742E0C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Jetty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57579D-8797-45DF-B3B1-11265F7F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1EEBC-17CC-48AE-A7B7-5880AC86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554345" y="3739958"/>
            <a:ext cx="3524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2C687A-FE15-4DB5-A644-4046C7E2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34DAF-1365-4C4A-9A59-25C62F2C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9C04CB-4B90-4A64-A363-532FA88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6D1172-3359-4E2C-BC0A-3DB5BE0D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411720" y="3739958"/>
            <a:ext cx="3524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C43834-0C09-427D-9269-32CB4BB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DF84C-839A-416B-BBA1-9703D1F2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Bridge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BB5065-73B3-4F00-9FEB-A537FE66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B2A72-F51B-40BF-8C6F-9B11C388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269095" y="3739958"/>
            <a:ext cx="3524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25F30D-CFC5-4CA3-A398-414BBF09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83CD1C-E64E-4BB6-B076-8399F97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Tug-barge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2378F9-3FF6-420A-A666-40813FD5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1A0E8-6AD2-4F84-87A1-B6B8E03A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0126470" y="3739958"/>
            <a:ext cx="3524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C6067C-1CF5-45D6-814E-00D514CB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881D9-F13F-4954-8FC0-BB5AC5E3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70D521-C1A4-4D76-A5FD-FC5BC3F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99DF7-6D60-4360-9C07-57AF9C1A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7385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1983845" y="3739958"/>
            <a:ext cx="3524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4F7BA0-850B-48A1-ADDC-4608B952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33750"/>
            <a:ext cx="1428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3EC464-C2EA-4A0F-9F41-0BB2D700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600450"/>
            <a:ext cx="112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OGV laycan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4145A7-E04F-4DDF-BF07-6CD642B5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34000"/>
            <a:ext cx="1209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33F"/>
                </a:solidFill>
              </a:defRPr>
            </a:pPr>
            <a:r>
              <a:t>Root cause: demand commitments are not continuously synchronized with the current executable capacity of the controlling constraint.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AA46DC-BEB3-4BBF-B05B-99CC5870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048375"/>
            <a:ext cx="962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A5F78"/>
                </a:solidFill>
              </a:defRPr>
            </a:pPr>
            <a:r>
              <a:t>The solution must make the active constraint visible, test feasibility and keep planning decisions governed.</a:t>
            </a:r>
          </a:p>
        </p:txBody>
      </p:sp>
    </p:spTree>
    <p:extLst>
      <p:ext uri="{BB962C8B-B14F-4D97-AF65-F5344CB8AC3E}">
        <p14:creationId xmlns:p14="http://schemas.microsoft.com/office/powerpoint/2010/main" val="16016086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CA1BD-2C6D-4027-8236-2A0A30D1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BBC64-946E-4D1F-A973-1F7CFF4D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26E70-95D4-4DB7-95C6-DA058436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Core Operating Philosophy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1A012-BCE4-4B5E-9A82-86E07BF8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AE03A-CFBE-4F96-B37F-D1F574D2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Every movement must pass through eligible resources and valid operating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8D468-0ACD-4B0E-9DD0-5004783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99382-8C68-4521-974F-F530F10E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CEE0E-DA21-4EC9-8EAC-A93F7B46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4/15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B44B3-4C3A-4240-8B15-50BAE024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32427-FAF9-4F57-AA9D-74AF59C1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FEASIBILITY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18D31-9295-4327-A506-D1F724E9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4246B-1B85-4937-9E71-AE005610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9562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00479-358A-4D53-8D55-5F512F08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DCACB-ABE2-48CE-9659-0CE5C337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766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1EC13-9281-4994-9E6C-F174EF13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37BFB-63DA-4B1E-9224-4821CFD4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5772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Assets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7CF93-B576-45EC-8CD0-D58F74BC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1619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3335">
            <a:solidFill>
              <a:srgbClr val="BFD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158E0-AA82-495F-B942-A3BA87DA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38775"/>
            <a:ext cx="135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C9ECF-DD11-4B10-B75A-39E8B4C3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C6DE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F21A9-0C96-40DA-B6BE-061EE8A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76625"/>
            <a:ext cx="1543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Tide / bridge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9D0CA-87F8-4AD3-83C0-3CE8A95D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62450"/>
            <a:ext cx="1809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C6DE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AB6582-C708-46B2-A23C-94EEE45C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1543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Jetty / 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FC22A-DAF9-4389-B1C1-D66EF4B2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242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79C34-805A-48AB-9F3E-C4378789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677920" y="3232343"/>
            <a:ext cx="3305175" cy="93624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75CAB5-12B3-4446-A989-11932188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0052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4BA7B-A621-49C6-8646-EEC9B313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677920" y="4013393"/>
            <a:ext cx="3305175" cy="15519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6B577-6A39-4288-97A1-EC680C07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7863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880252-DCB8-4FB5-B2D8-4CB0641F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2677920" y="4168583"/>
            <a:ext cx="3305175" cy="62586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404F17-65C1-4B5F-B0CF-31DE06C0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147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A29CD4-A60E-4F97-8222-E50F7FC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154420" y="3622868"/>
            <a:ext cx="828675" cy="54571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5B6C17-0FD1-42B5-A4E7-56FDE4AC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6434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C3EEC6-A738-4BFA-B399-A6368A76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5154420" y="4168583"/>
            <a:ext cx="828675" cy="48298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C861AD-848B-499E-AE43-5C4C02D5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8575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C979EA-578A-41DA-8BCF-B8247AA6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905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t>Constraint-aware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t>feasibility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AA22FD-B08F-4933-9A5B-435EB57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F76533-64CD-458B-BD57-4BAA86F0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90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 flipV="1">
            <a:off x="9059670" y="3692333"/>
            <a:ext cx="895350" cy="4829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D32"/>
            </a:solidFill>
            <a:prstDash val="solid"/>
            <a:headEnd type="non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6CAC0A-715E-4B47-AE33-46DE031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F97E48-3CD0-49C2-8F88-23F137CA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053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9059670" y="4175318"/>
            <a:ext cx="895350" cy="6314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63F4B1-D420-4D8B-AA7A-8D16AD6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323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BFD8B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5C62E0-F97E-4A5B-917E-5F4B4B3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29000"/>
            <a:ext cx="2971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32"/>
                </a:solidFill>
              </a:defRPr>
            </a:pPr>
            <a:r>
              <a:t>Feasible movement candidates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F3FC1A-CA76-4B7A-8F35-73EC5613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57700"/>
            <a:ext cx="3238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3335">
            <a:solidFill>
              <a:srgbClr val="EDC8A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B8A4CD-460E-4274-AEFB-427CF5B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600575"/>
            <a:ext cx="2971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6500"/>
                </a:solidFill>
              </a:defRPr>
            </a:pPr>
            <a:r>
              <a:t>Reason-coded blockers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7F338C-3E54-4651-848F-7FA0FABB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6305550"/>
            <a:ext cx="1009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F78"/>
                </a:solidFill>
              </a:defRPr>
            </a:pPr>
            <a:r>
              <a:t>Planner discretion remains possible, but it is captured through override reason, approval and audit.</a:t>
            </a:r>
          </a:p>
        </p:txBody>
      </p:sp>
    </p:spTree>
    <p:extLst>
      <p:ext uri="{BB962C8B-B14F-4D97-AF65-F5344CB8AC3E}">
        <p14:creationId xmlns:p14="http://schemas.microsoft.com/office/powerpoint/2010/main" val="10788908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3DD7BE-9248-4984-B70A-D1F00EDF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C9E7D7-7C7B-46A4-A75B-F615AEAE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119C9-D2A5-4A67-A394-83E8331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Vector Approach &amp; Proprietary Scaffolding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21336-A6AC-46C3-BD1F-17D87EDF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B3C9A-8183-43A2-B78A-BA021D3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Vector brings the scheduling base. Blueprinting makes it ABL-specific.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BB4EC-AAA0-460C-8EF6-BBCD4A70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D067F-6CE7-4518-92D1-D570D84D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49F1B-F1D0-487C-B3B1-E929BA79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5/15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A387C-73BD-4788-9492-0CBFFFBB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ACC25-9A1B-4A76-B744-2E7B1DBD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VECTOR BUILD APPROACH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D8B71-4300-44E0-8C59-83897A87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8572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5CC7D-16DF-4EE8-8B2F-A6133A9D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81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Governed planning platform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4F9C0-1748-446F-A512-9A3151BC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314700"/>
            <a:ext cx="79057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6BB45-59D3-4E0C-BDB4-64D4851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67100"/>
            <a:ext cx="714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ABL routes, assets, windows, approvals and integrations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960FA-FAA8-40DE-9ED3-F5DBE4B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57650"/>
            <a:ext cx="7239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4DF54-363D-4F2C-86CE-E1DF2F56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Dynamic constraint handling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7D3495-EDF3-4A9A-9580-01DD2756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00600"/>
            <a:ext cx="657225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DBE1D8-7732-46EE-8572-D028F059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0"/>
            <a:ext cx="581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Scenario and recovery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7F93F-28A0-4FDE-B061-1B01EAC3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43550"/>
            <a:ext cx="59055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5903C-B244-494D-AA37-BFA2B3D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95950"/>
            <a:ext cx="514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Vector proprietary scheduling 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4771B-8BA3-48F6-9B5B-D8C2C0A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715125"/>
            <a:ext cx="10953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</a:defRPr>
            </a:pPr>
            <a:r>
              <a:t>Configured around ABL-specific operating rules, assets, routes, tide and bridge logic, recovery workflows and governance.</a:t>
            </a:r>
          </a:p>
        </p:txBody>
      </p:sp>
    </p:spTree>
    <p:extLst>
      <p:ext uri="{BB962C8B-B14F-4D97-AF65-F5344CB8AC3E}">
        <p14:creationId xmlns:p14="http://schemas.microsoft.com/office/powerpoint/2010/main" val="1122964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3CD84-34DA-4DA4-8B85-2A73DB09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6CB50-EFC7-41BF-AB1B-C7B48F1C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2F287-CE92-4AA5-874A-E7928E87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Product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0765F4-22EC-4861-91A2-7CE6A069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A731C-0158-49F6-9565-4AD3B63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Demand to publish. Evidence to recovery.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ABC75-BCD5-4C55-B070-1EEA030A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AF160-6887-4B6F-82A7-34C927F7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C65A1-6AE2-4209-BF48-CD7E1AF2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6/15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6D7D6-C977-49BE-8EF3-9FB37294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EDB54-7DAE-49D9-8EAC-4955B9EA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END-TO-END PRODUCT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C12FC-4224-4FB3-99F0-EBE83E2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9C513-8FD3-4063-AFA2-C8683F3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OGV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624FA-F16C-4292-854F-DF5F9079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FB173-331D-4ACF-AF65-969A2DF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13499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FF128-E906-40A9-AF5E-3FB31339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B3DF4-AD6D-4D0F-9FF0-C480365B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AAF27-1B13-445A-BA55-E4A9305C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C715F-C765-411B-AC01-BE997442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383044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B9E3EE-F01F-4BED-8B06-FE7EF8A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047AA-EF2D-45ED-9AD3-57E4E85A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Operating windows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0810DC-F17B-423C-877F-4BC45FDC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711962-8EF3-4F77-A0FA-9310E7B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552589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985F38-AA7D-4D87-BCB8-44AC6AC9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EF3B7-3634-4580-A73E-2417A75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Movement candidates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58261-8A00-4916-B56F-456631D4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1B752-9DF4-4CFC-9F5D-A547C6C0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722134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BD953-85BB-43B2-B494-B281E3B2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9C9FFD-DF16-4FD6-A2CD-8BDD1BA2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Conflict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75938-46EC-46B6-B735-5DF76C0E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065EE6-E4C7-46C1-9CF4-6B1D8FA6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891679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5DAF9A-1FB6-4766-A1CF-C5138961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B43FED-6A4E-4FBA-ACEE-93720FE1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Approval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8DCC40-E8CC-4AE1-BE50-D8E95934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73DAA5-A23A-4DD4-BB15-61042ED0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061224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114F9F2-2D84-4021-BC4B-080C2CF9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28414B-D3C5-4B00-B043-136CF388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BCA6BB-8DBF-4EEF-B6C8-0F344B14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A6734A-C99F-4C58-A999-7686B037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7275" y="39290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12307695" y="3930458"/>
            <a:ext cx="1809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F4D318-131A-4AA3-80FA-008FF3F1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571875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513201-328A-4DD9-93C8-C62EBAA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714750"/>
            <a:ext cx="11620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Evidence &amp; recovery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0F80C6-D658-4067-A137-15D687E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76900"/>
            <a:ext cx="12001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product creates one governed path from planning intent to approved execution, then supports monitoring and recovery decisions.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8A970A-D9A0-4A20-81A9-F499674D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6572250"/>
            <a:ext cx="80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969E6A-BE98-4E0C-BB1A-C39640C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638925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75A4BD-E0AC-4E9D-A995-7521522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5722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E8397E-E9E9-4B4A-BC6D-D387546B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663892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Govern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08865D-6FA4-45B7-B90E-6F55921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572250"/>
            <a:ext cx="990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C3508B-318F-4125-8C1C-87642E8E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63892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Publish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1D504A-4698-44F4-88A1-B37FF64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5722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3A1631-0673-4DE0-A4A4-7AC65A1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638925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CD9BFD-C2D0-46E3-B59B-F6C2AF5C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5722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A15F04-37BB-45D2-BC8B-E4664DF8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638925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Recover</a:t>
            </a:r>
          </a:p>
        </p:txBody>
      </p:sp>
    </p:spTree>
    <p:extLst>
      <p:ext uri="{BB962C8B-B14F-4D97-AF65-F5344CB8AC3E}">
        <p14:creationId xmlns:p14="http://schemas.microsoft.com/office/powerpoint/2010/main" val="1765254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57ABCC-78C1-45BA-AF0F-AB5710FA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DC44-A6BA-4676-9AFA-D732F267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AB229-335C-4F08-997B-B90CB8AE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Release 1 Product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21526-C36F-4F7A-B826-59793F25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85F0B-E3E2-4002-9C85-FFC3CB64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Release 1 proves the governed scheduling spine.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59B98-D62E-4362-9432-AD5B8BC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DEA8E-B169-48EC-8812-2474C948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406F64-4727-443D-A3C9-DC6BB112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7/15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7A10C-8024-4BB4-A453-6F6916A7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627B3-6F84-4539-8B3C-CDE5B3F0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FIRST USABLE PRODUCT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146AD-6D60-4B19-B2A8-7C5EC4F6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3238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88520-A38B-475D-84BD-E6BB123A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86100"/>
            <a:ext cx="2781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7DBD"/>
                </a:solidFill>
              </a:defRPr>
            </a:pPr>
            <a:r>
              <a:t>Master data</a:t>
            </a:r>
          </a:p>
          <a:p xmlns:a="http://schemas.openxmlformats.org/drawingml/2006/main">
            <a:pPr>
              <a:defRPr sz="1725" b="1">
                <a:solidFill>
                  <a:srgbClr val="2F7DBD"/>
                </a:solidFill>
              </a:defRPr>
            </a:pPr>
            <a:r>
              <a:t>and roles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638AD4-7ACB-4955-B6A9-41E0D13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3238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14990-AFD3-49B4-AD57-0DB06364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86100"/>
            <a:ext cx="2781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F7DBD"/>
                </a:solidFill>
              </a:defRPr>
            </a:pPr>
            <a:r>
              <a:t>Demand and</a:t>
            </a:r>
          </a:p>
          <a:p xmlns:a="http://schemas.openxmlformats.org/drawingml/2006/main">
            <a:pPr>
              <a:defRPr sz="1725" b="1">
                <a:solidFill>
                  <a:srgbClr val="2F7DBD"/>
                </a:solidFill>
              </a:defRPr>
            </a:pPr>
            <a:r>
              <a:t>cargo layers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63624-5F94-4545-A30D-0A138E13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238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68AEC-15CC-44F8-BF2F-F11A2C9E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86100"/>
            <a:ext cx="2781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D32"/>
                </a:solidFill>
              </a:defRPr>
            </a:pPr>
            <a:r>
              <a:t>Operating</a:t>
            </a:r>
          </a:p>
          <a:p xmlns:a="http://schemas.openxmlformats.org/drawingml/2006/main">
            <a:pPr>
              <a:defRPr sz="1725" b="1">
                <a:solidFill>
                  <a:srgbClr val="2E7D32"/>
                </a:solidFill>
              </a:defRPr>
            </a:pPr>
            <a:r>
              <a:t>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D396F2-3ECA-4CE3-8D54-B87B6FA0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3238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07BD1-EEDE-43EC-9DF8-8D72237B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62475"/>
            <a:ext cx="2781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D32"/>
                </a:solidFill>
              </a:defRPr>
            </a:pPr>
            <a:r>
              <a:t>Candidate movement</a:t>
            </a:r>
          </a:p>
          <a:p xmlns:a="http://schemas.openxmlformats.org/drawingml/2006/main">
            <a:pPr>
              <a:defRPr sz="1725" b="1">
                <a:solidFill>
                  <a:srgbClr val="2E7D32"/>
                </a:solidFill>
              </a:defRPr>
            </a:pPr>
            <a:r>
              <a:t>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A6B76-2030-46D7-9653-ACFD345E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3238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A9804-557F-4D87-9FA6-AEDF009D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62475"/>
            <a:ext cx="2781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6500"/>
                </a:solidFill>
              </a:defRPr>
            </a:pPr>
            <a:r>
              <a:t>Conflict output</a:t>
            </a:r>
          </a:p>
          <a:p xmlns:a="http://schemas.openxmlformats.org/drawingml/2006/main">
            <a:pPr>
              <a:defRPr sz="1725" b="1">
                <a:solidFill>
                  <a:srgbClr val="E96500"/>
                </a:solidFill>
              </a:defRPr>
            </a:pPr>
            <a:r>
              <a:t>and override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A63E3D-F187-46D0-821D-EB741297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33875"/>
            <a:ext cx="323850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3335">
            <a:solidFill>
              <a:srgbClr val="A9781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2DFF7C-D557-4BFD-AC63-54E3F511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62475"/>
            <a:ext cx="27813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9781A"/>
                </a:solidFill>
              </a:defRPr>
            </a:pPr>
            <a:r>
              <a:t>Approval, publish</a:t>
            </a:r>
          </a:p>
          <a:p xmlns:a="http://schemas.openxmlformats.org/drawingml/2006/main">
            <a:pPr>
              <a:defRPr sz="1725" b="1">
                <a:solidFill>
                  <a:srgbClr val="A9781A"/>
                </a:solidFill>
              </a:defRPr>
            </a:pPr>
            <a:r>
              <a:t>and audit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51834-CC9B-4129-9493-CF27D39C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34125"/>
            <a:ext cx="11620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</a:defRPr>
            </a:pPr>
            <a:r>
              <a:t>Output: a working governed scheduling application for structured planning, feasibility review, approval and publication.</a:t>
            </a:r>
          </a:p>
        </p:txBody>
      </p:sp>
    </p:spTree>
    <p:extLst>
      <p:ext uri="{BB962C8B-B14F-4D97-AF65-F5344CB8AC3E}">
        <p14:creationId xmlns:p14="http://schemas.microsoft.com/office/powerpoint/2010/main" val="18073833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0B66D2-99F8-41FE-BF47-A53D8347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07BFE-BECF-45C3-B198-DC383CC8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82CC9-D322-45CA-AD16-98910C79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Application Modules &amp; Master Data Spine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33371-CF22-4707-B61C-9E0A8AF3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622FD-567F-4E01-8D56-836DF030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product begins with controlled operating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ECA7E-1F9D-43F8-A914-06FAFE72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D015D-AA03-402C-BD4C-91789263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1B331-47FE-4B19-A861-5466A2C8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8/15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983CD-A465-4B55-B7E6-64BD5205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8CF9E-EF4A-446A-8335-A76E769E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DEMO BLOCK 1: CORE APP + HAPPY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0DD31-F40C-4EB9-BBE6-FB51B456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90925"/>
            <a:ext cx="3619500" cy="148590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B6CFAB-AC65-4BDC-886C-7A6351BE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24300"/>
            <a:ext cx="1752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t>Operator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t>Cockpit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CA601-4BAE-45E2-84F3-2F119A0F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1462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B2A39-24F7-4746-80ED-DB2310A7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7DBD"/>
                </a:solidFill>
              </a:defRPr>
            </a:pPr>
            <a:r>
              <a:t>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698D9-9FCC-411C-A8F0-B7A111D7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24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2E955-E441-4E0B-A7E4-D44EEC08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039870" y="3032318"/>
            <a:ext cx="4581525" cy="129819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05CBD-1B88-472B-A443-3A28C499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F7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620FD-EB02-4AD1-8B2C-F08A978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431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7DBD"/>
                </a:solidFill>
              </a:defRPr>
            </a:pPr>
            <a:r>
              <a:t>Master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4E70F-B649-4E41-B813-C7F00711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643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C18EC-C778-4A92-8E68-B99EACB9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706870" y="2651318"/>
            <a:ext cx="1914525" cy="167919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E9A87C-BA80-445A-A910-FBA50799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F7DB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A5181-715D-4E1A-AC56-EA0E53E1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7DBD"/>
                </a:solidFill>
              </a:defRPr>
            </a:pPr>
            <a:r>
              <a:t>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EAF144-FA9B-4B6A-B722-CA07DEC7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3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596EF4-1DDF-47F0-B2E0-1C6F804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7" name=""/>
          <p:cNvCxnSpPr>
            <a:stCxn xmlns:a="http://schemas.openxmlformats.org/drawingml/2006/main" id="25" idx="1"/>
            <a:endCxn xmlns:a="http://schemas.openxmlformats.org/drawingml/2006/main" id="26" idx="3"/>
          </p:cNvCxnSpPr>
          <p:nvPr/>
        </p:nvCxnSpPr>
        <p:spPr>
          <a:xfrm xmlns:a="http://schemas.openxmlformats.org/drawingml/2006/main" flipH="1">
            <a:off x="7611870" y="2644583"/>
            <a:ext cx="1724025" cy="169266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07612-6FF2-4B31-8C89-EB27905A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1462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2383">
            <a:solidFill>
              <a:srgbClr val="2E7D3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E3F78A-A8D9-4D21-9E01-2CFF0142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241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E7D32"/>
                </a:solidFill>
              </a:defRPr>
            </a:pPr>
            <a:r>
              <a:t>Scheduling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A1803E-FAF6-4181-B197-056F053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024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C681B-71DE-4EC5-809D-2D8B3742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7611870" y="3025583"/>
            <a:ext cx="4486275" cy="131166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904AA-94B3-4496-90A6-29B0582F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57212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E965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7E0659-9C71-472C-BEA1-E6C167E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816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96500"/>
                </a:solidFill>
              </a:defRPr>
            </a:pPr>
            <a:r>
              <a:t>Exception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FFF7DF-C0B2-42F4-A987-2B9A1110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816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4C81CE-FFAA-42E4-9EC6-CDFE831E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 flipV="1">
            <a:off x="7611870" y="4337243"/>
            <a:ext cx="4486275" cy="154584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154532-1B60-4880-8461-1A6E3056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04837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4A5F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0F9D48-D9A3-4159-B4A8-6B31E785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25792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A5F78"/>
                </a:solidFill>
              </a:defRPr>
            </a:pPr>
            <a:r>
              <a:t>Telemetry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AFBECD-D502-4A43-9BA3-F310544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5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60A8F7-4931-4C47-8045-A9AD3216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 flipV="1">
            <a:off x="7611870" y="4337243"/>
            <a:ext cx="1724025" cy="202209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0C170E-622B-4DD7-9845-F2596A5F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4837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4A5F7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21DA2A-30CD-4A8D-BD6A-159D00B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25792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A5F78"/>
                </a:solidFill>
              </a:defRPr>
            </a:pPr>
            <a:r>
              <a:t>Operations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626AC1-77DB-4CE7-83AD-30F9D74B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635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E23FE2-9F2E-449E-9314-2708A2FD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V="1">
            <a:off x="5706870" y="4330508"/>
            <a:ext cx="1914525" cy="203556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D0D75EE-D191-4C78-99F8-DAB02252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1714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12383">
            <a:solidFill>
              <a:srgbClr val="A9781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C2FDBD-2C60-4F53-881D-3F4EE38D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81675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9781A"/>
                </a:solidFill>
              </a:defRPr>
            </a:pPr>
            <a:r>
              <a:t>Audit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BAB6AF-337B-48D4-91F7-56DB9847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8816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390C63-BC6A-4D69-9883-22A0909D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29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 flipV="1">
            <a:off x="3039870" y="4330508"/>
            <a:ext cx="4581525" cy="155931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8C6D6"/>
            </a:solidFill>
            <a:prstDash val="solid"/>
            <a:headEnd type="non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57BB1F-CC1B-4CD5-A905-1F2E74C2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7029450"/>
            <a:ext cx="638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B6D207-D311-40E4-BEE7-2497A8F7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096125"/>
            <a:ext cx="6153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Demo focus: modules, master data, assets, routes, windows</a:t>
            </a:r>
          </a:p>
        </p:txBody>
      </p:sp>
    </p:spTree>
    <p:extLst>
      <p:ext uri="{BB962C8B-B14F-4D97-AF65-F5344CB8AC3E}">
        <p14:creationId xmlns:p14="http://schemas.microsoft.com/office/powerpoint/2010/main" val="10341121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2F1B4-BE8A-4F02-B03E-07951C2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01FEE-8F8F-440A-95F1-6354A59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EB3E8-F9A3-4F0B-A9BB-4CCEB59A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OGV Demand To Feasible Schedule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7ACEA-C76E-4C72-80C7-E0D5C1F7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E9659-8ECE-4B85-8870-8146C40C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Demand becomes schedulable work only after cargo, route, asset and window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5FA1B9-47F6-4278-9074-40FDFED5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C95A3-D19C-4C1A-88B4-C8236BF0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F9B5E-9848-4583-87D9-6B7EE7AF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9/15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0C67F-1063-4F6C-8A53-307D1DA2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12C25-9C09-42D8-8A9B-BE098722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HAPPY PATH: DEMAND TO CANDIDATE SCHEDULE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31C29-EB15-4E7B-BE7F-5DEC7391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2865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A3BF0-9EAB-4EFD-BE51-2D4257AF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6286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BF301-76A1-461D-BFB3-0EFFABAF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628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91AD5-B81D-4233-8282-E2D11E15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829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t>Planning cockpit - demand and windows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FD0B0-3D24-483E-AB28-6E600233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1428750" cy="31623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14073-3892-466D-A1C8-28FD251B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FCFE0-4436-4AD4-9D11-56D4E237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9C46A-6C9B-4A8C-A8BB-7D469689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48075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4A27A-FDFA-440F-BE61-40EB897D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86175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FFFFFF"/>
                </a:solidFill>
              </a:defRPr>
            </a:pPr>
            <a:r>
              <a:t>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2E6E2-F774-40A2-87DD-0B53DC8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48125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D0E50-7AF6-4032-ABB4-F9A9534D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86225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Windows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2CE43-4F1E-47C5-8D02-9A93CE21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48175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1BA2F5-4627-4ABE-862A-EF5238A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86275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Schedule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E974A-F33C-4BCD-BC04-4001F59B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48225"/>
            <a:ext cx="10668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6A43DC-B91B-4B0F-B245-2501A691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86325"/>
            <a:ext cx="914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4A5F78"/>
                </a:solidFill>
              </a:defRPr>
            </a:pPr>
            <a:r>
              <a:t>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373A92-8DD7-4C58-AABE-86F7347A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57525"/>
            <a:ext cx="4095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9525">
            <a:solidFill>
              <a:srgbClr val="C8D9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65107-CD2C-4129-9865-0B92965B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28975"/>
            <a:ext cx="3676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Active plan workspace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2B494C-2507-4584-97FA-3C59425A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38575"/>
            <a:ext cx="405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8EDF54-FA74-47C3-8A18-E25BA466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14775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OGV demand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E0A0E-04F0-43AE-82B3-556B9573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7E9D4-1091-43E9-AF07-57DB413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405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7ACFE6-DD71-4745-9B40-71AF818A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6245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Cargo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BD71D0-A0DA-4F7D-A296-B57A4ACF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52925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4DEC46-AB6D-4617-B30E-8CBCE8C6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33925"/>
            <a:ext cx="405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84A7B1-6281-42ED-9ABF-14B9C61E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Tide / bridge window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A28DF8-626E-4523-B5FB-ADA56B9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00600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4641BC-88BB-430B-BAC8-9C67C454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81600"/>
            <a:ext cx="405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8EA027-6E71-44C1-96F1-E0901FFD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Movement candidate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A4F7DF-FF05-4898-8F25-0A2463A4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48275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D7CDAC-F936-4779-8B8E-8AE1C7D3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29275"/>
            <a:ext cx="4057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3EA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61EB58-EB13-4B28-ADA9-A601A15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05475"/>
            <a:ext cx="2476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Approval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96CF7D-FB07-482E-BCDF-9A3DEFAB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695950"/>
            <a:ext cx="12573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CF2A1A-4DEA-460D-AF5F-133B6946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14625"/>
            <a:ext cx="2190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83E951-E6C0-4EA3-96B9-89CB6500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575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OGV demand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B1AB74-4A40-418B-A7B6-CAB7B687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005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1C50CDF-0915-4BB3-9020-98D0CAD9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005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V="1">
            <a:off x="9869295" y="3006533"/>
            <a:ext cx="4476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7B93A2-F7CF-4DC9-BC69-A7714A06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14625"/>
            <a:ext cx="2190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C0C419-50F0-49D2-8B4A-A087AF2C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575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Cargo layer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CA85A8-938D-4273-9B88-9A8D9EE4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194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D5619D-B108-47BF-BB6D-508C3DE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052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10164570" y="3327593"/>
            <a:ext cx="9525" cy="27901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5D4772-BD82-4EBF-A4BD-808F843C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2190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AFE218-5CA6-40E0-A8D2-72E35B09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8100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Route steps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D2B7A4-E122-4441-AECD-D0E664A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57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231C66-CEB5-4162-857F-3F8166D0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957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 flipV="1">
            <a:off x="9869295" y="3959033"/>
            <a:ext cx="4476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BF2696-C2AC-4068-B36A-44FB07B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67125"/>
            <a:ext cx="2190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2AE21F-8E22-42E6-AB97-8A10517E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100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Asset / CTS fit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C964E6-47D5-4CAB-B8E1-2B5D5C8F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2719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03EA839-52C5-4178-BC31-E74016C0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577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10164570" y="4280093"/>
            <a:ext cx="9525" cy="27901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B2FF38-8134-44AE-966F-6E45D7A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19625"/>
            <a:ext cx="2190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98926EB-169D-47BB-A1CD-7600F080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7625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Tide / bridge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1558EB-C1C8-45DF-88A3-69583BCB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10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790A5AF-EF02-4A74-B68C-310FB287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9101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V="1">
            <a:off x="9869295" y="4911533"/>
            <a:ext cx="4476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DCF94AC-91EF-4E2E-8B3B-1E0BB48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9625"/>
            <a:ext cx="2190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13335">
            <a:solidFill>
              <a:srgbClr val="EFF8E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69EF29-0AD2-4543-80C4-2C06A9C1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762500"/>
            <a:ext cx="1924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Candidate schedule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C3DDC1-E702-4EEF-8FD3-2D611AC6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9055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C8D0B1B-CE29-4E1A-8523-521DCA93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9626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80623FE-5A17-47C1-8A16-41CC7D17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953125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33F"/>
                </a:solidFill>
              </a:defRPr>
            </a:pPr>
            <a:r>
              <a:t>Demand intake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4241688-0495-44C0-A348-B76FDA3A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63436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9EB713-1878-4D3A-ACDA-EDBBF6D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40080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42A3AE-20F6-4133-B888-F037C7DF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6391275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33F"/>
                </a:solidFill>
              </a:defRPr>
            </a:pPr>
            <a:r>
              <a:t>Cargo layer sequence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78070F6-BF03-465F-851C-B689769B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9055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5A6EC31-431B-4033-9103-685747E0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6265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9AD8D0-9935-44CC-BFE6-B289E43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953125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33F"/>
                </a:solidFill>
              </a:defRPr>
            </a:pPr>
            <a:r>
              <a:t>Operating windows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5B4C402-4092-4E33-9DE6-A6E9C7D9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436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686D772-5747-4C1A-B4B5-D6EDC627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133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348F98-A43C-48FC-B6B3-545F86AF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91275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0233F"/>
                </a:solidFill>
              </a:defRPr>
            </a:pPr>
            <a:r>
              <a:t>Candidate movements</a:t>
            </a:r>
          </a:p>
        </p:txBody>
      </p:sp>
    </p:spTree>
    <p:extLst>
      <p:ext uri="{BB962C8B-B14F-4D97-AF65-F5344CB8AC3E}">
        <p14:creationId xmlns:p14="http://schemas.microsoft.com/office/powerpoint/2010/main" val="20045537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E5F09-C5D2-401E-AC0C-954E4FDF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47865-348E-4D49-9B7A-14315F8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2269F-44BD-42D1-B46B-D815B8A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Approval, Publish &amp; Audit Trail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2E58F-CA7E-4284-8569-CCB011BF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E2922-87E2-47E0-8690-F3CF8EA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Published plans are controlled execution contracts.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4B29E-5863-4CE8-BBD6-189738F4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E4C6B-E2DF-441F-B0EC-A4DD1FCF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403EA-3718-4AB9-ACDB-F182E93E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10/15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C1BE1-6A06-4529-ACBE-836771A1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DD6B7-1114-4EA5-AF7E-1E2E6D7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HAPPY PATH: GOVERNANCE TO PUBLISH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CB270-A479-417B-8801-9B30C71C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13335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CD62C-C172-4B16-AF93-B195A39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Draft 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65EE5-AC72-4780-AE89-9CFAAADE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F42BF-BB1B-4722-8B04-1785F5C1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477895" y="3292283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72020E-40C9-466C-A316-B071C05F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D7E13-AAE3-4375-BBCE-0B384EBE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Conflict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16572-8C52-4889-A102-C37F6D31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590E3-3649-4C96-823A-B161FDBB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420995" y="3292283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3A3374-DBF3-4A2D-BF06-5D2B5D8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878472-0EDF-4FF0-A0F4-8702715D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Override 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423AF-170A-4CE6-BB2D-FCA3E6A5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F9F68-3960-4959-B62A-1C486B09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364095" y="3292283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6D7DA-2944-45A8-92C9-C233491B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7E6335-ACC8-4B89-BB83-E447F38E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ABL / Berau approval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E4ACCC-C2A9-43DC-81EF-D46FA45E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7F1E0-EFC5-49EF-ADB2-A9693618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307195" y="3292283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FFEEA-DCE7-4C5E-AFB9-8CE2C7EB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665A6-2CCC-4648-8481-0022DC56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7A0771-AA04-4749-B438-B51B2A7A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AD373B-AF79-4E20-B8BE-BC97882D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0250295" y="3292283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528231-9988-4DE5-AF3F-382462CB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E664DF-EDEC-4DBF-9D17-CFC6F526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Published snapshot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DB4BFB-45A3-47D9-AEC9-21487AC9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22C95C-069B-40F8-AE0A-A9E9E877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3290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2193395" y="3292283"/>
            <a:ext cx="14287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F2696-83B0-487E-9D4D-BA7EB4D4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52750"/>
            <a:ext cx="1714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C2CBA3-3E1E-47FC-8E68-604D5FF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95625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Export &amp; 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D05050-DEEA-4729-A086-2B0F0D25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9700"/>
            <a:ext cx="11620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C6DEC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9F2699-014F-495B-9A7D-CF466E12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67350"/>
            <a:ext cx="2571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D32"/>
                </a:solidFill>
              </a:defRPr>
            </a:pPr>
            <a:r>
              <a:t>Governance principle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F6A03C-9A6A-4FBF-9A88-9F5389F7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86400"/>
            <a:ext cx="7429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F"/>
                </a:solidFill>
              </a:defRPr>
            </a:pPr>
            <a:r>
              <a:t>Manual decisions remain possible, but each override, approval and publication creates a traceable decision lineage.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9B035A-A1AB-49F5-8E6D-6FA631AC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810375"/>
            <a:ext cx="552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D49C1E-BE61-4608-A094-07765260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877050"/>
            <a:ext cx="5295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Demo cue: conflict review -&gt; approval -&gt; publish -&gt; audit</a:t>
            </a:r>
          </a:p>
        </p:txBody>
      </p:sp>
    </p:spTree>
    <p:extLst>
      <p:ext uri="{BB962C8B-B14F-4D97-AF65-F5344CB8AC3E}">
        <p14:creationId xmlns:p14="http://schemas.microsoft.com/office/powerpoint/2010/main" val="17193675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05CD6-5C02-4CDF-932A-77F96DB0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2F036-EE91-4B2D-BEE5-424A9906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8E976-C0C6-4085-B070-2A227433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Scenario &amp; Exception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E261A-2427-4CA4-AAB2-4565996E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6AC48-A7F1-40CA-B960-F7598B08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Simulate disruption before changing the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6C2612-1CCB-4648-9320-9A91F963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B9082-5BC9-44D7-9024-532A704D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134CD-209C-44BB-9F68-34F25FD7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11/15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DFE86-EA53-4801-9F78-110A7DEE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2E8B4-D365-4E11-8103-CCDC6F09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DEMO BLOCK 2: RECOVERY + SCENARIO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DE13D-B434-46F4-B6AE-CCDD8A39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</a:defRPr>
            </a:pPr>
            <a:r>
              <a:t>Baseline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4CE84-0BE9-4B0D-A4DF-DC57E552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49530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4FD"/>
          </a:solidFill>
          <a:ln xmlns:a="http://schemas.openxmlformats.org/drawingml/2006/main" w="11430">
            <a:solidFill>
              <a:srgbClr val="C7DA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9069E-9AEF-401A-B932-0B74DC8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13335">
            <a:solidFill>
              <a:srgbClr val="2F7D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3BF6F-B5C5-4814-8F7C-0BE90101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7667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Published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FD3E3-2A72-4830-9220-44107924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C4417-CFBC-40C9-8A01-2583C825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135120" y="4016183"/>
            <a:ext cx="2000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8FA58-7382-49CF-89FD-C1362BC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3380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00FDA8-A985-4E6B-B571-9F0D7C07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7667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Active 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860E6-41A8-4F7F-8C06-6820D585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D087A-4335-4D79-89CF-FCEBC375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4706745" y="4016183"/>
            <a:ext cx="2000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2C72E-FD09-48F1-9EFC-53CA00B8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3380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AE824-8B41-4FFF-8BEF-1EA8741C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7667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Current conflict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38730-C74E-42D9-862C-35D5640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00325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</a:defRPr>
            </a:pPr>
            <a:r>
              <a:t>Scenario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E67A5-4B24-43F6-AD34-38D18FA2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49530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11430">
            <a:solidFill>
              <a:srgbClr val="EFC7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A9ADC2-3EDA-4AF2-88BF-CF177053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EA189D-E203-412B-A4BC-39C8065D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7667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Delay / outage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6B513-0E14-47F7-9721-6E7401D8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A415BB-7FF8-424C-8EC5-9CE20D44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10355070" y="4016183"/>
            <a:ext cx="2000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DDA8E-249F-437A-9F1E-BE2D00BD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73380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356AEC-0671-4319-988A-51CA4084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87667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Reassignment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DCC628-5D95-4FDC-A2B4-69F63281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85C88F-A7C9-4A2E-99DD-EAF381E2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14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6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 flipV="1">
            <a:off x="11926695" y="4016183"/>
            <a:ext cx="2000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BE25F-EF54-476E-8425-FC9EB436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733800"/>
            <a:ext cx="12858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8ADD0B-F571-495D-9655-6ED28654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876675"/>
            <a:ext cx="10191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Projected impact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BB06BC-8F72-472D-8DF1-226D466C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E8F297-6D0D-4E04-93EC-2459BC62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67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6659370" y="4168583"/>
            <a:ext cx="1914525" cy="673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6500"/>
            </a:solidFill>
            <a:prstDash val="solid"/>
            <a:headEnd type="none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2300A0-D6FA-442C-BA77-056F50DB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6048375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B2B876-F298-4B52-A1B6-B055D4BB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611505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Trip impact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C5378B-95A7-4BAE-85C9-5628F2E4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48375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2D23BE-D483-401E-A49C-466A808E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115050"/>
            <a:ext cx="838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OGV risk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3521AF-2E84-4BBF-A9EC-AF5E67C4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048375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C59A3E-F96E-46C7-B220-E0B09E77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6115050"/>
            <a:ext cx="971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Utilization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9A20A4-FD5A-47BE-811A-370AA459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04837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5E7830-1A2D-4C71-B372-AF447201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115050"/>
            <a:ext cx="1581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Remaining blockers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012376-1474-498D-8EE5-0BDD3D9A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048375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D68D95-297F-4322-953F-9D435CD4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611505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Promotion path</a:t>
            </a:r>
          </a:p>
        </p:txBody>
      </p:sp>
    </p:spTree>
    <p:extLst>
      <p:ext uri="{BB962C8B-B14F-4D97-AF65-F5344CB8AC3E}">
        <p14:creationId xmlns:p14="http://schemas.microsoft.com/office/powerpoint/2010/main" val="190419040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03219-5B0B-40CE-83B0-41660BB1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9D536-1AE0-408A-A8C3-57175A57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C4F5B-0979-43EE-ABD4-0ED2269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Recovery Path To Publish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F5BBD-A699-452F-97E8-A328C8D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0A11E-6A7E-4339-9D9C-6808069B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Recovery is recommended, simulated, approved and then published.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57F57-D8C1-4E0B-83F9-E1BA58D7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5E98C-3E83-43C7-B87F-3D2F2566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F7078-C393-485E-9E29-01DDAFBA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12/15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A36BC-1114-4CAF-954C-29C12AAC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95663-6E24-46DF-B127-942F57A4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RECOVERY TO PUBLICATION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539FE-3FC3-42D3-867D-CD73E0B4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13335">
            <a:solidFill>
              <a:srgbClr val="E965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01639-1127-4AC9-9557-2696EA29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t>Active exception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F7098-B978-4291-A895-936334E3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73C83-4932-4C0A-8558-71EF81F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401695" y="3406583"/>
            <a:ext cx="152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B6F7E-901B-462F-AE7E-41D309A1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9D4DE-BD06-4ABA-9016-2354FCE3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Recovery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780EE-987B-4A70-A05A-8128E269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17A9D-49D1-4DE9-B47A-1389C69B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0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335270" y="3406583"/>
            <a:ext cx="152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97278-6DA0-4248-9DD8-33354C2A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553FBE-28D6-4623-BF0A-1D414713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Ranked options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B1FE2-AACB-48F4-B290-B28C1979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19A22-6D7D-496A-8D9A-9133059E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6268845" y="3406583"/>
            <a:ext cx="152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D17DE-FAEC-48F6-983B-7A0D280B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D31FE-EA95-4854-9153-B8F11B63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Root-cause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13C8F-5D4F-4559-BA07-E3CA9DF7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37F076-B99E-4A6C-A500-6F876A54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0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202420" y="3406583"/>
            <a:ext cx="152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AF6E1-1FE4-4BAD-B6D5-990FD56C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76CEE6-1D4A-42BF-B9C7-266CA9E6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Scenario run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E6C5DE-09E1-4D46-97D5-4E838F79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DD8E8-C543-4C5B-B7AC-7DF65F57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10135995" y="3406583"/>
            <a:ext cx="152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3C94FE-C44B-497B-8355-4BC66DB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EF0237-F05C-4780-A11D-5B644047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Approval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715D46-8BBE-4FC5-8622-8EAEDB1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9380A-E1E0-4FD9-9ECA-88268B35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3405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 flipV="1">
            <a:off x="12069570" y="3406583"/>
            <a:ext cx="152400" cy="673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A5F78"/>
            </a:solidFill>
            <a:prstDash val="solid"/>
            <a:headEnd type="non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67685A-4237-4A83-B310-8AC31002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48000"/>
            <a:ext cx="1695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336AF5-07E4-4479-A442-FBD4E4E2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190875"/>
            <a:ext cx="1428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233F"/>
                </a:solidFill>
              </a:defRPr>
            </a:pPr>
            <a:r>
              <a:t>Publish recovery plan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78C97F-4100-4B31-A634-9AE16BB3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10096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2E4"/>
          </a:solidFill>
          <a:ln xmlns:a="http://schemas.openxmlformats.org/drawingml/2006/main" w="9525">
            <a:solidFill>
              <a:srgbClr val="EFC7A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138CA9-0A7D-4D2F-BC6C-BA6690E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61975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96500"/>
                </a:solidFill>
              </a:defRPr>
            </a:pPr>
            <a:r>
              <a:t>Demo sequence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687933-85D9-44AB-A634-1F421570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619750"/>
            <a:ext cx="6572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F"/>
                </a:solidFill>
              </a:defRPr>
            </a:pPr>
            <a:r>
              <a:t>Show one disruption from exception identification through ranked options, scenario validation, approval and recovery publication.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91B4CD-5693-4F0A-9A5B-B2CA67E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886575"/>
            <a:ext cx="1123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AB3BF7-6B6A-4FD2-B317-A824516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9532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Proof pack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E372F9-8437-4BC7-B576-7F0D9F2B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886575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7759AA-F8E7-4AD6-8EA9-81E3AC09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9532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Publishability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C8695B-83A1-447F-9911-434FD2AD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886575"/>
            <a:ext cx="1333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651EF55-0EDA-4295-873E-B11FD9BD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95325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Audit lineage</a:t>
            </a:r>
          </a:p>
        </p:txBody>
      </p:sp>
    </p:spTree>
    <p:extLst>
      <p:ext uri="{BB962C8B-B14F-4D97-AF65-F5344CB8AC3E}">
        <p14:creationId xmlns:p14="http://schemas.microsoft.com/office/powerpoint/2010/main" val="19214358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08AA2-6BB5-425B-B0D6-1BFFFDC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536089-1C57-475A-B2F4-8C389CA0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D833D-8F1F-4768-BF5D-624A12AD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Telemetry Evidence &amp; Operational Monitoring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D7B07-7C52-4413-932B-7464390F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48092-6643-4D9A-8BC1-96F0B73E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Evidence informs the plan. Confirmation changes the execution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A085F-15DA-4DFC-9EE4-5DDF4CE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E7A55-E8B9-4167-898E-36C1BAE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Demo Block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ABC594-2FCF-457E-9089-6EE01D69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13/15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7C65E0-2817-419F-9081-DE806533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94009-D7A0-4FB2-B8A4-9A57AF5A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DEMO BLOCK 3: TELEMETRY +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AFFAB-A3FF-4DBC-8501-9542413E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7810500" cy="4591050"/>
          </a:xfrm>
          <a:prstGeom xmlns:a="http://schemas.openxmlformats.org/drawingml/2006/main" prst="roundRect">
            <a:avLst>
              <a:gd name="adj" fmla="val 373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C7D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526DE-2A9D-453A-AA01-BBE00D0E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</a:defRPr>
            </a:pPr>
            <a:r>
              <a:t>Navigational monitoring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BF248-7997-48CA-8091-23954A81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74BBB-9950-4CD7-95C1-E8B7D52A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8BD1E-4AD8-494C-85A9-7EB32BB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CA85A-832A-4AAD-B6D0-0F09B995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D029D-14F0-40C7-9371-B3C3C092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A6B82-B703-4029-BC45-7DC8E9EE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1A091-A406-4ADA-A027-911ECADF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22FE90-033E-40BB-B6F9-0F128EA6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041636-452D-408E-A69F-54BB835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C169F-93A5-44EF-92CB-3312B30E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4E7D2-4D7F-4BD8-B4B3-71D06803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88C401-E80F-45BF-A872-5CA95985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27954-4A80-4D5F-8156-DFED4E1E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2A9F7-9A92-432D-A41A-3DA7500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54D647-1C46-481B-BD23-B4E1CEC4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25190-D1D9-4552-9BCF-E2F9C72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66726-11BD-4805-B080-E6F42EC4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95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4DCB2-A261-44D2-A9F3-E55D3AF7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0"/>
            <a:ext cx="666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A"/>
          </a:solidFill>
          <a:ln xmlns:a="http://schemas.openxmlformats.org/drawingml/2006/main" w="0">
            <a:solidFill>
              <a:srgbClr val="D6E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E2BF8-B9A0-4CEF-BEF9-97ADE968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E4121-B75B-42A0-A15E-71AC64EB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5720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TB-12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94359-A06D-4949-A93C-4ABD58F5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053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39377-EBAC-484E-9D5F-F4A66939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381625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CTS-3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8B920F-501E-4D2D-B9D4-B24F54EA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9DF564-FAA5-4FDE-B1B4-1A997766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33875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33F"/>
                </a:solidFill>
              </a:defRPr>
            </a:pPr>
            <a:r>
              <a:t>B-08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8F51E0-F11F-44DE-BECC-C67D362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4953000" cy="4591050"/>
          </a:xfrm>
          <a:prstGeom xmlns:a="http://schemas.openxmlformats.org/drawingml/2006/main" prst="roundRect">
            <a:avLst>
              <a:gd name="adj" fmla="val 3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DE39A8-8EF5-4A9F-9758-1E759EC0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336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33F"/>
                </a:solidFill>
              </a:defRPr>
            </a:pPr>
            <a:r>
              <a:t>Evidence and trust panel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E22EA0-5C11-4C52-829C-21E25AE0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4000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2F7DB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BD0341-0BBE-4063-A9E6-80323917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9087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F7DBD"/>
                </a:solidFill>
              </a:defRPr>
            </a:pPr>
            <a:r>
              <a:t>AIS / GPS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9D0575-AEB5-4CE8-BF97-3B82CB8A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29025"/>
            <a:ext cx="4000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4A5F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7EE355-B4F0-4CE9-B03E-9D4AB92B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A5F78"/>
                </a:solidFill>
              </a:defRPr>
            </a:pPr>
            <a:r>
              <a:t>Latest asset state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3E0F68-4FC0-4ECE-A4C5-C69438BE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52900"/>
            <a:ext cx="4000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E965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B3F90F-C9C3-401C-BF0F-8F9BDE07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3862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96500"/>
                </a:solidFill>
              </a:defRPr>
            </a:pPr>
            <a:r>
              <a:t>Geofence / ETA variance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AAE382-4F21-4987-9E44-378DA05B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76775"/>
            <a:ext cx="4000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A9781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F56DFB-3E1F-49E5-B906-D32BE12B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781A"/>
                </a:solidFill>
              </a:defRPr>
            </a:pPr>
            <a:r>
              <a:t>Event candidate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AE6883-9751-4AD7-AF19-E9C7D560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00650"/>
            <a:ext cx="4000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B797DB-4F9D-4652-A7CE-749C0AB1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8637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32"/>
                </a:solidFill>
              </a:defRPr>
            </a:pPr>
            <a:r>
              <a:t>Confirm or reject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3D79C40-D182-4A08-BEB8-45A82B43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724525"/>
            <a:ext cx="4000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46AC52-56D8-4996-BC39-D3BC63AF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8102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D32"/>
                </a:solidFill>
              </a:defRPr>
            </a:pPr>
            <a:r>
              <a:t>Actual execution state</a:t>
            </a:r>
          </a:p>
        </p:txBody>
      </p:sp>
    </p:spTree>
    <p:extLst>
      <p:ext uri="{BB962C8B-B14F-4D97-AF65-F5344CB8AC3E}">
        <p14:creationId xmlns:p14="http://schemas.microsoft.com/office/powerpoint/2010/main" val="10818812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B10D4D-8940-4278-8F70-3F4C5C14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ED158-C54A-40ED-AA8B-75641E6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A777-43BA-4123-8145-7E8D8D98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Delivery Roadmap: Release 1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69F60-0196-4763-83C6-B621AE49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6254E-B6E8-4964-B871-8E7B8259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Blueprint first. Release 1 validates governed scheduling by Weeks 17-18.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830D1-F61B-42E0-B27F-84A9BDD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EF6DF-4987-4C29-9FEA-FA3F3B82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Delivery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08425-FD76-45A8-A2FB-7A277BEF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14/15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EB007-EE9D-4214-986A-3D054552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38325"/>
            <a:ext cx="1314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C8DE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AEBFE-7216-4E66-AA5E-430738C1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12687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E7D32"/>
                </a:solidFill>
              </a:defRPr>
            </a:pPr>
            <a:r>
              <a:t>Release 1 focus: governed scheduling spine and operating-window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3ACCE-A84A-4807-8571-788F45CA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974C4-681F-46EA-AC26-A498B236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8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B7760-BBBE-44A0-8B13-2D9DF1D5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1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0FDED-06DF-4D62-950A-82605D26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5A3CDB-6D5E-4E69-81A0-6E5709AA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4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2A4B1-EF0C-4534-8E60-6310654C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3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2A178-02A7-4DDD-B03E-0CBF65EE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06F94-81F4-45C0-9F9D-AE6DF59B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5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4461C-5A52-49AF-BD82-BCB3427D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9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552BE-4559-42C3-84E4-CB14AF60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D43BB-D87A-415A-A141-479BBB8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1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31CD7-1C10-4F95-924F-F28B25B5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0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0CA274-C31A-43CE-BA0B-7927567B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D0CA37-8A96-455E-9E47-A99FB06C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3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A2E020-285E-4979-B174-D805CBE6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68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DE62B9-537F-449F-8849-62501D1E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22F64-8C7A-4FF3-B68B-FD3BEE5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6938" y="2466975"/>
            <a:ext cx="419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A5F78"/>
                </a:solidFill>
              </a:defRPr>
            </a:pPr>
            <a:r>
              <a:t>WK18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9DE930-32CB-4E80-A502-095A2B4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825" y="2714625"/>
            <a:ext cx="9525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solidFill>
              <a:srgbClr val="D7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374A5B-B42D-4727-BEDF-ADAE089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860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Blueprinting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5E4D5-A2DC-412B-B3E9-557212A8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28925"/>
            <a:ext cx="10001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9F236-FDD8-4DA8-898B-D626A300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86075"/>
            <a:ext cx="809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W1-W3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3EECEC-AD85-4F73-BB3A-F4054A8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8E6560-C998-4469-8D3A-562B7417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051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AF0128-FB5F-46C9-9D09-5C7B05CA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480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8F34C5-696C-44C4-8F1B-315A2CB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051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W4-W5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05D4C-AA27-44AF-80CC-FCC4DD3F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5D1089-62EA-4D6A-9691-7A55CEBF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242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CAAC77-2177-4738-9E2F-D59C4F1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6671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2709C8-01D0-448A-BC5B-E5117446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7242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W6-W7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0CEEE5-3083-44EB-BD4D-E780F78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624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D0898A-CC8D-462D-9ED6-71350836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433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2662C8-99AD-4215-9DF9-6633A1F8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40862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C2EEC9-F885-4311-877F-86925CE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1433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W8-W9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16DBAB-B13F-4F2D-AA53-C2D268FF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E21274-E358-4DF0-B9D9-367CED6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52807D-5EDC-4D39-A2B3-48520997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053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6FDA03-1A0C-4C11-93D6-78E69A16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624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W10-W11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E76813-2AB7-4CE0-9E73-5DFA684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A9AF8AC-D214-46EF-B70F-07A721E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815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F22524-7ED2-43CA-AC77-C055569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450" y="4924425"/>
            <a:ext cx="10001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A4E3"/>
          </a:solidFill>
          <a:ln xmlns:a="http://schemas.openxmlformats.org/drawingml/2006/main" w="0">
            <a:solidFill>
              <a:srgbClr val="45A4E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305F01-ADBB-4A82-9E3D-FAFA1D37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4981575"/>
            <a:ext cx="80962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W12-W14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78422D-2125-480A-9EC5-F19A5DC4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2AC797-AA98-4BD2-BD25-B82DB35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Sprint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E35B44-8C6D-4E6B-86A1-53AA71C8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825" y="53435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45A4E3"/>
          </a:solidFill>
          <a:ln xmlns:a="http://schemas.openxmlformats.org/drawingml/2006/main" w="0">
            <a:solidFill>
              <a:srgbClr val="45A4E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B27F0B-97BC-4160-B62D-3367CE1D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54006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W15-W16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BB8049-75C9-4CCA-84E2-92DEEBB4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388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E8976F-5A22-42FF-89B7-FCBEB692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1977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33F"/>
                </a:solidFill>
              </a:defRPr>
            </a:pPr>
            <a:r>
              <a:t>Release 1 Review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2C0BF6-63C6-4907-A2F1-EA378F42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5762625"/>
            <a:ext cx="6350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31952D-566A-4A76-93A7-8B75A79B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2325" y="5819775"/>
            <a:ext cx="44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</a:defRPr>
            </a:pPr>
            <a:r>
              <a:t>W17-W18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7B24BF-F963-4D14-9B46-4C99C687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1314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3"/>
          </a:solidFill>
          <a:ln xmlns:a="http://schemas.openxmlformats.org/drawingml/2006/main" w="0">
            <a:solidFill>
              <a:srgbClr val="E7EDF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9B43289-1E9E-47A7-96C9-7FA2616E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15075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428AB0-17A3-437A-82FD-660F7C8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6381750"/>
            <a:ext cx="1295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Blueprint complete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97A08B-A4D0-4066-B78F-D0EB02D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315075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63C948-051A-4039-BB64-AE33CB7A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6381750"/>
            <a:ext cx="1581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t>Release 1 validated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03B2A9A-4739-4ACC-A80A-6A616181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953250"/>
            <a:ext cx="1123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F"/>
                </a:solidFill>
              </a:defRPr>
            </a:pPr>
            <a:r>
              <a:t>Release 1 validates the core flow, business rules, operating windows, approvals and planner adoption before later layers are activated.</a:t>
            </a:r>
          </a:p>
        </p:txBody>
      </p:sp>
    </p:spTree>
    <p:extLst>
      <p:ext uri="{BB962C8B-B14F-4D97-AF65-F5344CB8AC3E}">
        <p14:creationId xmlns:p14="http://schemas.microsoft.com/office/powerpoint/2010/main" val="198063783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D831C-4768-4C59-A0CE-C7635441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5085E-2173-43F5-A209-CDE71891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A644C-3046-443D-9576-DDBD9C07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</a:defRPr>
            </a:pPr>
            <a:r>
              <a:t>Adoption Review &amp; Client Alignment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90ECE-B704-45CB-96E9-23E512BA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"/>
            <a:ext cx="428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5"/>
                </a:solidFill>
              </a:defRPr>
            </a:pPr>
            <a:r>
              <a:t>ABL | Dynamic Operational Synchronization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29B7F-CE57-42FC-866C-043518DB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1239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</a:defRPr>
            </a:pPr>
            <a:r>
              <a:t>The next decision is readiness: rules, data, owners, users and integrations.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625F1-DE13-4A43-A5B9-B2A6D989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02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9A921-474D-49F5-B485-9A72638F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34350"/>
            <a:ext cx="7429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B7C92"/>
                </a:solidFill>
              </a:defRPr>
            </a:pPr>
            <a:r>
              <a:t>PT Vector Management Consulting  |  Delivery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45355-B6C0-4E6A-9174-FF000129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1343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B7C92"/>
                </a:solidFill>
              </a:defRPr>
            </a:pPr>
            <a:r>
              <a:t>15/15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BDA3A-356F-4113-856C-F9098CB1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781A"/>
          </a:solidFill>
          <a:ln xmlns:a="http://schemas.openxmlformats.org/drawingml/2006/main" w="0">
            <a:solidFill>
              <a:srgbClr val="A978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8D0A1-6494-4BAD-9CBE-F04A7634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1790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t>CLIENT ALIGNMENT 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7A1F9-DD50-41B0-B374-FE64E06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286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9C16C3-B2E3-4B17-A4FE-2704AEB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286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1AFF0-7F30-4E4F-9103-5CC3513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EC581-9218-44F3-AF45-DA17D74F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94322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Operating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4891D5-931F-4475-8F14-666E33EA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714750"/>
            <a:ext cx="180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Validated constraints</a:t>
            </a:r>
          </a:p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and window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C4125-996E-433E-A0A2-0C209CB7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591050"/>
            <a:ext cx="609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2380E-4451-4047-84D0-7AFD74F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76775"/>
            <a:ext cx="38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32"/>
                </a:solidFill>
              </a:defRPr>
            </a:pPr>
            <a: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36665-C9DE-41F7-A71B-4518BC6D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2286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F7D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6D18D-147D-42FC-A67A-5A9C76F2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62250"/>
            <a:ext cx="2286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86966-6C72-439E-A36D-0A7F1C26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BD"/>
          </a:solidFill>
          <a:ln xmlns:a="http://schemas.openxmlformats.org/drawingml/2006/main" w="0">
            <a:solidFill>
              <a:srgbClr val="2F7D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E9CD9-D10F-4D93-A61E-07186CD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4322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Data ownership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31822-5EBC-4A38-BB58-E4AB0402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180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Master data and</a:t>
            </a:r>
          </a:p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demand responsibility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9146B-4541-4F14-9936-D1B62D9E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91050"/>
            <a:ext cx="609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267C0-17E4-48BD-B831-DD887C8B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676775"/>
            <a:ext cx="38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32"/>
                </a:solidFill>
              </a:defRPr>
            </a:pPr>
            <a: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A3B6E-1BE3-4AE1-9A08-2601AA53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2286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965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5F3BC-07D8-4F72-8986-93989144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62250"/>
            <a:ext cx="2286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C0ABC-694F-4D58-A536-10DD34E2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500"/>
          </a:solidFill>
          <a:ln xmlns:a="http://schemas.openxmlformats.org/drawingml/2006/main" w="0">
            <a:solidFill>
              <a:srgbClr val="E965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372ED-14C2-4404-9678-96D09E12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4322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Pilot users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3FE844-6299-4995-A7F2-289E0402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714750"/>
            <a:ext cx="180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Named planners and</a:t>
            </a:r>
          </a:p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approvers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5B09C7-231F-4BB7-80D0-342804CA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91050"/>
            <a:ext cx="609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BC949B-D5B1-4DD0-A844-78C783AD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676775"/>
            <a:ext cx="38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32"/>
                </a:solidFill>
              </a:defRPr>
            </a:pPr>
            <a:r>
              <a:t>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F0F3AF-41D4-4839-8CE3-0EF7F8C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2286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7D3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EB666E-04BC-4817-B3CB-D655263A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62250"/>
            <a:ext cx="2286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1BCF4-EEBF-4BF4-885B-276A732E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81350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  <a:ln xmlns:a="http://schemas.openxmlformats.org/drawingml/2006/main" w="0">
            <a:solidFill>
              <a:srgbClr val="2E7D3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7DFA5-C485-40D7-AB5F-B4AB875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4322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Approval authority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950AE2-A2B3-46B0-B888-94178423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14750"/>
            <a:ext cx="180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ABL and Berau</a:t>
            </a:r>
          </a:p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publish governance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1C4F33-8DB4-4993-8359-D20766B4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91050"/>
            <a:ext cx="609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D0E615-92AD-4BF5-8D45-DB779CA4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676775"/>
            <a:ext cx="38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32"/>
                </a:solidFill>
              </a:defRPr>
            </a:pPr>
            <a:r>
              <a:t>check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26772B-7594-43B7-A127-F10FFE6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762250"/>
            <a:ext cx="2286000" cy="2381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A5F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63C15E-2D3F-42BF-A698-DB980242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2762250"/>
            <a:ext cx="22860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3E84EA-A858-470C-A6AB-75517CC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181350"/>
            <a:ext cx="2286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5F78"/>
          </a:solidFill>
          <a:ln xmlns:a="http://schemas.openxmlformats.org/drawingml/2006/main" w="0">
            <a:solidFill>
              <a:srgbClr val="4A5F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582DA1-5965-4332-9897-56E36111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943225"/>
            <a:ext cx="1905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t>Integration access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06BC84-E192-4BC8-AB41-F1BE8676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3714750"/>
            <a:ext cx="1809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Source owners and</a:t>
            </a:r>
          </a:p>
          <a:p xmlns:a="http://schemas.openxmlformats.org/drawingml/2006/main">
            <a:pPr>
              <a:defRPr sz="1425" b="1">
                <a:solidFill>
                  <a:srgbClr val="10233F"/>
                </a:solidFill>
              </a:defRPr>
            </a:pPr>
            <a:r>
              <a:t>readiness path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69A05A-0F4B-499F-BC22-77204128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4591050"/>
            <a:ext cx="6096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EF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FE01A4-0246-400E-B9E4-4113862E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676775"/>
            <a:ext cx="381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E7D32"/>
                </a:solidFill>
              </a:defRPr>
            </a:pPr>
            <a:r>
              <a:t>check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91022E-183C-450E-9ACC-AD9E9FEA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91250"/>
            <a:ext cx="1057275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0B2948"/>
          </a:solidFill>
          <a:ln xmlns:a="http://schemas.openxmlformats.org/drawingml/2006/main" w="0">
            <a:solidFill>
              <a:srgbClr val="0B294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21E0BA-880B-4C48-8701-A409C95A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34365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t>Build  -&gt;  Operate  -&gt;  Transfer  -&gt;  Audit</a:t>
            </a:r>
          </a:p>
        </p:txBody>
      </p:sp>
    </p:spTree>
    <p:extLst>
      <p:ext uri="{BB962C8B-B14F-4D97-AF65-F5344CB8AC3E}">
        <p14:creationId xmlns:p14="http://schemas.microsoft.com/office/powerpoint/2010/main" val="625867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2026-06-04T08:34:01.8250000Z</dcterms:created>
  <dcterms:modified xsi:type="dcterms:W3CDTF">2026-06-04T08:34:01.8250000Z</dcterms:modified>
</coreProperties>
</file>