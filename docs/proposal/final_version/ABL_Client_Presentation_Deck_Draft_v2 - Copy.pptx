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e2254bcbc346b9" /><Relationship Type="http://schemas.openxmlformats.org/officeDocument/2006/relationships/extended-properties" Target="/docProps/app.xml" Id="R7a8a33776d854c87" /><Relationship Type="http://schemas.openxmlformats.org/officeDocument/2006/relationships/officeDocument" Target="/ppt/presentation.xml" Id="R0a425f0087df44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70a9c5a4a548b2"/>
  </p:sldMasterIdLst>
  <p:notesMasterIdLst>
    <p:notesMasterId xmlns:r="http://schemas.openxmlformats.org/officeDocument/2006/relationships" r:id="R4c896039ae7e4528"/>
  </p:notesMasterIdLst>
  <p:sldIdLst>
    <p:sldId xmlns:r="http://schemas.openxmlformats.org/officeDocument/2006/relationships" id="256" r:id="R07b15d06b1f041ca"/>
    <p:sldId xmlns:r="http://schemas.openxmlformats.org/officeDocument/2006/relationships" id="257" r:id="R766e20d1bc384e1a"/>
    <p:sldId xmlns:r="http://schemas.openxmlformats.org/officeDocument/2006/relationships" id="258" r:id="Rad469a4e2c334e37"/>
    <p:sldId xmlns:r="http://schemas.openxmlformats.org/officeDocument/2006/relationships" id="259" r:id="R522ea757deb6473e"/>
    <p:sldId xmlns:r="http://schemas.openxmlformats.org/officeDocument/2006/relationships" id="260" r:id="Rb94557e5517149b9"/>
    <p:sldId xmlns:r="http://schemas.openxmlformats.org/officeDocument/2006/relationships" id="261" r:id="R105f06fdc23c4af3"/>
    <p:sldId xmlns:r="http://schemas.openxmlformats.org/officeDocument/2006/relationships" id="262" r:id="R893078bc78d24fa5"/>
    <p:sldId xmlns:r="http://schemas.openxmlformats.org/officeDocument/2006/relationships" id="263" r:id="R6ee371f800df4124"/>
    <p:sldId xmlns:r="http://schemas.openxmlformats.org/officeDocument/2006/relationships" id="264" r:id="R07f5a75cd7204f37"/>
    <p:sldId xmlns:r="http://schemas.openxmlformats.org/officeDocument/2006/relationships" id="265" r:id="Rcbe5572846134d27"/>
    <p:sldId xmlns:r="http://schemas.openxmlformats.org/officeDocument/2006/relationships" id="266" r:id="Rbf99800dac384d6a"/>
    <p:sldId xmlns:r="http://schemas.openxmlformats.org/officeDocument/2006/relationships" id="267" r:id="R6831af177ea84f2f"/>
    <p:sldId xmlns:r="http://schemas.openxmlformats.org/officeDocument/2006/relationships" id="268" r:id="R7dc60a3244b44423"/>
    <p:sldId xmlns:r="http://schemas.openxmlformats.org/officeDocument/2006/relationships" id="269" r:id="Rcd44e816712a4da8"/>
    <p:sldId xmlns:r="http://schemas.openxmlformats.org/officeDocument/2006/relationships" id="270" r:id="R8dd8545734c14c3a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0b2fe5bbfb470c" /><Relationship Type="http://schemas.openxmlformats.org/officeDocument/2006/relationships/slideMaster" Target="/ppt/slideMasters/slideMaster1.xml" Id="R6d70a9c5a4a548b2" /><Relationship Type="http://schemas.openxmlformats.org/officeDocument/2006/relationships/notesMaster" Target="/ppt/notesMasters/notesMaster1.xml" Id="R4c896039ae7e4528" /><Relationship Type="http://schemas.openxmlformats.org/officeDocument/2006/relationships/presProps" Target="/ppt/presProps.xml" Id="R06198ff6efd24e7b" /><Relationship Type="http://schemas.openxmlformats.org/officeDocument/2006/relationships/viewProps" Target="/ppt/viewProps.xml" Id="R12952400cd01417b" /><Relationship Type="http://schemas.openxmlformats.org/officeDocument/2006/relationships/tableStyles" Target="/ppt/tableStyles.xml" Id="R3242c5eb7c39420a" /><Relationship Type="http://schemas.openxmlformats.org/officeDocument/2006/relationships/slide" Target="/ppt/slides/slide1.xml" Id="R07b15d06b1f041ca" /><Relationship Type="http://schemas.openxmlformats.org/officeDocument/2006/relationships/slide" Target="/ppt/slides/slide2.xml" Id="R766e20d1bc384e1a" /><Relationship Type="http://schemas.openxmlformats.org/officeDocument/2006/relationships/slide" Target="/ppt/slides/slide3.xml" Id="Rad469a4e2c334e37" /><Relationship Type="http://schemas.openxmlformats.org/officeDocument/2006/relationships/slide" Target="/ppt/slides/slide4.xml" Id="R522ea757deb6473e" /><Relationship Type="http://schemas.openxmlformats.org/officeDocument/2006/relationships/slide" Target="/ppt/slides/slide5.xml" Id="Rb94557e5517149b9" /><Relationship Type="http://schemas.openxmlformats.org/officeDocument/2006/relationships/slide" Target="/ppt/slides/slide6.xml" Id="R105f06fdc23c4af3" /><Relationship Type="http://schemas.openxmlformats.org/officeDocument/2006/relationships/slide" Target="/ppt/slides/slide7.xml" Id="R893078bc78d24fa5" /><Relationship Type="http://schemas.openxmlformats.org/officeDocument/2006/relationships/slide" Target="/ppt/slides/slide8.xml" Id="R6ee371f800df4124" /><Relationship Type="http://schemas.openxmlformats.org/officeDocument/2006/relationships/slide" Target="/ppt/slides/slide9.xml" Id="R07f5a75cd7204f37" /><Relationship Type="http://schemas.openxmlformats.org/officeDocument/2006/relationships/slide" Target="/ppt/slides/slide10.xml" Id="Rcbe5572846134d27" /><Relationship Type="http://schemas.openxmlformats.org/officeDocument/2006/relationships/slide" Target="/ppt/slides/slide11.xml" Id="Rbf99800dac384d6a" /><Relationship Type="http://schemas.openxmlformats.org/officeDocument/2006/relationships/slide" Target="/ppt/slides/slide12.xml" Id="R6831af177ea84f2f" /><Relationship Type="http://schemas.openxmlformats.org/officeDocument/2006/relationships/slide" Target="/ppt/slides/slide13.xml" Id="R7dc60a3244b44423" /><Relationship Type="http://schemas.openxmlformats.org/officeDocument/2006/relationships/slide" Target="/ppt/slides/slide14.xml" Id="Rcd44e816712a4da8" /><Relationship Type="http://schemas.openxmlformats.org/officeDocument/2006/relationships/slide" Target="/ppt/slides/slide15.xml" Id="R8dd8545734c14c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16276fb9fc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c72468658a4ed8" /><Relationship Type="http://schemas.openxmlformats.org/officeDocument/2006/relationships/notesMaster" Target="/ppt/notesMasters/notesMaster1.xml" Id="R1962a002c90f4e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bc7f4677b24150" /><Relationship Type="http://schemas.openxmlformats.org/officeDocument/2006/relationships/notesMaster" Target="/ppt/notesMasters/notesMaster1.xml" Id="R7512f312dad543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fe606da9094ef0" /><Relationship Type="http://schemas.openxmlformats.org/officeDocument/2006/relationships/notesMaster" Target="/ppt/notesMasters/notesMaster1.xml" Id="R7d4fe3bf976742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bfa76bf9684e81" /><Relationship Type="http://schemas.openxmlformats.org/officeDocument/2006/relationships/notesMaster" Target="/ppt/notesMasters/notesMaster1.xml" Id="R1c9a33c1260d41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f6b488803b4846" /><Relationship Type="http://schemas.openxmlformats.org/officeDocument/2006/relationships/notesMaster" Target="/ppt/notesMasters/notesMaster1.xml" Id="R6993ad9271de4a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63015780364c5f" /><Relationship Type="http://schemas.openxmlformats.org/officeDocument/2006/relationships/notesMaster" Target="/ppt/notesMasters/notesMaster1.xml" Id="R3cc29e8b2aab42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15dfc0c19148b2" /><Relationship Type="http://schemas.openxmlformats.org/officeDocument/2006/relationships/notesMaster" Target="/ppt/notesMasters/notesMaster1.xml" Id="R9fe3f6b8d4ea40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40cce7a97441dc" /><Relationship Type="http://schemas.openxmlformats.org/officeDocument/2006/relationships/notesMaster" Target="/ppt/notesMasters/notesMaster1.xml" Id="Rceda47d245e34a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d1dae180b443da" /><Relationship Type="http://schemas.openxmlformats.org/officeDocument/2006/relationships/notesMaster" Target="/ppt/notesMasters/notesMaster1.xml" Id="R7d5b2bf9a2ec40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08fdb4251f4c2d" /><Relationship Type="http://schemas.openxmlformats.org/officeDocument/2006/relationships/notesMaster" Target="/ppt/notesMasters/notesMaster1.xml" Id="R64d77de095684b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b1f47dc7354948" /><Relationship Type="http://schemas.openxmlformats.org/officeDocument/2006/relationships/notesMaster" Target="/ppt/notesMasters/notesMaster1.xml" Id="Ra2eab4c6f5754a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010fa6fc7f4eb7" /><Relationship Type="http://schemas.openxmlformats.org/officeDocument/2006/relationships/notesMaster" Target="/ppt/notesMasters/notesMaster1.xml" Id="Ra5afe06b55ce41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6394376e2c4e8b" /><Relationship Type="http://schemas.openxmlformats.org/officeDocument/2006/relationships/notesMaster" Target="/ppt/notesMasters/notesMaster1.xml" Id="R13ba544d74354b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d8983c0f3f4657" /><Relationship Type="http://schemas.openxmlformats.org/officeDocument/2006/relationships/notesMaster" Target="/ppt/notesMasters/notesMaster1.xml" Id="R08d861c1527944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69450bb9514a64" /><Relationship Type="http://schemas.openxmlformats.org/officeDocument/2006/relationships/notesMaster" Target="/ppt/notesMasters/notesMaster1.xml" Id="Rf4fc21626a3c4a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508679713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d602cea9fc4b6f" /><Relationship Type="http://schemas.openxmlformats.org/officeDocument/2006/relationships/slideLayout" Target="/ppt/slideLayouts/slideLayout1.xml" Id="R27df5d43cddd42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df5d43cddd42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c1aeff5574af4" /><Relationship Type="http://schemas.openxmlformats.org/officeDocument/2006/relationships/notesSlide" Target="/ppt/notesSlides/notesSlide1.xml" Id="Rf5a69a3a269245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351a28a7e4fbd" /><Relationship Type="http://schemas.openxmlformats.org/officeDocument/2006/relationships/notesSlide" Target="/ppt/notesSlides/notesSlide2.xml" Id="Ra528caf67468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fff6145c44422" /><Relationship Type="http://schemas.openxmlformats.org/officeDocument/2006/relationships/notesSlide" Target="/ppt/notesSlides/notesSlide3.xml" Id="Raee15c1e2da64c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fdea7c5e5461c" /><Relationship Type="http://schemas.openxmlformats.org/officeDocument/2006/relationships/notesSlide" Target="/ppt/notesSlides/notesSlide4.xml" Id="Rc8b47ce7757248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f1aa1127c41b9" /><Relationship Type="http://schemas.openxmlformats.org/officeDocument/2006/relationships/notesSlide" Target="/ppt/notesSlides/notesSlide5.xml" Id="R4a725c7c21cc4b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aa6bd5bd94c46" /><Relationship Type="http://schemas.openxmlformats.org/officeDocument/2006/relationships/notesSlide" Target="/ppt/notesSlides/notesSlide6.xml" Id="Rfc609594841a45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d9b1a15034803" /><Relationship Type="http://schemas.openxmlformats.org/officeDocument/2006/relationships/notesSlide" Target="/ppt/notesSlides/notesSlide7.xml" Id="Rfbe77f2afc8842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4b4e28cd845a8" /><Relationship Type="http://schemas.openxmlformats.org/officeDocument/2006/relationships/notesSlide" Target="/ppt/notesSlides/notesSlide8.xml" Id="R85c47becbe6945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00c5421134850" /><Relationship Type="http://schemas.openxmlformats.org/officeDocument/2006/relationships/notesSlide" Target="/ppt/notesSlides/notesSlide9.xml" Id="R50d72ed13ac346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78899f5b2463f" /><Relationship Type="http://schemas.openxmlformats.org/officeDocument/2006/relationships/notesSlide" Target="/ppt/notesSlides/notesSlide10.xml" Id="Ra8800fe67e7b4c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ef6c8d9b14b6f" /><Relationship Type="http://schemas.openxmlformats.org/officeDocument/2006/relationships/notesSlide" Target="/ppt/notesSlides/notesSlide11.xml" Id="R9c6acb920f1144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4b2e55559445c" /><Relationship Type="http://schemas.openxmlformats.org/officeDocument/2006/relationships/notesSlide" Target="/ppt/notesSlides/notesSlide12.xml" Id="R289efee8f3cd44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42e0ac7344b94" /><Relationship Type="http://schemas.openxmlformats.org/officeDocument/2006/relationships/notesSlide" Target="/ppt/notesSlides/notesSlide13.xml" Id="Refcd4e5ab9d14a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184c4f1894d2c" /><Relationship Type="http://schemas.openxmlformats.org/officeDocument/2006/relationships/notesSlide" Target="/ppt/notesSlides/notesSlide14.xml" Id="R70f82e146f394f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82fd2798a4d0a" /><Relationship Type="http://schemas.openxmlformats.org/officeDocument/2006/relationships/notesSlide" Target="/ppt/notesSlides/notesSlide15.xml" Id="R0e0f3779ba044f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D597B-1B18-4139-83E0-1767F2A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5CBE5-5362-4681-93E8-B2EC6773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0DD2A-3337-43C6-BE7C-546BEC29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Proposal Context &amp; Operating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E158B-BAB8-4192-A8CD-45825AD8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414FD-41B2-4950-8CFC-48D924FB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ABL's planning problem sits inside one connected transshipment operating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808FD-D7B1-49C4-A019-6179CE92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5745C-264E-47B7-BAB6-F7C42F4D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21A6C-9E04-44DE-BCE0-52DDCE18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8900B-2E00-4BEB-9E45-B79C1A38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333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66A6A-C1B3-493C-9A7B-1A06A8AD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0288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OPERATING SYSTEM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BC6E1-0BB6-434B-A9F8-362FB09B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B9D87-1827-4628-BEA1-946A8E80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16859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Berau OGV 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1BBE1-8962-41D9-877F-A3060155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2F74E-4838-4B56-8301-9A08EF99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811270" y="3263708"/>
            <a:ext cx="1238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9C413-4088-4964-BEE8-71593A45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956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E686A-7506-44B3-8B43-F3883E6B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38475"/>
            <a:ext cx="16859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Cargo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138A3-A5CC-497E-8EF9-A415E76B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AFF70-7051-46CB-B450-01D79C70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973445" y="3263708"/>
            <a:ext cx="1238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47BDC-D7AC-407A-80ED-EED53BF5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3D0F7-3CEE-495B-86E4-802BFFFF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38475"/>
            <a:ext cx="16859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Jetty / BLC loading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D7605-3603-46F1-A5E4-9765750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281D4-0CD8-484C-B833-8F6FC4E1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7135620" y="3263708"/>
            <a:ext cx="1238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5F77C-06FD-41F5-B22F-0885AF87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956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65A98A-F625-4F63-BA36-02E99E68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38475"/>
            <a:ext cx="16859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Tug-barge movement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D12F86-2D81-44E2-84F3-9876B362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70FB1-87CA-48C0-9BBB-0A3EE773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9297795" y="3263708"/>
            <a:ext cx="1238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B7E88C-8397-4640-84C9-909496E1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956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CB69C-EF3C-4643-A388-314A452D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8475"/>
            <a:ext cx="16859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CTS / floating transfer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03DC1-3D99-4862-9874-115F75DC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BF0096-3ED4-4A65-B998-178FB721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11459970" y="3263708"/>
            <a:ext cx="1238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AF7B61-5622-4FD3-AA49-9F8C5E4B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8956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3EB8EC-EAA7-4A3C-A272-3E680E3B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3038475"/>
            <a:ext cx="16859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OGV loading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198B9B-011E-4AEE-929F-43F7752C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479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35F52C-86B4-4D4F-8EB2-64358977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14575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Tide windows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C612F9-E157-4981-A2D1-77ECBCF2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47900"/>
            <a:ext cx="1581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6E3CD2-E6A7-4A03-93AF-6472751D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14575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Bridge windows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778718-CF30-46CD-ABEB-21250010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E84B94-7334-4F3E-A08E-145284A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14575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Berth / CTS capacity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EA59E8-D4AD-4628-ACB7-F492A927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09DF28-87AB-4206-8A1F-F43001E7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62425"/>
            <a:ext cx="1581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Fleet availability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755D6D-F6DA-4CF1-B7E7-70B7F972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05E500-6A80-4204-92C0-E3719684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62425"/>
            <a:ext cx="1866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Cargo / quality release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766782-C0BE-43F5-A168-99AD4C74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558D17-5C88-4DB3-B297-646857D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DE5B04-942E-41B4-872A-E89B209A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514975"/>
            <a:ext cx="365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BD"/>
                </a:solidFill>
              </a:defRPr>
            </a:pPr>
            <a:r>
              <a:t>Operating reality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EBADE8-E666-468C-BB92-FF0BF9DE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800725"/>
            <a:ext cx="365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Demand, cargo, assets, windows and OGV commitments change together. A local delay can quickly become a downstream loading risk.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EE11CA-181F-4FB7-8D37-44D11563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81625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1B4F36F-738A-4AE3-8C5C-14B91B70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816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604C95-8679-420A-B0F5-3FA17DE3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14975"/>
            <a:ext cx="365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t>Planning implication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FCD4EB-AE27-4472-A535-168BDFAB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00725"/>
            <a:ext cx="365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The plan must continuously test executable flow capacity instead of only tracking target dates or asset locations.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BB60B1-933A-4001-B6B2-32A20480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381625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8E839B-A012-430E-95E8-EBC6DBEB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3816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D82D5A-D0EC-4CE0-9CE2-6B2510F2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5514975"/>
            <a:ext cx="365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6500"/>
                </a:solidFill>
              </a:defRPr>
            </a:pPr>
            <a:r>
              <a:t>Product requirement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F12C11-A3EA-4963-A2E1-1055A8CF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5800725"/>
            <a:ext cx="3657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One governed platform must connect demand intake, scheduling, approval, evidence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42111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30393C-2ED5-4CFA-ABF5-ED175B3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BF0E2-1A9B-4A3F-9A0A-A7884666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4EEED-C27C-4807-998B-1DBC36E7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E6777-CBB1-44FB-A5C6-EDA6D96C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9A1CA-C7BE-4543-B662-66EA5E0D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Manual coordination cannot stabilize a plan when the operating constraint keeps moving.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16DED-404E-497A-9EA9-98F43B3A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21AFA-571B-4672-AFEA-B886E689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BB06B-0959-40A5-8856-3F185781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2/15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B68C3-0688-4100-956C-4950BEEC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6FF76-565F-4503-8D42-57721283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PLANNING STRESS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375F8-9C81-48AB-BA0B-0A711565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3335">
            <a:solidFill>
              <a:srgbClr val="F2C8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72FF1-8066-4D48-9397-BC455C05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241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Demand plan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6C2CF-AA63-4320-BFBE-3EEB5D61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47875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299F4-C3D9-44C4-A4E6-C0B094EF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90750"/>
            <a:ext cx="154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Spreadsheet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2CE71-FDF7-4B38-9032-C5904294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E340C-9884-4A82-9647-C7BD536B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24125"/>
            <a:ext cx="1924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WhatsApp / phone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coordination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A4431-CFD3-4168-9B7D-0C8D934A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67200"/>
            <a:ext cx="2238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B3FF9-A961-42B8-980C-7C7272B8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0075"/>
            <a:ext cx="19716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Planner judgement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and negotiation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8590C-7781-4978-8FF0-C514B18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05375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F1930-A307-4DCF-A516-6FFFB970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48250"/>
            <a:ext cx="154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Field condition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changes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4FCAE-F89B-46F4-88F3-B9836A71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6720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3335">
            <a:solidFill>
              <a:srgbClr val="F2C8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4D703-35C4-4D8D-8BD4-A1B457A3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410075"/>
            <a:ext cx="154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Replanned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schedule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F3741-0411-476C-BB9C-0B442B5E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193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E8C33-38AB-4EFF-8B95-4BB6781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376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4821045" y="2377883"/>
            <a:ext cx="771525" cy="3496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505DB-6EF1-45A8-B7DE-D7FDCF48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76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55733-7931-4A5F-A950-6170D153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93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488045" y="2384618"/>
            <a:ext cx="723900" cy="33616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A1271-9BFC-4AC2-A71B-62DAB2F4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813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9BAC51-FC78-45FC-A1D2-3D0028DB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95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421620" y="3089468"/>
            <a:ext cx="123825" cy="11076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296006-2A61-4D86-8B6F-D27FA773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43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6CC17-E86B-46A6-9AA6-B31C1B32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768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" name=""/>
          <p:cNvCxnSpPr>
            <a:stCxn xmlns:a="http://schemas.openxmlformats.org/drawingml/2006/main" id="3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7573770" y="4625783"/>
            <a:ext cx="847725" cy="559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3FC39D-D1F1-412F-8281-EBBD6EEE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14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B072B2-B0BF-4239-9720-274AAB01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529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 flipV="1">
            <a:off x="4849620" y="4661093"/>
            <a:ext cx="847725" cy="5552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DDFD94-B354-43F1-BCD1-8C2B3D2C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433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4619EE-D825-4236-8B2F-32CF2B21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08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3630420" y="3092258"/>
            <a:ext cx="85725" cy="11592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489AF6-4004-4EC4-A660-4B453A1F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91250"/>
            <a:ext cx="3714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E77DD7-85B2-48A1-9F10-31D9947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912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2D2D"/>
          </a:solidFill>
          <a:ln xmlns:a="http://schemas.openxmlformats.org/drawingml/2006/main" w="0">
            <a:solidFill>
              <a:srgbClr val="BA2D2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07C8E2-8FDF-4DCF-87C0-1F9C7F59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246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A2D2D"/>
                </a:solidFill>
              </a:defRPr>
            </a:pPr>
            <a:r>
              <a:t>Visible pain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CA2799-8110-4D9B-BA8E-31A9F54A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10350"/>
            <a:ext cx="3371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Missed OGV dates, underutilized assets, repeated reassignment, excessive waiting and reactive escalation.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30AA59-1AB1-47AA-B05A-D4FC6E9A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191250"/>
            <a:ext cx="3714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C2A2F1-4A97-4377-9E49-8822B0D7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1912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6F3018-DACC-40B8-AA07-DFBEB62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3246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6500"/>
                </a:solidFill>
              </a:defRPr>
            </a:pPr>
            <a:r>
              <a:t>Why it repeats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5C9670-BB00-4828-ABBE-6E8692E8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610350"/>
            <a:ext cx="3371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Operating decisions are made faster than the spreadsheet plan can be reconciled and governed.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1BC8D4-549F-4FD4-B184-A8D7E41F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191250"/>
            <a:ext cx="3714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BB3D94-EACA-4A21-A253-812A1B44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1912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35A26C-7201-4986-ADA7-AD11CFDB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3246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t>What is missing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9F8DF6-895D-4963-B6D3-62568CAB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610350"/>
            <a:ext cx="3371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Simulation-backed visibility of blockers, feasible windows, approval lineage and recovery impact.</a:t>
            </a:r>
          </a:p>
        </p:txBody>
      </p:sp>
    </p:spTree>
    <p:extLst>
      <p:ext uri="{BB962C8B-B14F-4D97-AF65-F5344CB8AC3E}">
        <p14:creationId xmlns:p14="http://schemas.microsoft.com/office/powerpoint/2010/main" val="1200532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836D7E-2BE2-497C-AC35-2B292466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E738B-E93B-40C3-A32B-D5075F2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D3A03-37C3-4F35-B390-7FD916B0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Root Cause Perspective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70491-291C-4A75-BCDF-4962E3DE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42DE6-5BF4-488F-B27C-4D50FEB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core issue is synchronization with the current controlling constraint.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21BE9-A968-4D75-A819-2BCFAFC0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1F57B-EA97-497B-86B8-C32DE36F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2BE7A-6C15-4621-85D0-84F9A382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3/15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E4CB9-8C6A-4C04-B808-FF7D6B7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714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CE876-4467-48B3-B2A6-FDEF1D9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4098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CCR-BASED OPERATING LENS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0FF59-997F-4504-B138-4528EC43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466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75325-A384-416B-80D8-88082958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12001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Cargo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83336-3E87-4F9A-B500-2681D9B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2BA03-6679-48E7-8234-03EE2702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535045" y="3406583"/>
            <a:ext cx="400050" cy="67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3573B-EADC-424A-A645-18BAEF72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466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24C26-9FA6-4BB1-A96D-20688964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95650"/>
            <a:ext cx="12001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Jetty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096FF-4E26-429C-AA87-04D4C6E7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16FDE-9C62-40AA-9107-9CFC3FAD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459095" y="3406583"/>
            <a:ext cx="400050" cy="67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F1689-2F52-4AE8-BB8D-BBD64E1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1466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CD6B3-6C85-4A39-88EE-410228D5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5650"/>
            <a:ext cx="12001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Tide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35D78-04AF-4CC2-84AF-175084AE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2C95A-EDB7-4155-B73E-2F8E66E4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6383145" y="3406583"/>
            <a:ext cx="400050" cy="67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E8FC0A-710A-4165-A731-6C2BFCA4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1466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3335">
            <a:solidFill>
              <a:srgbClr val="2E7D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9CF1E-CC89-4A06-A7F4-EF01C971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12001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Bridge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F9FF8-2827-418D-992D-EE6EF9C4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ECC28-7D3A-494E-BF82-43E9383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307195" y="3406583"/>
            <a:ext cx="400050" cy="67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B3D80F-C496-43B8-9ECA-A7751B8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1466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B2BF5-8501-419E-86CB-26764482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95650"/>
            <a:ext cx="12001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Tug-barge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17E719-2931-42DD-A678-22B5341A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07516B-EC8D-45F7-95B8-251CE2D4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10231245" y="3406583"/>
            <a:ext cx="400050" cy="67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A7AF75-F0A8-4C4E-84A3-5A73DF51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0"/>
            <a:ext cx="1466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F47A02-6F11-4780-A27F-EFEEB27E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95650"/>
            <a:ext cx="12001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5C9C6D-83C3-4108-B06A-5E7587D5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E4C463-3ACA-404D-85DD-4ECCF9B7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12155295" y="3406583"/>
            <a:ext cx="400050" cy="67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2F343-A931-4CEC-935B-6B10BCD1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048000"/>
            <a:ext cx="1466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39FB55-F07E-4853-9728-AB0080C5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295650"/>
            <a:ext cx="12001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OGV laycan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EB476A-9FEA-49AD-A77E-38369CA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A3C5FC-292C-46AD-BBF8-9E9F1CBB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D13737-118E-4C48-9D79-2D96D327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911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t>CCR lens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99FCD1-3FAB-45F0-96B1-D60437CF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76850"/>
            <a:ext cx="3371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The effective capacity of the whole flow is governed by the constraint currently limiting movement.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CE9785-9A4F-4160-994C-2089C431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5775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0A3515-A254-4F54-B843-669DF1D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5775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461A37-D178-451B-877F-3A13C639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9911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6500"/>
                </a:solidFill>
              </a:defRPr>
            </a:pPr>
            <a:r>
              <a:t>ABL reality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653577-D4EA-4AD1-8573-10795329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276850"/>
            <a:ext cx="3371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The active constraint can shift between tide, bridge, jetty, CTS, fleet, cargo readiness and laycan pressure.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BA4706-34A5-4B40-A902-A86F0DED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5775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4EFF02-9A6E-4A3F-8931-395A9A3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5775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D832FE-40C0-4DF3-A5B2-199493C3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9911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BD"/>
                </a:solidFill>
              </a:defRPr>
            </a:pPr>
            <a:r>
              <a:t>Solution implication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423DBB-BD9A-40E4-9C9A-95DE6E4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76850"/>
            <a:ext cx="3371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The schedule must recalculate feasibility around moving operating windows and current execution state.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FA483A-3435-4FFD-814A-02A4BD26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667500"/>
            <a:ext cx="981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Business need: synchronize demand commitments with executable operational flow capacity.</a:t>
            </a:r>
          </a:p>
        </p:txBody>
      </p:sp>
    </p:spTree>
    <p:extLst>
      <p:ext uri="{BB962C8B-B14F-4D97-AF65-F5344CB8AC3E}">
        <p14:creationId xmlns:p14="http://schemas.microsoft.com/office/powerpoint/2010/main" val="18003310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B4C1C-8CFC-46B3-B6DE-41CF0F88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6BA36-C766-4B7E-BDC2-B47C6DDD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C179B-2B41-4807-8EAC-977B5F46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Core Operating Philosophy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11FD2-889D-4CA1-82D9-215D4F0A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63C02-B822-4FB0-B51C-1F48E217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tool must convert every movement into a governed feasibility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D9B0D-DC81-40C1-9A1B-FBEDC0E7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79D38-E2AD-4F1F-8ADC-331F898B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92825-7D3D-457E-B26C-A2594508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4/15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BE1A5-25D8-44AD-BBD0-B837DD0A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F9ABD-0777-471C-B76C-D338088A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6478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FEASIBILITY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CBEC2-3644-405D-A0DD-AA5AE0B9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3335">
            <a:solidFill>
              <a:srgbClr val="BFD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7C911-4846-4AA4-890D-04D065FA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57500"/>
            <a:ext cx="1447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Demand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laycan / quantity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20B36-19D4-48BF-B18D-0CEAF634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3335">
            <a:solidFill>
              <a:srgbClr val="BFD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AFFCA-5BD5-4341-A242-16740435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67125"/>
            <a:ext cx="1447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Cargo grade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and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6CE42-C1DE-43E6-9847-C9ECD7DA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3335">
            <a:solidFill>
              <a:srgbClr val="BFD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E8727-3F43-4F30-A3EE-B5FF52EE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76750"/>
            <a:ext cx="1447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Route steps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and eligibility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D5F8B-1EE3-4C2F-91F6-36F6AB1C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3335">
            <a:solidFill>
              <a:srgbClr val="BFD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31C6F-799F-4B4A-8DD1-C75F658D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86375"/>
            <a:ext cx="1447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Asset / CTS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availability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CC089-0BDF-45EF-8842-DEE10904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95262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3335">
            <a:solidFill>
              <a:srgbClr val="C6DE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6182B-7E4F-4C91-8B3F-AA9E3338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86125"/>
            <a:ext cx="16859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Tide and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bridge 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05707-D82F-4CDE-9677-CBCB9BB8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195262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3335">
            <a:solidFill>
              <a:srgbClr val="C6DE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C2EB5-63CA-4672-947C-B60CA67E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76750"/>
            <a:ext cx="16859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Jetty / BLC</a:t>
            </a:r>
          </a:p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capacity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F295A-442B-4CF8-BB3D-63A7968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24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49C8F-CC9D-4C3E-BB08-33B9BEA6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639820" y="3032318"/>
            <a:ext cx="3324225" cy="106006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B3FF5-ED02-4C56-94C4-1E28B806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242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EF357-3ABA-4CA0-89C2-942AA197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639820" y="3832418"/>
            <a:ext cx="3324225" cy="25996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D9DF6-0E1B-4552-A989-1C8A3716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6434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F8313C-2092-4B8D-B545-360E2198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2639820" y="4092383"/>
            <a:ext cx="3324225" cy="55918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1F934E-C3C0-4924-9E56-E3FBA49B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432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00D22D-DA2D-4F7D-8E97-92102AB7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116320" y="3451418"/>
            <a:ext cx="847725" cy="64096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EA7DC3-64A4-4D5F-9962-A4BDA6C6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6434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6EB7B0-3117-4F39-A77E-36F61D17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5116320" y="4092383"/>
            <a:ext cx="847725" cy="55918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B5F1AC-EBA6-4789-824E-4CD4BA0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7622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A29284-1070-46DF-A8E3-1F236081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t>Constraint-aware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t>feasibility 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0BD10E-DA71-4999-9460-48289458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5770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AF7"/>
                </a:solidFill>
              </a:defRPr>
            </a:pPr>
            <a:r>
              <a:t>Eligibility + window + capacity + governance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0124DA-5032-44EC-BB76-7BB2CF7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433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F71A1C-6D2A-4A39-B9AD-402119AC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42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V="1">
            <a:off x="8992995" y="3425633"/>
            <a:ext cx="819150" cy="4258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D32"/>
            </a:solidFill>
            <a:prstDash val="solid"/>
            <a:headEnd type="none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FEFF02-2E7A-4CDE-9E00-3EE17DA4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52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89D107-197C-400D-87AD-C5AB551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482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6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8992995" y="4461068"/>
            <a:ext cx="819150" cy="48856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CF4AAB-0305-4908-BE8F-B1855879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67050"/>
            <a:ext cx="2857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3335">
            <a:solidFill>
              <a:srgbClr val="BFD8B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95C73C-A67F-4574-8446-1FE0CCBA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9925"/>
            <a:ext cx="2590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D32"/>
                </a:solidFill>
              </a:defRPr>
            </a:pPr>
            <a:r>
              <a:t>Feasible candidate</a:t>
            </a:r>
          </a:p>
          <a:p xmlns:a="http://schemas.openxmlformats.org/drawingml/2006/main">
            <a:pPr>
              <a:defRPr sz="1275" b="1">
                <a:solidFill>
                  <a:srgbClr val="2E7D32"/>
                </a:solidFill>
              </a:defRPr>
            </a:pPr>
            <a:r>
              <a:t>movement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FD47CB-A0AA-4929-B0CC-7A7EDA9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10100"/>
            <a:ext cx="2857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3335">
            <a:solidFill>
              <a:srgbClr val="EDC8A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0ED1A4-4A03-4E31-BE3F-28335722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52975"/>
            <a:ext cx="2590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6500"/>
                </a:solidFill>
              </a:defRPr>
            </a:pPr>
            <a:r>
              <a:t>Reason-coded</a:t>
            </a:r>
          </a:p>
          <a:p xmlns:a="http://schemas.openxmlformats.org/drawingml/2006/main">
            <a:pPr>
              <a:defRPr sz="1275" b="1">
                <a:solidFill>
                  <a:srgbClr val="E96500"/>
                </a:solidFill>
              </a:defRPr>
            </a:pPr>
            <a:r>
              <a:t>blocker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E85566-3B16-49FC-9148-D165B6C4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24550"/>
            <a:ext cx="37623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91E7B6-5C4A-4CDC-90FC-200B2519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24550"/>
            <a:ext cx="762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E080A0-D9A1-4160-B1C1-E14F1AE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57900"/>
            <a:ext cx="34194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781A"/>
                </a:solidFill>
              </a:defRPr>
            </a:pPr>
            <a:r>
              <a:t>Governance rule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C778EE-6534-46C3-85A1-48BB813F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43650"/>
            <a:ext cx="34194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Overrides are allowed only with reason, user, timestamp, affected movement and approval lineage.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690EE3-30BB-4024-832B-9CF31E8D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1056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State legend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C69D0A-5788-472D-9DDC-AD5097DC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086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10C1E1-AC98-4AFA-ADC1-749C257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705802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Planned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B2CADB-858E-44D3-831D-6568F15C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086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0A55AF-3292-4590-9AE0-3E9C36A6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705802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Observed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D54501-DEEC-4748-BC12-0AF4B1F2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086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8E482B-2E89-4B7E-BACC-15AB1A31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05802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Confirmed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479907-4F59-45EC-8E3A-8A726D7D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086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811C98-2B28-491D-BCC8-FBA9CCC6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705802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Projected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1B481D-C489-427F-9CCD-C5F0F16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086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4926C4-4A5D-431A-95BC-A69DEBA7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705802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Recommended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CFFA2E-B974-4CDF-A00C-9520C9B9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086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2D2D"/>
          </a:solidFill>
          <a:ln xmlns:a="http://schemas.openxmlformats.org/drawingml/2006/main" w="0">
            <a:solidFill>
              <a:srgbClr val="BA2D2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1F5E67-2A3F-4D8D-A11A-4384356E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705802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Blocked</a:t>
            </a:r>
          </a:p>
        </p:txBody>
      </p:sp>
    </p:spTree>
    <p:extLst>
      <p:ext uri="{BB962C8B-B14F-4D97-AF65-F5344CB8AC3E}">
        <p14:creationId xmlns:p14="http://schemas.microsoft.com/office/powerpoint/2010/main" val="3107344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90872D-C4A5-48F1-9B5A-509FD9DC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90072-76FA-49B4-81EA-FD804DCD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AB1FA-360E-4DCC-A59B-37ECEBC3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Vector Approach &amp; Proprietary Scaffolding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408D6-38A1-4D35-A8F6-D4D0E8F7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D965D-A173-4ACD-8577-DC3EEA45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Vector's base platform accelerates the build while blueprinting makes it ABL-specific.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67C19-DD16-4F9D-8F25-8B165497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112DF-AD9E-4CAD-A427-5EF73FCD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8D7E1-EBBF-42B4-9206-DE991340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5/15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3E058-ADB2-4593-A96B-3FE66F6F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63C7A-7BDB-4B91-BC78-57D82B2F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VECTOR BUILD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EC697-46BE-4BDF-8B43-5BB67670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828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D6B30-D38E-475F-983A-248042B2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771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Governed ABL planning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CF3AB-F2F1-4A7B-BDD5-D5A9D46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7620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39E83-E664-4AD0-A683-253F24DE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33725"/>
            <a:ext cx="7048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ABL rules: routes, assets, tide, bridge, approvals, exports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0F3EF-AD4C-47C7-9FF7-04C34CDD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38550"/>
            <a:ext cx="695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F0E90-2EC5-47A0-9E5F-D0DDB82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62375"/>
            <a:ext cx="638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Dynamic constraint handling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669C0-2D10-413C-9107-7B36E8DB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628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2195E-0FB8-43FE-87EE-1E9BAA35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91025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Scenario and recovery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6E611-136F-46A1-A6F6-0A4BC88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95850"/>
            <a:ext cx="561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D3B01-802E-4FAE-A68F-9934125E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19675"/>
            <a:ext cx="504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Vector proprietary scheduling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8ADBE-A99C-4BE6-8344-E3910F5D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4000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38F7D-A678-4D58-9D63-E652F86B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8316E-4CF4-4A1D-BCE5-389FA06A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43600"/>
            <a:ext cx="365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2948"/>
                </a:solidFill>
              </a:defRPr>
            </a:pPr>
            <a:r>
              <a:t>What Vector owns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489526-6E2B-4073-9063-127598E5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29350"/>
            <a:ext cx="3657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Scheduling model, scenario engine, dynamic-constraint scaffolding and governed workflow patterns.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06F1A8-4D74-4BE5-9256-40CDD8A4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10250"/>
            <a:ext cx="4000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0D84C-9D8A-4D46-A81E-5E325F29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1025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93864-23F6-4846-A253-4A2186F0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43600"/>
            <a:ext cx="365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BD"/>
                </a:solidFill>
              </a:defRPr>
            </a:pPr>
            <a:r>
              <a:t>What blueprinting configures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27A7CD-453A-4E59-9A82-DD864DA0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229350"/>
            <a:ext cx="3657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ABL-specific routes, assets, operating windows, data assumptions, approval gates and integration readiness.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C41ED1-C08D-4D47-8183-B2CD16C7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0250"/>
            <a:ext cx="4000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233056-063A-410B-9D8A-8BD85A66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025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FAC71A-EA63-4A8C-A0B1-096CF35C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943600"/>
            <a:ext cx="365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t>What the client gets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026273-DE70-49DE-8231-7FE4F9F4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229350"/>
            <a:ext cx="3657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A configured product build that reflects ABL's transshipment operating rules and pilot adoption needs.</a:t>
            </a:r>
          </a:p>
        </p:txBody>
      </p:sp>
    </p:spTree>
    <p:extLst>
      <p:ext uri="{BB962C8B-B14F-4D97-AF65-F5344CB8AC3E}">
        <p14:creationId xmlns:p14="http://schemas.microsoft.com/office/powerpoint/2010/main" val="1232862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67DE5-4BB1-4111-B0D2-842D2571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48753-6896-4D23-8E73-38ADD676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25E5B-E604-4619-8787-9AEC6149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Product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B3A8E-7BC3-422C-9F78-92A8E7D5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C981F-2716-4054-ACA4-C392A71E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platform governs the path from demand to publish, then connects evidence to recovery.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8238A-C664-40AE-AFFC-F2717BA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6408F-1A5C-4DC4-B88E-A2230E54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BFD53-B55C-49D1-9525-E026354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6/15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192F1-E548-48CE-AC43-BD2BAFFC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2A865-4A4A-4084-9890-B03E0AB2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END-TO-END PRODUCT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AF9B8-2DB3-4A2A-9B4F-4783EB9F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714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EA39F-1FF3-4C46-B3CB-EA9EAC1E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24479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Plan and govern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EB74F-174B-47EC-A027-6E3717FF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5C58F-9FA2-4476-B8FF-8F830C0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813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OGV demand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6C2AB-FA47-4900-86E0-A2911049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A9DAF-BC7E-4799-AB48-11425F9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706495" y="35304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D51EA-E359-4B7A-9A8E-8AA19838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385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144E2-B44A-4B6C-8780-88E76F7E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Cargo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C8080-C32B-42B1-8B4D-FFECF434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6BC62-407B-4B3F-BDA3-0E9242B2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554345" y="35304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9497E-0A2E-418E-9D65-4F41B5B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C57E8-C445-4C96-BAE5-BE30EFD0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813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Windows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149720-384C-4364-954A-AE9F5777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483AB-23EC-4912-ADFF-3A266F58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6402195" y="35304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A1504-0970-4FA4-9492-4E0D8B55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1A883-55F5-4FB9-B688-4A7130D8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813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Candidate movement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6014E-EB27-4872-917E-5046C7AF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3509BC-B5D5-4013-B782-8080C31E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8250045" y="35304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791C61-6F95-4470-935A-F0770670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BCC7F4-6279-4088-A4A0-4F62493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Conflict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E94AD3-9C91-45BE-90AC-78190CE4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2F1A84-65B7-45BB-8245-49A33AA6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10097895" y="35304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56E7EF-6045-4A42-BD37-AC64FA3E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7BB480-75C6-4F1A-B6CE-EB97F34E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813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Approval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BC17AE-8F9E-4559-802E-7BC1BE8A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A214FA-9403-43C1-AC19-C9D30AEF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3529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11945745" y="35304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96D862-982E-4CCF-94D8-1BA45DCA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2385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46C89D-352D-45D4-A546-C31C4340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3813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Publish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7ED71E-9902-48AB-BDA9-CAC74D17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29200"/>
            <a:ext cx="3048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BF9DE7-F424-452D-837F-44E24F9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05400"/>
            <a:ext cx="278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Monitor and recover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333ECC-DB3D-4A3A-9CC3-FFA3AEFC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13335">
            <a:solidFill>
              <a:srgbClr val="E965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96E66D-0212-4909-952B-223BAA5E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578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Observed evidence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721EF4-BC23-470D-99EE-D683AEC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2F8511-CEA4-4433-AA6D-A0DE9A92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1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V="1">
            <a:off x="2706495" y="60069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00DB4B-286F-4AF4-A375-B0BDF3EA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150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1850C5-8EAA-4341-A118-FCDEA460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578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Event candidate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531347-3E6B-4061-8C96-E710D4EC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97298B-41BC-4278-8C8D-FFFBABE6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V="1">
            <a:off x="4554345" y="60069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D1122C-C739-4170-9DC0-40DBA578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7150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5819ED-0773-407A-87E2-B4D2B6C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578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Confirmed state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CE20A0-0E8A-4FD7-A82B-6C5E8631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B53D31-2F3C-4EAA-826C-416D38E9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V="1">
            <a:off x="6402195" y="60069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A1D718-7362-4978-BD8D-BC76CB6C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150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352DFE-C19B-44FF-B1D1-ABED668D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578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Scenario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E4E8CD-2C39-4EC4-9297-9F4162D2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5A7731-3065-4938-8F86-2AF448E2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6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 flipV="1">
            <a:off x="8250045" y="60069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1F8DFF-893E-418D-8137-72474CF2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7150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1B6302-CEC7-4258-8749-4448E76C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578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Recovery option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0018CFE-9F2F-4CA2-B15C-347EF01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DE0132-A190-4297-83E7-5C2A2600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1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 flipV="1">
            <a:off x="10097895" y="60069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8D487B-3C7E-4723-9F7B-1769303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150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6FD890-DBC1-4D9D-893D-E519688D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8578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Approval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AE5C115-2435-45C1-B9DD-58C9B4B3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B591EE-5805-4F32-BA38-241CA907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005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 flipV="1">
            <a:off x="11945745" y="6006908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1D60345-8F8C-4454-8249-FCC5FE02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7150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8CE2161-D7CF-4729-B54F-52EF8D2F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857875"/>
            <a:ext cx="135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Recovery publish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4C90B00-DEC4-4FEB-B56A-BA9BC10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09612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State legend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B4F252-1F4B-4875-AEAD-C36687A5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077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83CD806-5943-405A-B592-4977BCA3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0485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Planned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8ACC67-E603-4034-AE30-000D974D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077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6DB3FE-D10B-4769-9CD8-9AD2BFB9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0485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Observed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1F3CF26-B108-4CC0-9B25-B1D0877D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7077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F50565-C4A4-4E42-8189-93E566A6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485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Confirmed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474AA5-D38A-4868-9635-F64B0911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7077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69B17A4-ACF9-47FC-848E-8669AAD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0485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Projected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4BC29E-22D0-43FA-9531-382745C8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7077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F4A3120-EEBB-487D-8170-F9985D83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0485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Recommended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4D04DB-1D0E-4E8C-A256-7DD20241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70770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2D2D"/>
          </a:solidFill>
          <a:ln xmlns:a="http://schemas.openxmlformats.org/drawingml/2006/main" w="0">
            <a:solidFill>
              <a:srgbClr val="BA2D2D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284AD4E-6F3F-483A-B1E1-0A42AEA4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Blocked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705B250-6698-4EE9-BFEE-62C3958F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572250"/>
            <a:ext cx="990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3F"/>
                </a:solidFill>
              </a:defRPr>
            </a:pPr>
            <a:r>
              <a:t>Key design rule: raw signals support planning, but only governed confirmation and approval change the operating plan.</a:t>
            </a:r>
          </a:p>
        </p:txBody>
      </p:sp>
    </p:spTree>
    <p:extLst>
      <p:ext uri="{BB962C8B-B14F-4D97-AF65-F5344CB8AC3E}">
        <p14:creationId xmlns:p14="http://schemas.microsoft.com/office/powerpoint/2010/main" val="16014949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A887F4-7D8C-446E-8F5D-7E404B29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6FA40-9032-4886-A82D-36FC8270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507F0-3F35-442A-89D3-22A1155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Release 1 Product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F23D4-390E-4C31-9A69-BC1B1608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E565C-5AB0-4729-BA64-5A02CB5B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Release 1 is the first usable product layer for governed scheduling and publication.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86675-6263-422A-813C-41F15ECD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1B9E3-82E4-4936-9623-E3A46F6D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5BF4C-FC0B-470D-9CF1-641D1FAF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7/15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DDD92-84A9-4B8D-A1E2-F1272813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DED4A-CC31-4D20-BF2C-5EB4E2D9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FIRST PRODUCT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05FAB-87AB-4F09-AF3E-E4422648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67000"/>
            <a:ext cx="590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DC692-4039-4341-A08E-C310F0EE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670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804A1-9721-4A1E-8DB0-B13C0DEE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00350"/>
            <a:ext cx="556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BD"/>
                </a:solidFill>
              </a:defRPr>
            </a:pPr>
            <a:r>
              <a:t>Screens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9CA39-01E9-45B9-AB8D-A8FE9EDD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86100"/>
            <a:ext cx="5562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Login, roles, master data, demand, cargo layer, windows, schedule, conflict, approval, publish, audit,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FEEB6-3B5B-4FDE-BAAD-ABC6F05E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590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A26E6-BC87-4C45-BBA5-3D203454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6C9CC-9876-44BF-B7A9-598159F0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00350"/>
            <a:ext cx="556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t>Capability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DF56D-C17A-447E-816C-FEA9D7CE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86100"/>
            <a:ext cx="5562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Demand intake, route/resource eligibility, window validation, candidate movement generation, conflict output and plan versioning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BA07E-BE94-41F1-B4A9-F32523B3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590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59DD8-C648-4A9F-A6B1-C43235E4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B63E4-0DFD-4A6D-B8E6-E7B5617C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10100"/>
            <a:ext cx="556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781A"/>
                </a:solidFill>
              </a:defRPr>
            </a:pPr>
            <a:r>
              <a:t>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85D59-4315-4B34-BED0-E2417CE4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5850"/>
            <a:ext cx="5562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Reason-coded override, dual approval, publishability, immutable published snapshot and governed 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2E694-28E3-4728-8675-94D16FFD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76750"/>
            <a:ext cx="590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9A5ED-7311-4BB2-90D3-FB99EB4B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767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517CC-B483-489E-9BBA-6BD0BE0B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10100"/>
            <a:ext cx="556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6500"/>
                </a:solidFill>
              </a:defRPr>
            </a:pPr>
            <a:r>
              <a:t>ABL-owned product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67504C-146C-48CE-9287-12CC53FA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895850"/>
            <a:ext cx="5562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Working scheduling application that replaces spreadsheet-only planning for the core ABL-Berau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EFE54-E764-45EB-A70B-04A44DB8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715125"/>
            <a:ext cx="1123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F"/>
                </a:solidFill>
              </a:defRPr>
            </a:pPr>
            <a:r>
              <a:t>Release 1 success is validated through pilot-user adoption, conflict quality, approval traceability and publishable-plan cycle time.</a:t>
            </a:r>
          </a:p>
        </p:txBody>
      </p:sp>
    </p:spTree>
    <p:extLst>
      <p:ext uri="{BB962C8B-B14F-4D97-AF65-F5344CB8AC3E}">
        <p14:creationId xmlns:p14="http://schemas.microsoft.com/office/powerpoint/2010/main" val="15621545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41805C-DC9C-446F-958D-2527E02A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D1F4E-8C6B-4DE6-A7B1-A608A3B0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BD7BD-769E-4A5F-B140-FA580674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Application Modules &amp; Master Data Spine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C56B1-B54B-498B-A952-207E783E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D25C5-F8A0-4FA7-8F13-5F738C3B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product is organized around controlled operating data and one operator cockpit.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4E5A0-5A63-4779-872C-5BA67BB8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6D261-7568-49F2-A7C9-213E757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43B6F-1BBB-4976-A42C-650A4E26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8/15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FD9E0-536D-46AC-8DEF-4B42D02D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190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377DC-A34C-4675-9A3B-B4606333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8860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DEMO BLOCK 1: CORE APP + 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3A8F4-2230-443B-AD5B-59A66E12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32385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75925-B5D1-4EC9-AC6E-135B4080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1524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t>Operator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t>Cockpit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DEB5A-45BB-499E-A30B-E9492476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20002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2383">
            <a:solidFill>
              <a:srgbClr val="2F7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BDCE5-D2C5-4ABC-99CC-C8DC9F2F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7DBD"/>
                </a:solidFill>
              </a:defRPr>
            </a:pPr>
            <a:r>
              <a:t>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E8B22-8278-447D-A8B0-2BBBE81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00350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Users, roles, approval 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5C190-7A46-4783-A7C7-7F12CCC8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67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2F7C3-C8E0-4D33-AFCA-28405E69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0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182745" y="2775143"/>
            <a:ext cx="4343400" cy="112674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92EF4-16AB-42CB-B136-0655D1FE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20002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2383">
            <a:solidFill>
              <a:srgbClr val="2F7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76BF5-B6CA-480E-9B9B-CF29629D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57425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7DBD"/>
                </a:solidFill>
              </a:defRPr>
            </a:pPr>
            <a:r>
              <a:t>Master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FBE84-84F2-428E-BEAD-087A65BE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Assets, routes, locations, grades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0BA9E-4BC4-4C4F-BBFA-384BEAF2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33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FD4D7-EBDA-4CA5-9B03-19D2249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0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944995" y="2441768"/>
            <a:ext cx="1581150" cy="146011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02DB97-5C17-4883-9492-CB31009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20002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2383">
            <a:solidFill>
              <a:srgbClr val="2F7D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F1EB5-2F2B-4D70-A661-CDE73DD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57425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7DBD"/>
                </a:solidFill>
              </a:defRPr>
            </a:pPr>
            <a:r>
              <a:t>Planning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CE2D1E-972E-40D8-B07E-A54D4B0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66975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OGV demand, cargo, windows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9C977-D6F2-4657-8217-2AE10B32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33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052818-F342-4761-AFD8-5F8996D0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00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516620" y="2435033"/>
            <a:ext cx="1866900" cy="147358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CB6FF0-DD08-4E4F-9F88-172E5DDC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0"/>
            <a:ext cx="20002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2383">
            <a:solidFill>
              <a:srgbClr val="2E7D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FD5081-8993-4615-9125-936257C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908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7D32"/>
                </a:solidFill>
              </a:defRPr>
            </a:pPr>
            <a:r>
              <a:t>Scheduling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D2A715-C954-4844-A849-D873CA6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800350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Candidates, conflicts, versions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8CEFE5-FEEB-4FD1-BDFF-236CA91E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767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7DE9BA-8433-4876-8F75-A2123EEE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00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7516620" y="2768408"/>
            <a:ext cx="4629150" cy="114021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C439E4-47BE-4886-98DE-63375330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334000"/>
            <a:ext cx="20002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383">
            <a:solidFill>
              <a:srgbClr val="E965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49EB7D-71A7-497A-B010-BF131D76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4483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96500"/>
                </a:solidFill>
              </a:defRPr>
            </a:pPr>
            <a:r>
              <a:t>Exception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AA1FC7-9394-44E0-A20B-D7683A69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57850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Families, reason codes, recovery link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F7FB8D-9CF8-4ABC-9400-6430D38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624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FE7234-5A35-4B60-BF01-912A0283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00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 flipV="1">
            <a:off x="7516620" y="3908618"/>
            <a:ext cx="4629150" cy="171729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797B14-D9C7-471C-B002-7CD0BAC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953125"/>
            <a:ext cx="20002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383">
            <a:solidFill>
              <a:srgbClr val="4A5F7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7C4271-E282-4A4F-9A89-1D3958DF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67425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A5F78"/>
                </a:solidFill>
              </a:defRPr>
            </a:pPr>
            <a:r>
              <a:t>Telemetry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D1BA04-61FD-4CC8-B11F-84B44A4B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276975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Signals, geofence, latest state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E96C68-E8EF-437E-9F9D-463E99A7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43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F55AF3-647F-43E8-891E-B167F5DD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00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8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 flipV="1">
            <a:off x="7516620" y="3908618"/>
            <a:ext cx="1866900" cy="233641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CD0DEB-3E4D-46B7-B4E3-D7AE2681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53125"/>
            <a:ext cx="20002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383">
            <a:solidFill>
              <a:srgbClr val="4A5F7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E6253F-CA71-4AFC-BE5D-79439BE3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067425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A5F78"/>
                </a:solidFill>
              </a:defRPr>
            </a:pPr>
            <a:r>
              <a:t>Operations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5C3221-0E5B-4A33-A49A-96D8DE5F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276975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Event candidates, confirmations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98DBAD-2F0F-44CA-94AD-A5FBFD31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243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174509-43F2-49AD-B4B3-320B729B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0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5944995" y="3901883"/>
            <a:ext cx="1581150" cy="234988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DB1297-D604-49FC-B513-63D96A7F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2000250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383">
            <a:solidFill>
              <a:srgbClr val="A9781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12A5DD-EDE8-4535-ADAE-9CCDA792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483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9781A"/>
                </a:solidFill>
              </a:defRPr>
            </a:pPr>
            <a:r>
              <a:t>Audit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79C908-194D-4D42-8B83-FC1479D3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57850"/>
            <a:ext cx="1666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Overrides, approvals, exports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AD3F49-0829-4D49-BFA5-CED8F0F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624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CC57D8-EEA6-486E-B1E4-26A10D88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0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0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V="1">
            <a:off x="3182745" y="3901883"/>
            <a:ext cx="4343400" cy="173076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67E8F1-95A0-4AD6-9215-AD41795F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86600"/>
            <a:ext cx="7239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C360B4-9D7C-4EB3-A5F0-C80D83DC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153275"/>
            <a:ext cx="701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Demo objective: show module familiarity, master data spine and current product readiness</a:t>
            </a:r>
          </a:p>
        </p:txBody>
      </p:sp>
    </p:spTree>
    <p:extLst>
      <p:ext uri="{BB962C8B-B14F-4D97-AF65-F5344CB8AC3E}">
        <p14:creationId xmlns:p14="http://schemas.microsoft.com/office/powerpoint/2010/main" val="20622161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4CF4A-FD9C-4BC3-9712-C9F683C2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0C10D-C161-4CD2-8487-67E5D39A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F8643-ADF1-40C2-8AF1-F9D37382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OGV Demand To Feasible Schedule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4B868-90AA-49E7-B4C1-2A99E8FF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5F474-A9EC-4F7E-A559-9E514793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happy path converts OGV demand into feasible movement candidates through business-rule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D92D3-2C6D-4DE5-9735-B6F7F60B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BD277-EE17-40EC-B1D8-10B6DF17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C192E-8247-4C2E-A447-7891F33A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9/15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9FE88-0A62-4FC5-816A-6CD1D110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667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4C9E2-9C2A-4B26-BD7D-00824069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33623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HAPPY PATH: DEMAND TO CANDIDATE SCHEDULE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B5588-A971-424A-AA98-5AB56343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857875" cy="4048125"/>
          </a:xfrm>
          <a:prstGeom xmlns:a="http://schemas.openxmlformats.org/drawingml/2006/main" prst="roundRect">
            <a:avLst>
              <a:gd name="adj" fmla="val 3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B5F73-42E0-425C-B931-84DA6C27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857875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1468C-A5E6-45A0-99BF-427EB19B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857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82D7B-EED8-4035-887D-281B43A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54006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t>Planning cockpit - demand and windows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506D5-C948-4CEF-826B-27024DD4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428750" cy="31146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E0AEC-6483-4511-87BE-F841D5CC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B5C31-99F0-4BBC-B1FA-0CE3725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627F6-6182-4675-9A3B-F0F5FBEB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03B2F-3559-4DE0-8642-DA8D69EC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t>Demand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2E24D-88FE-4D35-9B0C-1F3C62B6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254F8-7B29-461F-A149-8F83560B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6C90B-3170-4109-B615-C1630AFA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8F6BE-C856-4C64-A68A-2960A3ED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Schedule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D1B4B-F27F-47BD-B390-BFAF7B17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D2F50-82AC-44E8-BF48-05FDE91B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3DDC2-9E87-40B9-9E0D-1FF5A5FB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33700"/>
            <a:ext cx="3667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2A5567-C8CD-40EE-9957-334123C0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32480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Active plan workspace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2916D-9170-4F6B-BD65-9E52307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14750"/>
            <a:ext cx="36290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88981D-2DA7-495E-88EC-01D6DDDB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OGV demand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0BC13A-9471-47AE-A2A7-4F084140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81425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7E4244-09DB-4594-8B45-3A43A0B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62425"/>
            <a:ext cx="36290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2367AA-CB2B-445C-8FC3-69DAB48C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38625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Cargo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2488DA-9C67-4205-916E-BEC3DD27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29100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2F7A23-3259-40A7-AB5F-61C4990B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0100"/>
            <a:ext cx="36290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B2BBEE-953B-4D60-AD1D-0A223029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863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Tide / bridge window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2F277E-C844-405E-9792-F347279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76775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86221C-B87C-40F6-BEC1-A1542A20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57775"/>
            <a:ext cx="36290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60E980-6C45-432F-876E-30529977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33975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Movement candidate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AFF71F-0B63-4515-A4C0-AB508B37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24450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0394C0-3DA4-456C-BE78-A5559E6E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05450"/>
            <a:ext cx="36290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E55308-98AD-436D-BDF7-8C8B8FFF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8165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Approval state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9A305C-D591-47CA-959B-9C72245C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572125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67A246-8C6E-4EBD-B0DE-32020656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1430">
            <a:solidFill>
              <a:srgbClr val="2F7DB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E9BCF3-4B4E-43A4-995D-71D32FA4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886019-8B90-48B9-9F48-B3F6427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28900"/>
            <a:ext cx="952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2B37CB-A8B3-48C0-AFF6-C424B22D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2412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33F"/>
                </a:solidFill>
              </a:defRPr>
            </a:pPr>
            <a:r>
              <a:t>OGV demand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16543C-BBAC-408C-A945-A30083DA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7177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ETA, laycan, quantity, priority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46F782-FB4A-48AA-9D58-6B765A9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384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54F50C-6AAE-41CA-844A-6AE1D887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384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0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 flipV="1">
            <a:off x="9440670" y="2739833"/>
            <a:ext cx="4476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5698A1-E539-4D46-96F4-8475F0B3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8125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1430">
            <a:solidFill>
              <a:srgbClr val="2F7DB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E24D0C-4756-4DE4-9E21-4E0E46B0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71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BE14CE-EDEE-4D53-B62F-EA5BA2D8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628900"/>
            <a:ext cx="952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B70C18-9ED9-4E20-B71C-382A5E6E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2412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33F"/>
                </a:solidFill>
              </a:defRPr>
            </a:pPr>
            <a:r>
              <a:t>Cargo layer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779B4C-421E-4937-BD75-AA5574CE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77177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Grade and loading sequence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16C86C-A218-4F34-83BE-6727A553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1430">
            <a:solidFill>
              <a:srgbClr val="2E7D3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D1C6B5-D8CB-4C5E-A85C-C4B5CF12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83D59E-EE85-4FA7-A7B4-65AC5D83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952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4127D1-93CB-45F9-865F-3DBEFAF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7187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33F"/>
                </a:solidFill>
              </a:defRPr>
            </a:pPr>
            <a:r>
              <a:t>Route steps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E44759-77E4-4599-ABCF-DBA82128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952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Jetty, movement, CTS chain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9709CE-06D1-4E50-BE50-704DD520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786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C985226-7A72-404F-9D5E-9F2578EA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86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 flipV="1">
            <a:off x="9440670" y="3787583"/>
            <a:ext cx="4476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7B18F5-C8B0-48DB-94A8-F25D28A0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42900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1430">
            <a:solidFill>
              <a:srgbClr val="2E7D3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82EC47-8B89-4531-8076-F2E9E3A9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19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0895C9-4760-453D-9361-CEFCA402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676650"/>
            <a:ext cx="952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62B34C-CE63-4FFC-A039-0176C968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57187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33F"/>
                </a:solidFill>
              </a:defRPr>
            </a:pPr>
            <a:r>
              <a:t>Asset / CTS fit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A796CDF-BFA0-43F0-AEF6-65AE0210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81952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Compatibility and availability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20C59D-DF43-4E66-9B4A-3216C0C8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7675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1430">
            <a:solidFill>
              <a:srgbClr val="E965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8234D6-4278-43AB-9513-6580FE76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672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4AD5C3F-F0D4-42C2-95DB-6974DFD2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952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38C9EB-C703-4898-984F-64D8CEEB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1962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33F"/>
                </a:solidFill>
              </a:defRPr>
            </a:pPr>
            <a:r>
              <a:t>Operating windows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D66C54-195D-4244-8E2E-5853227B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6727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Tide, bridge, jetty capacity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D7C4DB-7E32-4D36-8648-F829D72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833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7B355E-06F7-4130-AB5A-26855E1D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833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 flipV="1">
            <a:off x="9440670" y="4835333"/>
            <a:ext cx="4476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6E6ACF4-D575-4562-AA11-049E2017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7675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1430">
            <a:solidFill>
              <a:srgbClr val="2E7D3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74DA4B-8EE3-4383-A977-EECE03A7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6672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91F6FAF-255C-42CB-8FF7-30647B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724400"/>
            <a:ext cx="952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681689-D381-41E1-97E2-1DB8ABF6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61962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33F"/>
                </a:solidFill>
              </a:defRPr>
            </a:pPr>
            <a:r>
              <a:t>Candidate schedule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9EAB70-13E5-4078-A60A-1BDBD89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867275"/>
            <a:ext cx="1666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Feasible movement placement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4EB2CF-FC19-4C01-B520-D8ED9615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5334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E69E00-C06B-44CB-9A04-88241B1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5F5AA6D-A2A6-4F41-A5E3-2BD9FAC0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BD"/>
                </a:solidFill>
              </a:defRPr>
            </a:pPr>
            <a:r>
              <a:t>Demo proof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7DF635A-7995-44DF-BA80-AAE8E4BD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324600"/>
            <a:ext cx="4991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Show OGV demand entry, cargo-layer representation, operating windows and candidate movement generation.</a:t>
            </a:r>
          </a:p>
        </p:txBody>
      </p:sp>
    </p:spTree>
    <p:extLst>
      <p:ext uri="{BB962C8B-B14F-4D97-AF65-F5344CB8AC3E}">
        <p14:creationId xmlns:p14="http://schemas.microsoft.com/office/powerpoint/2010/main" val="15754692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31301-0D80-4181-96CB-D30842C5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3A98A-9634-47A6-938C-9486B489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A64FE-1DAB-4378-A279-862347CD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Approval, Publish &amp; Audit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0B45B-97BE-435C-9AA1-20A2A6EE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47D9B-7FCE-4013-83B0-E449D59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product turns a feasible draft into an approved execution contract.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7F12E-BB41-49E6-B1A5-98DB6279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95E76-EF7B-4D88-B080-1E73AF2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7C94A-C50C-44F0-8082-4933D078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10/15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72A3E-E125-4DA0-B990-F69EFE90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286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C43FB-8275-4686-AF15-76EA64D7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9813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HAPPY PATH: GOVERNANCE TO PUBLISH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4306-DB85-4D5E-BD87-00DBB71E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3335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9EDE6-5CC6-42B8-8B00-DAAAE36C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95625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Draft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FA8DC-38BD-492E-ACB6-7AC42D79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7E71B-FBEF-48DB-AE3B-8D2008DF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182620" y="3263708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D82F7-2D4D-44A8-9637-24B1DD6F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527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C614F-7C2E-4640-A7E6-5EFAAB26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95625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Conflict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89490-C579-4E72-9FA2-38DD9937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4716B-58F9-4696-A363-0094494E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3897120" y="3263708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491FA-05CA-4E6A-84F5-64BD8E13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527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03B16-BB12-460A-A469-B3574DB0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95625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Override reason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084E4B-2C3F-45F7-BCC6-69D211EC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6913E-224D-441E-B48E-E87EF365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5611620" y="3263708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B383F-3485-430D-8955-6A1CFD26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527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9F20E-A8DA-4182-8C57-D66EEEDE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095625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ABL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17D8B-4327-40F4-9169-D9277263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8CED2-DA5B-4B9D-911A-BCC90B22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7326120" y="3263708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85868-B334-4F1F-B3D6-53DBFCE1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E68E39-78D9-42E5-B418-E8B10421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95625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Berau approval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E0E157-1DA3-4D23-BAB0-8AFE1BAF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A83456-FAD3-4337-BF4C-C6C2826E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9040620" y="3263708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C5B07A-2E53-4C68-95EA-32A23C2D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E1659-3267-4EC6-B3E5-ABFE26D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95625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Publishability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A49693-278C-43C4-B88B-097B2327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4D02D3-BE5A-4CC4-B566-54A82BC5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10755120" y="3263708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E97A0F-434C-47AA-BA9C-198331A5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9527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D151BA-9ABB-4CB6-B404-9E6F41E3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095625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Published snapshot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78E9EB-DA72-4A67-8009-76249B78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31C018-F81F-4D9D-A2FB-33335E6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262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V="1">
            <a:off x="12469620" y="3263708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5CD62D-4B29-414A-A394-21251AF9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9527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BBA6D6-FBCB-4AF2-B774-F9F003B6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3095625"/>
            <a:ext cx="1257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Export &amp; audit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04AA9D-855E-45A8-B55B-422C349B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B1AFDA-DCD4-4D8E-BAB5-735E01FE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EA356C-BC60-494D-9D4C-73EEA79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6500"/>
                </a:solidFill>
              </a:defRPr>
            </a:pPr>
            <a:r>
              <a:t>Decision rules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6C442B-9355-43E3-A495-4456AD65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3371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Hard blockers must carry reason code, affected movement and review action. Manual override does not erase the blocker history.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2470DD-8C4A-4863-A27F-B0274298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6250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8862D1-7A11-4AF8-BD4C-136F8FA8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6250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4B75A8-51C8-47BC-8F8C-387FF161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8958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t>Publish rule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F20E5F-EB3B-4023-9EEF-8FC73CD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181600"/>
            <a:ext cx="3371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Published plans remain immutable; replanning creates successor versions and preserves approval lineage.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2F78D2-DD7D-40A3-B653-B7F05979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9E234A-9812-4764-948F-CD205877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95C5DC-4FAD-48AD-8C8A-760C2025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958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781A"/>
                </a:solidFill>
              </a:defRPr>
            </a:pPr>
            <a:r>
              <a:t>Audit proof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2027C5-23F8-49B4-8EF4-1E9BB542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81600"/>
            <a:ext cx="3371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Every approval, override, publish action and export is traceable by user, timestamp and plan version.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F6E049-E5D4-499F-BA3B-89417A0C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715125"/>
            <a:ext cx="876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287165-B1A9-4374-AC79-82550191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781800"/>
            <a:ext cx="853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Demo sequence: conflict review -&gt; override reason -&gt; dual approval -&gt; publish -&gt; audit/export</a:t>
            </a:r>
          </a:p>
        </p:txBody>
      </p:sp>
    </p:spTree>
    <p:extLst>
      <p:ext uri="{BB962C8B-B14F-4D97-AF65-F5344CB8AC3E}">
        <p14:creationId xmlns:p14="http://schemas.microsoft.com/office/powerpoint/2010/main" val="697608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DC3CD8-DC6C-4941-9744-F50B1938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5E869-72F6-45CA-AAB3-503AFB63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F395B-AE1A-4DD3-8B9F-6FE48AB0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Scenario &amp; Exception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E65C1-9B81-46F6-99BB-2AF9A8A3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EA3BE-CD07-4798-85A2-E7DA2BFE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Disruption is treated as a governed scenario before the published plan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5557A-CB98-48DE-BC5E-1B30773E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2064E-F477-4AE9-B70C-E45D95EC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34BB5-B65A-479B-ABFA-98BDFF37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11/15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73B62-BCEC-4365-BC66-5AD6708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190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DEBD-1BD2-4AF3-B798-923062EC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8860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DEMO BLOCK 2: RECOVERY +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26B8E-1536-494F-A301-D0B4D26B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24125"/>
            <a:ext cx="2524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29674-DCF6-41DB-A207-64972F5D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0325"/>
            <a:ext cx="22574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Baseline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2A45A-2017-46DB-8B68-540536AE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504825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1430">
            <a:solidFill>
              <a:srgbClr val="C7DA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1A578-2B43-4BA0-9028-74F3AC9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02D85-CD0A-42AD-B921-A6D31D74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85762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Published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5FF1C-0BF1-42D9-8AEA-CA7E5BB6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95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9B344-6DAF-4FC0-B18D-4670D7AD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995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2992245" y="3997133"/>
            <a:ext cx="2190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04629-ACA8-466F-89A0-725CE4C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1475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2449E-03CC-49A2-9EA3-748A379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5762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Active constraint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058C0-1583-49AF-94C2-F7B35720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95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45204-43F0-4F0B-88DE-ACE2F6B0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95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4582920" y="3997133"/>
            <a:ext cx="2190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B0193-12D7-4640-9A4F-684C2ED9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1475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186EE-32C5-475E-A643-E68BC08D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5762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Current conflict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A3D15-ABA3-4B82-97A7-045228DF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524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DE1D7-E803-46D1-A471-2DDD3DE1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600325"/>
            <a:ext cx="22574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Scenario 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06CFA8-E5D3-4047-BF14-0A0056C1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504825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1430">
            <a:solidFill>
              <a:srgbClr val="EFC7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128CEF-5BF0-4597-8326-42180967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13335">
            <a:solidFill>
              <a:srgbClr val="E965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200F7-87B1-4F6D-AADA-67ACC22C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5762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Delay / outage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47ADD-016F-44F6-9FA5-3A692763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995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4EC4CE-CD1D-4B65-9859-87403DA8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995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10469370" y="3997133"/>
            <a:ext cx="2190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BDD1B-E877-4901-9E3B-B5202ABA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71475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6BE09A-B13F-45AE-9CCA-AF151650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85762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Reassignment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C38E20-FB09-4C0A-A042-C9CEB6C2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995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00B96C-B918-4A9C-8428-F97638B5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3995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12060045" y="3997133"/>
            <a:ext cx="2190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EF3A53-31D7-4240-A6FF-4417CC8E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71475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82DB2F-180A-48CF-BBEF-FC3AE972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85762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Projected impact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B60648-5ED3-4CEF-8A5C-F8585646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82FA99-2704-4E4C-912A-EEA587B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V="1">
            <a:off x="6564120" y="4168583"/>
            <a:ext cx="2057400" cy="67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13C210-B4D3-4514-B956-1EA48E93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53125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92E7A0-833F-4AFA-8631-8872DD40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53125"/>
            <a:ext cx="76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2EDB16-DFCC-4786-A7C1-9614F451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086475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6500"/>
                </a:solidFill>
              </a:defRPr>
            </a:pPr>
            <a:r>
              <a:t>Exception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67B540-0C3C-492A-95D4-3E0F6A09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372225"/>
            <a:ext cx="251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Family, cause, affected movement, active constraint and recovery linkage.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7E2B19-75E0-4F0A-A516-4B331F06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53125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72BCE6-8193-4618-870C-19A2B74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53125"/>
            <a:ext cx="76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E14F54-9C92-4978-821A-AF93A691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086475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6500"/>
                </a:solidFill>
              </a:defRPr>
            </a:pPr>
            <a:r>
              <a:t>Simulation output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A9861F-FB23-4C5D-98B2-DB10ACE1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372225"/>
            <a:ext cx="251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Trip impact, OGV risk, utilization, remaining blockers and promotion path.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6BA9F0-75B4-4E85-94EA-D5E52605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953125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1FC2C2-E7F9-4190-B5F8-4269470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953125"/>
            <a:ext cx="76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5E7B34-F1FD-4B99-90D8-A37A8EDB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086475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t>Governance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C3B24F-CF57-4B1C-8119-5E33759D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372225"/>
            <a:ext cx="251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Scenario can be promoted only after feasibility and approval checks.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77D92D-43FC-423A-94DD-41506F4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53125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DE0FC3-47E4-456F-A220-9A532648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53125"/>
            <a:ext cx="76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8A0A2D-4D7F-4752-B2AF-963B15BE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6086475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BD"/>
                </a:solidFill>
              </a:defRPr>
            </a:pPr>
            <a:r>
              <a:t>Demo proof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CB1350-18E5-46B2-8FEC-220C65DC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6372225"/>
            <a:ext cx="251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Show one baseline-vs-scenario comparison with downstream impact.</a:t>
            </a:r>
          </a:p>
        </p:txBody>
      </p:sp>
    </p:spTree>
    <p:extLst>
      <p:ext uri="{BB962C8B-B14F-4D97-AF65-F5344CB8AC3E}">
        <p14:creationId xmlns:p14="http://schemas.microsoft.com/office/powerpoint/2010/main" val="19266147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9B7A14-847C-487F-9ACF-7EFA79F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65DA7-A110-47E4-AD7C-06083526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6A35F-68AB-4248-9CBE-228E9066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Recovery Path To Publish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1DC18-3B94-4FC5-8AAB-8ABD25BC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A8AAA-3888-435E-BC5B-981EE0A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Recovery remains advisory until simulated, approved and checked for publishability.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C51A4-928A-4B44-9B88-74217E6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ED993-5702-4A08-A787-CD9F6B38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078DD-E5D0-4486-AAC2-AB6D6387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12/15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4C803-AC13-403E-9452-07608AAF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4A642-2F26-4297-A634-419019C6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RECOVERY TO PUBLICATION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FADCE-4270-4B8C-9EBC-AE6ED6EB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61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13335">
            <a:solidFill>
              <a:srgbClr val="E965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84F47-A50B-4826-AF61-466F31BC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Active exception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44D56-C953-4CDD-9814-CA92B315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2DA27-82C0-4B6E-83A3-0F1C5313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268345" y="3197033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3C564-908E-4E5F-979F-368D346A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76550"/>
            <a:ext cx="161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8597E-E80C-48B0-A1AF-08BA3A2E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19425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Recovery snapshot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AED13-B5C5-4390-9D09-159F690D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F1010-DA9A-4591-98DD-70F8883B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78095" y="3197033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F46AF-29DA-4905-A26C-E390186D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161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13EC0-D110-4669-B61F-B3159137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19425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Ranked options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6F2BB-4CE6-46CF-9B7E-DDB4C7F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9E5FA-E1DA-414C-BE5F-F18BFF11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5887845" y="3197033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62449-6FA9-404A-B411-918A764E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76550"/>
            <a:ext cx="161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D1476D-2C12-4709-882C-58E30723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9425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Root-cause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3669A0-B0A9-4197-8AAD-E5B56665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2E354-D5B0-4F95-B01B-B30439E0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7697595" y="3197033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55C2A-A08F-4AE1-B412-69D9B688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76550"/>
            <a:ext cx="161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D8FF6-5ADF-4CC8-A5D3-E2BF37CC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19425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Scenario 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3FFE0A-21C0-45DE-A9C3-DC327483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6123E1-A870-4D61-9BAF-D72BC18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9507345" y="3197033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431FFB-A085-43EA-93CE-8D012691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76550"/>
            <a:ext cx="161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A4DEEB-04DB-48FE-8DB1-1A4D36A4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19425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Publishability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7E3CFB-96FC-4B21-B313-C6F38DE1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FD6280-730F-4D7D-8D16-646AD45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11317095" y="3197033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DC349C-74A8-4808-BA1A-25A4584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876550"/>
            <a:ext cx="161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CFA619-3DE9-4EFE-93EA-2EAFE898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019425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Approval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F9A556-2BA7-4727-A976-152BCD3C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29BC16-49D3-4760-BE62-6DF1CC9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3195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V="1">
            <a:off x="13126845" y="3197033"/>
            <a:ext cx="1047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C3FD1F-814B-4884-83C0-00B156FC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876550"/>
            <a:ext cx="161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73F204-48C3-4164-8EBF-2FF13700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019425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Recovery publish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ACA429-11AB-4B09-A33F-32A38630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4D6BC8-5C66-4148-B90E-76666297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438E71-417F-4538-B15D-CD71DAD7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280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BD"/>
                </a:solidFill>
              </a:defRPr>
            </a:pPr>
            <a:r>
              <a:t>Recovery input snapshot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FDC41D-A08B-405E-AFC4-B9D70AB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33975"/>
            <a:ext cx="28003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Active plan, current alerts, confirmed events, operating windows, resource state and conflict history.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6EC76F-D15B-4E56-8414-E6806F3E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43ED96-2719-413F-8475-BE0FDDA2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4B3FCB-D876-45A4-A82B-3DB611CA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48225"/>
            <a:ext cx="280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781A"/>
                </a:solidFill>
              </a:defRPr>
            </a:pPr>
            <a:r>
              <a:t>Ranked options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9E0ECE-BB4A-4361-94E3-C7A3090A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33975"/>
            <a:ext cx="28003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Candidate recovery actions are compared by constraint impact, OGV risk, movement feasibility and remaining blockers.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1A591F-BBEA-4330-B81E-783B02D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068D62-BC89-4997-AB9C-382D4C24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9FD142-C73E-4FFE-B27D-1D9A713D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48225"/>
            <a:ext cx="2800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t>Proof pack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0442B4-260E-409E-B2EB-E2E6D2BB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33975"/>
            <a:ext cx="28003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The selected option carries scenario evidence, root-cause validation, publishability result and audit lineage.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758BB2-14E4-4671-83B8-CAD354FD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66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C88F0D-EA7E-4D81-B3B1-22B9457B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238160-716B-4784-9837-0550DAA9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848225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6500"/>
                </a:solidFill>
              </a:defRPr>
            </a:pPr>
            <a:r>
              <a:t>Demo proof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5FDAD9-0D60-4206-86CF-66AD86D8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133975"/>
            <a:ext cx="2324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Demonstrate recovery flow all the way to approved recovery publication.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345619-FBF0-4F6F-AD6B-51DAFFE8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715125"/>
            <a:ext cx="638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5F12DD-3964-4F77-8015-1A6099BF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781800"/>
            <a:ext cx="615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Recovery design principle: recommend -&gt; simulate -&gt; approve -&gt; publish</a:t>
            </a:r>
          </a:p>
        </p:txBody>
      </p:sp>
    </p:spTree>
    <p:extLst>
      <p:ext uri="{BB962C8B-B14F-4D97-AF65-F5344CB8AC3E}">
        <p14:creationId xmlns:p14="http://schemas.microsoft.com/office/powerpoint/2010/main" val="159945242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43032-A502-47DF-A68F-E3E1277A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ED6D3-A3B0-49A4-847D-4BFD8854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0F525-CBB2-4D1C-89D2-3FFF68D5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Telemetry Evidence &amp; Operational Monitoring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EF5EB-391C-4ED7-8306-11D4A5EE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C46D8-DDC5-48F5-9445-7BA7C79B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Signals create observed evidence; confirmed events update the execution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90E71-5A85-4A0F-9FA0-ED68A6C1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8FC7A-DDD9-4E0B-94F4-8116F017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4F4BE-B51D-4475-A94D-8D080F4E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13/15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8FCA5-E897-4434-A32C-9C28BC89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60FB9-13DC-4A10-91CE-AF051140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3028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DEMO BLOCK 3: TELEMETRY +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45E44-8903-4CAE-BED7-982EB516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72390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54412-9338-4BFB-B5DF-66F2A255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F"/>
                </a:solidFill>
              </a:defRPr>
            </a:pPr>
            <a:r>
              <a:t>Navigational monitoring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51FED-5E62-469F-9645-147585E4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38C45-25BD-4809-894A-669212FC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FBF92-A460-4B6D-AE3F-2831C48E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095625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F4317-7910-4E47-A194-89F540B9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766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6AB9C-7639-4841-845A-3AD40EC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95625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B1847-BDE5-40EC-A8FA-E7E94A9E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88A75-9706-4CA7-B5AB-C8270B95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95625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12F02-8B65-4B7C-8521-1D8DFA8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BC4DB-DABB-461E-8655-46A0D4AF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95625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BEAC9-8115-4122-BCA3-746F0C85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BCB81-74FF-424F-B7E4-5BF6BC23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95625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DF5A0-87D6-4CD9-A9E6-5C41E48B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006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A053A7-E2B0-4AC4-BECD-9A8D3458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95625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6ED2A-7F9F-462A-B06A-203B04C5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BC4689-92DA-4663-B6D1-E3F88988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95625"/>
            <a:ext cx="95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6E1B3E-A875-4064-B144-6BF6F5D4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626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08845-1229-4A7B-BA66-9EE4586B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957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0CEBAA-F1F2-4CBF-98F3-C8A90A23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59105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TB-12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0B666-1037-4C63-A1D6-250C46BA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781550"/>
            <a:ext cx="1190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Confirmed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00B131-BACB-46DB-A3E1-AFBF0639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053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9360F4-CB09-4FC1-8156-139D47C2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400675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CTS-3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4F9AF9-4119-458D-8E90-169AEB5D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591175"/>
            <a:ext cx="1190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Planned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99A902-F69C-4A53-8CE9-A7A736DF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623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040D19-D71D-4113-A882-47A5B5AB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57675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B-08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43EB60-9342-4869-950F-C6A02A44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448175"/>
            <a:ext cx="1190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ETA variance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C16C6B-B970-45E7-9408-AE3F3D47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58102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1767B3-B63B-4FEC-A40F-9A159B9A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F"/>
                </a:solidFill>
              </a:defRPr>
            </a:pPr>
            <a:r>
              <a:t>Evidence and trust panel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B1274F-9EAE-42B9-B494-217EDCA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485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2F7D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459244-1062-4C6E-9406-641A3FD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14675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7DBD"/>
                </a:solidFill>
              </a:defRPr>
            </a:pPr>
            <a:r>
              <a:t>AIS / GPS evidence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779833-0BBB-4E8A-BD06-37C294B3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114675"/>
            <a:ext cx="2714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Position, speed, heading, timestamp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EC7BF4-EFDE-477D-8C6C-AD4A6271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485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4A5F7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521CCF-86F0-4B87-8136-A05DE422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29025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A5F78"/>
                </a:solidFill>
              </a:defRPr>
            </a:pPr>
            <a:r>
              <a:t>Latest asset state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A1A89F-061B-4519-9E7A-47779DB5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29025"/>
            <a:ext cx="2714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Normalized asset identity and freshness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FBAEEE-2462-4946-9628-BD791009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485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E965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F8ED52-A40A-49C4-923B-00783CB9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43375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6500"/>
                </a:solidFill>
              </a:defRPr>
            </a:pPr>
            <a:r>
              <a:t>Geofence / ETA variance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646648-5187-4134-94AA-F06287CB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43375"/>
            <a:ext cx="2714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Alert where movement deviates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8EBB8C-B525-43E2-895D-1CBF72C4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485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A9781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46E6AF-DFB1-49F5-ADEF-25364CD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57725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781A"/>
                </a:solidFill>
              </a:defRPr>
            </a:pPr>
            <a:r>
              <a:t>Event candidate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F93EE9-236C-4B17-8B78-5453EA7F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657725"/>
            <a:ext cx="2714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Device, feed or operator event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511558-BF7D-4BEE-A8A5-EB60F8FE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05400"/>
            <a:ext cx="485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140910-EE4D-4181-AB5F-57411EF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72075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7D32"/>
                </a:solidFill>
              </a:defRPr>
            </a:pPr>
            <a:r>
              <a:t>Confirm or reject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2DBD4E-F24C-40B9-9479-8D833792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72075"/>
            <a:ext cx="2714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Trust decision before actualization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93FBD3-15D2-494F-8DF4-70F6AA3E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19750"/>
            <a:ext cx="485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501905-EC53-41DA-B13F-F98D0829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86425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7D32"/>
                </a:solidFill>
              </a:defRPr>
            </a:pPr>
            <a:r>
              <a:t>Actual execution state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6D0476-A168-475E-BA9D-CF473A7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686425"/>
            <a:ext cx="2714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A5F78"/>
                </a:solidFill>
              </a:defRPr>
            </a:pPr>
            <a:r>
              <a:t>Confirmed event updates schedule status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FCE69D-520F-4D49-9ECC-699B6968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85800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State legend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017B75-93F0-4784-960B-FCD8B2D6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838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0443DE-2C9E-4EB7-96B5-1F2D4BE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81037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Planned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25BDF1-1445-40E8-9421-D8EB2586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838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DFAE16-62DD-4855-BCDC-9BCCFF36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81037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Observed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647C74-336C-4D02-9744-175FDF57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838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4C004D-912D-4150-99F4-2859B5C5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81037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Confirmed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04F74E-B215-4021-8A5E-99D82544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838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5B7243-A5CE-4E1E-BC0D-D39BC20D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81037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Projected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2B4134-905D-4594-81E8-183E3F08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6838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5D049F-7FD4-4004-8087-61522A9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81037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Recommended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7EEF48-7B85-466B-B60E-140FD184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838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2D2D"/>
          </a:solidFill>
          <a:ln xmlns:a="http://schemas.openxmlformats.org/drawingml/2006/main" w="0">
            <a:solidFill>
              <a:srgbClr val="BA2D2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AFD2F7-3D8B-4366-B77A-39C6FDF4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10375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233F"/>
                </a:solidFill>
              </a:defRPr>
            </a:pPr>
            <a:r>
              <a:t>Blocked</a:t>
            </a:r>
          </a:p>
        </p:txBody>
      </p:sp>
    </p:spTree>
    <p:extLst>
      <p:ext uri="{BB962C8B-B14F-4D97-AF65-F5344CB8AC3E}">
        <p14:creationId xmlns:p14="http://schemas.microsoft.com/office/powerpoint/2010/main" val="21025537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EBB644-0A33-499C-BAB2-E26582F5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ADD8E-9CF4-4C43-B44A-3F37668D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71939-22A8-4BB5-9824-5E5E19FE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Delivery Roadmap: Release 1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8FC98-20BA-4047-891F-E0A9D479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B711F-2A6D-43F5-846F-4838D29A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Blueprinting starts the work; Sprint 0 begins from Week 4 and Release 1 is validated by Weeks 17-18.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AFEAE-39C5-4C92-82C1-22639CAF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CDB99-E585-4821-B1D4-8A4ABED9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Delivery 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98022-521B-4305-B2AA-8B3A59E0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14/15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D9677-A67E-445F-861C-D3646E45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38325"/>
            <a:ext cx="13144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C8DE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05AE5-C507-4E62-A66B-F3836D80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1268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32"/>
                </a:solidFill>
              </a:defRPr>
            </a:pPr>
            <a:r>
              <a:t>Release 1 focus: governed scheduling spine and operating-window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B2962-43ED-4405-B888-C8939178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32924-304E-47F6-BAE2-B1190601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8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E1A30-29B4-4CFB-AC41-D913B173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18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C4743-31AD-4F8C-B3D8-3797BBBD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51E26-425B-408F-ABF5-2D810552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4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F4094-5132-4C4C-9A6E-ED956F03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080AC-D593-4338-9C2E-72F2AB13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FDB18-AC92-4C49-A863-2BF80F51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57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81C62-2AF9-4D6C-ACC2-7091A840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28A31-EDD3-46AA-8209-447052BA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5B0E3-531B-432B-B9C4-63A20C51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8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0E442-867E-43ED-A216-7403463E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07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E3D34-6BAB-4003-A5DD-AD92C380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40C87-C47B-4416-828F-4274A69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3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5C1D1-86F5-41E0-BAF2-FCD91564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68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FC530-D51D-4166-876F-1582BAED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47066-2437-4296-866D-D476AD1F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9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7D478-EDE3-4EA7-845C-B88AD999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8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78969-1F44-4FB0-846D-90051306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Blueprinting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64E20-AB25-4BB6-9481-3A828608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28925"/>
            <a:ext cx="10001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FE279-50F7-4E0C-834B-87D14673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86075"/>
            <a:ext cx="8096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W1-W3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3EA9F0-F96F-4DBF-9A8C-AAB29763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9AF33B-0960-4C84-A558-41CF1A2F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051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745A0A-53C0-4B36-81F7-8E227D7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E59CC3-3676-49CD-B1F8-72F05A27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051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W4-W5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F8FB60-167F-472C-8AC9-872FDDAE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660D6-C732-4F9D-848E-2A008254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EA57D-76C6-4C0C-B9A4-C68EF6C1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6671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419474-7807-41D1-A9D0-D6F3B764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7242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W6-W7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4AA5B4-8E7F-49BF-AB35-9C29A5D3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E2CEF5-B81E-4726-B086-729337B7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61458A-F7E1-43F3-9DAF-22AB60D8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40862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AAF082-1B0C-420F-B34D-0DC71DED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1433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W8-W9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485FDA-319A-44A3-8D21-5C9A415E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3D8692-A7D3-4B8B-A563-8F949A9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624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429D35-2C51-4052-9833-A2B87E30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053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B3A8C8-1C95-4240-B557-61F76615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W10-W11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5B5E81-621F-45A0-B423-09C65C8F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8A41C4-B60F-401E-AA52-4AFEF031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815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D15A96-18F5-4CBD-A848-8DDF3734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450" y="4924425"/>
            <a:ext cx="10001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5A4E3"/>
          </a:solidFill>
          <a:ln xmlns:a="http://schemas.openxmlformats.org/drawingml/2006/main" w="0">
            <a:solidFill>
              <a:srgbClr val="45A4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DA967C-73A4-4105-AD10-4C22D1AB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4981575"/>
            <a:ext cx="8096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W12-W14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F78893-C1DF-4DA7-AB1B-69DE22BE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247FA5-9113-48CC-B872-DCBEE488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F6880B-FDF1-47BC-9214-E5C94A70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825" y="53435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5A4E3"/>
          </a:solidFill>
          <a:ln xmlns:a="http://schemas.openxmlformats.org/drawingml/2006/main" w="0">
            <a:solidFill>
              <a:srgbClr val="45A4E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8F1B5A-F1D6-4976-A862-41C03A02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075" y="54006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W15-W16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17A0EDC-6882-41A4-B9AB-E082C313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388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16AE23-AD24-49FE-A1CD-347900AE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197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Release 1 Review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EA0AC3-B087-4A62-B57B-9F232EF3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57626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D2CEC7-C62B-4F7A-88B7-293F1D3D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325" y="58197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W17-W18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716428-7150-445E-B468-1DA5DED7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DCE575-2BAF-49BB-83B0-24B929C5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15075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CCBECA-14FD-4152-ABE8-9C30EEDA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3817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Blueprint complete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9C2D4E-E5E9-457C-BF44-DC7FDA41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31507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112B7B-6A8C-4A24-8B91-2B353722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381750"/>
            <a:ext cx="1581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Release 1 validated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564B54-173C-49D0-88B6-F7414B69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3714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98F9E3-8022-4D65-AC72-C20B76FA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95D82ED-5349-46B4-A071-80D528E9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0560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BD"/>
                </a:solidFill>
              </a:defRPr>
            </a:pPr>
            <a:r>
              <a:t>Blueprinting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E393A7-5439-4522-B6F6-E73A2910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991350"/>
            <a:ext cx="3371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Weeks 1-3: operating rules, data assumptions, flow logic, integration readiness and sprint backlog.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D1DE55-3D15-4A75-8BC8-434CBD1E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572250"/>
            <a:ext cx="4333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74F07B-2564-405F-97FF-E32FB0EB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5722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B3839C-FC39-4F75-B22B-4335309E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705600"/>
            <a:ext cx="39909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32"/>
                </a:solidFill>
              </a:defRPr>
            </a:pPr>
            <a:r>
              <a:t>Release 1 build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01645A-B0CD-4131-8ED6-A6E53C6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991350"/>
            <a:ext cx="39909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Weeks 4-16: foundation, master data, demand/cargo, windows, scheduling, blockers, approvals and publish.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31F70E-05F4-472C-B76D-BCBD54D3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572250"/>
            <a:ext cx="4095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CD8E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C45CE1-B6D7-4F6B-9107-18A3B15B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5722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B51EC86-4096-40E8-B682-A0FE264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705600"/>
            <a:ext cx="3752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781A"/>
                </a:solidFill>
              </a:defRPr>
            </a:pPr>
            <a:r>
              <a:t>Review and adoption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680B43-0DE8-4754-B002-C412842F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991350"/>
            <a:ext cx="3752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33F"/>
                </a:solidFill>
              </a:defRPr>
            </a:pPr>
            <a:r>
              <a:t>Weeks 17-18: pilot-user validation, conflict quality, override pattern, approval latency and readiness baseline.</a:t>
            </a:r>
          </a:p>
        </p:txBody>
      </p:sp>
    </p:spTree>
    <p:extLst>
      <p:ext uri="{BB962C8B-B14F-4D97-AF65-F5344CB8AC3E}">
        <p14:creationId xmlns:p14="http://schemas.microsoft.com/office/powerpoint/2010/main" val="212381484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AF325-A44F-476C-80E6-DD7B291E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61B0A-E60D-41BD-93F9-10039E4A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51B1D-BC18-4786-A2D5-53C1164B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Adoption Review &amp; Client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6CDEE-B023-4B0C-BCD6-E65FC640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7C2C2-04DD-492E-88F5-16310D7F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next decision is readiness: rules, data, owners, users and integrations.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C2D0F-65E1-47CD-96B5-C774B2C8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D45C0-C966-48EA-8B3A-921889EB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Delivery 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80ABC-9C8A-41E0-8D82-700A34AC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15/15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74EB1-BFE2-4F6E-BA5E-909BB948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524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2B5CC-36FF-408A-A6C9-9FC25A7E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2193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CLIENT ALIGNMENT 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8A5CB-861A-4212-BC9A-241BDCFF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4F355-E4A5-43BF-AD1E-D7D15CE9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381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ED6D8-9478-4F3A-A7B2-02198B87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72EC2-DCA0-407D-8CA0-D23643B2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t>Operating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2E66F-4754-42B4-B0D1-8B808134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1952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Validate constraint logic, windows, blockers and overrides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F8E8C-E0D4-4D7A-809B-364E56AA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66CEE-D91D-4E5A-89F1-A218667C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1390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E7D32"/>
                </a:solidFill>
              </a:defRPr>
            </a:pPr>
            <a:r>
              <a:t>validation owner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BE6D1-7A4C-49BA-9EB7-4CF6D0FF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B39AF-CA80-440D-959B-F1F34A41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2381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607F3-521F-4AAC-AEA5-849129EF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194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676FE-7D11-494F-8550-A34FCBD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t>Data ownership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70D64-3BDA-4D97-949F-C6A64FA3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76625"/>
            <a:ext cx="1952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Confirm names, sources, master-data ownership and update rhythm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9B2B3-D625-4B38-BFF2-4A3786F0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720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7DB09-7B77-4407-9AA2-D1B1441E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48200"/>
            <a:ext cx="1390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E7D32"/>
                </a:solidFill>
              </a:defRPr>
            </a:pPr>
            <a:r>
              <a:t>validation owner required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E9152-6308-46D6-859D-4276D618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965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4C0B5-15B8-4B45-AD97-BCB69714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381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DD64B-359B-402A-A309-2AF598A3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194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0869D5-2215-4E89-9189-8081A8CD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194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t>Pilot users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87B172-70AC-4E61-B559-2014F2F8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76625"/>
            <a:ext cx="1952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Name planners, approvers, exception reviewers and champions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22A3F5-972B-459A-8938-E2A56209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87DB38-4374-4834-96F6-75939253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48200"/>
            <a:ext cx="1390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E7D32"/>
                </a:solidFill>
              </a:defRPr>
            </a:pPr>
            <a:r>
              <a:t>validation owner required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C9DF7-4D11-43E5-B6F1-C135B2D5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E7D3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CC71F8-DC7C-4F38-AD38-7C5607C6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2381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A2BAE9-A5AD-40B0-8A61-944960F6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194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80B9BE-5865-4DDB-ADB7-E9848225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194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t>Approval authority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BFD83C-258C-44E5-B64A-6EB5B8F6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6625"/>
            <a:ext cx="1952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Confirm ABL and Berau sign-off workflow for publication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6AD715-AD93-458D-B5FD-AF3EE09F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720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382366-B514-4964-B6FA-14E9A466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48200"/>
            <a:ext cx="1390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E7D32"/>
                </a:solidFill>
              </a:defRPr>
            </a:pPr>
            <a:r>
              <a:t>validation owner required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FC9B92-D77F-4C48-8396-71A3CBF9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647950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A5F7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33102B-C19B-496E-9D6B-BEB44E8F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647950"/>
            <a:ext cx="2381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3E2DAE-E570-4513-B77D-EDEB2956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0194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EE074A-3029-4EC9-BAD9-6D3C4D14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8194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t>Integration access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BD13A9-AD74-4C74-B1D3-CE10539F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476625"/>
            <a:ext cx="1952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33F"/>
                </a:solidFill>
              </a:defRPr>
            </a:pPr>
            <a:r>
              <a:t>Identify source owners, access methods and readiness timing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DE3A01-345F-4CB6-AEDC-13D9AFCF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57200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FEDC26-6914-4ECC-9D88-A0B5C749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648200"/>
            <a:ext cx="1390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E7D32"/>
                </a:solidFill>
              </a:defRPr>
            </a:pPr>
            <a:r>
              <a:t>validation owner required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E5FC64-BDD9-42FD-B706-37AE7E72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238875"/>
            <a:ext cx="109537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68955D-0E16-48A8-B87E-C820C743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391275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t>Build  -&gt;  Operate  -&gt;  Transfer  -&gt;  Audit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F34BA2-F041-425A-9B09-59ACD575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96125"/>
            <a:ext cx="895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3F"/>
                </a:solidFill>
              </a:defRPr>
            </a:pPr>
            <a:r>
              <a:t>Close the proposal discussion by confirming the operating owners needed for Release 1 adoption.</a:t>
            </a:r>
          </a:p>
        </p:txBody>
      </p:sp>
    </p:spTree>
    <p:extLst>
      <p:ext uri="{BB962C8B-B14F-4D97-AF65-F5344CB8AC3E}">
        <p14:creationId xmlns:p14="http://schemas.microsoft.com/office/powerpoint/2010/main" val="447260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2026-06-04T08:58:56.3230000Z</dcterms:created>
  <dcterms:modified xsi:type="dcterms:W3CDTF">2026-06-04T08:58:56.3230000Z</dcterms:modified>
</coreProperties>
</file>