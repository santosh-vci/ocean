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f8cf0338054502" /><Relationship Type="http://schemas.openxmlformats.org/officeDocument/2006/relationships/extended-properties" Target="/docProps/app.xml" Id="R01c11c6a73a6409b" /><Relationship Type="http://schemas.openxmlformats.org/officeDocument/2006/relationships/officeDocument" Target="/ppt/presentation.xml" Id="R655eee224afa43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5d9eec5a9d474e"/>
  </p:sldMasterIdLst>
  <p:notesMasterIdLst>
    <p:notesMasterId xmlns:r="http://schemas.openxmlformats.org/officeDocument/2006/relationships" r:id="R3d7fb370b2e84506"/>
  </p:notesMasterIdLst>
  <p:sldIdLst>
    <p:sldId xmlns:r="http://schemas.openxmlformats.org/officeDocument/2006/relationships" id="256" r:id="Rd67b0c59f87d434e"/>
    <p:sldId xmlns:r="http://schemas.openxmlformats.org/officeDocument/2006/relationships" id="257" r:id="R58129bf58ec84bdc"/>
    <p:sldId xmlns:r="http://schemas.openxmlformats.org/officeDocument/2006/relationships" id="258" r:id="Rebd84bbeaf7e4a49"/>
    <p:sldId xmlns:r="http://schemas.openxmlformats.org/officeDocument/2006/relationships" id="259" r:id="Re3b9fe9f36ba48d1"/>
    <p:sldId xmlns:r="http://schemas.openxmlformats.org/officeDocument/2006/relationships" id="260" r:id="Rce2a94d1a2154f1a"/>
    <p:sldId xmlns:r="http://schemas.openxmlformats.org/officeDocument/2006/relationships" id="261" r:id="Rca10572cae7842b7"/>
    <p:sldId xmlns:r="http://schemas.openxmlformats.org/officeDocument/2006/relationships" id="262" r:id="R56bf0a2397414c84"/>
    <p:sldId xmlns:r="http://schemas.openxmlformats.org/officeDocument/2006/relationships" id="263" r:id="R50c7a29ccb604688"/>
    <p:sldId xmlns:r="http://schemas.openxmlformats.org/officeDocument/2006/relationships" id="264" r:id="R77ddf8625e6c478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d9eec5a9d474e" /><Relationship Type="http://schemas.openxmlformats.org/officeDocument/2006/relationships/theme" Target="/ppt/theme/theme1.xml" Id="Re3f8e75652184762" /><Relationship Type="http://schemas.openxmlformats.org/officeDocument/2006/relationships/notesMaster" Target="/ppt/notesMasters/notesMaster1.xml" Id="R3d7fb370b2e84506" /><Relationship Type="http://schemas.openxmlformats.org/officeDocument/2006/relationships/presProps" Target="/ppt/presProps.xml" Id="R67c2d412d1564e7a" /><Relationship Type="http://schemas.openxmlformats.org/officeDocument/2006/relationships/viewProps" Target="/ppt/viewProps.xml" Id="Ra31cf9f8c5ba4e03" /><Relationship Type="http://schemas.openxmlformats.org/officeDocument/2006/relationships/tableStyles" Target="/ppt/tableStyles.xml" Id="Rf4408dd436394545" /><Relationship Type="http://schemas.openxmlformats.org/officeDocument/2006/relationships/slide" Target="/ppt/slides/slide1.xml" Id="Rd67b0c59f87d434e" /><Relationship Type="http://schemas.openxmlformats.org/officeDocument/2006/relationships/slide" Target="/ppt/slides/slide2.xml" Id="R58129bf58ec84bdc" /><Relationship Type="http://schemas.openxmlformats.org/officeDocument/2006/relationships/slide" Target="/ppt/slides/slide3.xml" Id="Rebd84bbeaf7e4a49" /><Relationship Type="http://schemas.openxmlformats.org/officeDocument/2006/relationships/slide" Target="/ppt/slides/slide4.xml" Id="Re3b9fe9f36ba48d1" /><Relationship Type="http://schemas.openxmlformats.org/officeDocument/2006/relationships/slide" Target="/ppt/slides/slide5.xml" Id="Rce2a94d1a2154f1a" /><Relationship Type="http://schemas.openxmlformats.org/officeDocument/2006/relationships/slide" Target="/ppt/slides/slide6.xml" Id="Rca10572cae7842b7" /><Relationship Type="http://schemas.openxmlformats.org/officeDocument/2006/relationships/slide" Target="/ppt/slides/slide7.xml" Id="R56bf0a2397414c84" /><Relationship Type="http://schemas.openxmlformats.org/officeDocument/2006/relationships/slide" Target="/ppt/slides/slide8.xml" Id="R50c7a29ccb604688" /><Relationship Type="http://schemas.openxmlformats.org/officeDocument/2006/relationships/slide" Target="/ppt/slides/slide9.xml" Id="R77ddf8625e6c47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3950d6fd47e4f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58ec17d43346d3" /><Relationship Type="http://schemas.openxmlformats.org/officeDocument/2006/relationships/notesMaster" Target="/ppt/notesMasters/notesMaster1.xml" Id="Rbbaaf925dda448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e544aacb7241e7" /><Relationship Type="http://schemas.openxmlformats.org/officeDocument/2006/relationships/notesMaster" Target="/ppt/notesMasters/notesMaster1.xml" Id="R38f4ad39fcef45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dd33d2a0004b03" /><Relationship Type="http://schemas.openxmlformats.org/officeDocument/2006/relationships/notesMaster" Target="/ppt/notesMasters/notesMaster1.xml" Id="R07e823ea890147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15ed7f96cb4357" /><Relationship Type="http://schemas.openxmlformats.org/officeDocument/2006/relationships/notesMaster" Target="/ppt/notesMasters/notesMaster1.xml" Id="R5d1c03796b114b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6856dd05c94eb6" /><Relationship Type="http://schemas.openxmlformats.org/officeDocument/2006/relationships/notesMaster" Target="/ppt/notesMasters/notesMaster1.xml" Id="R4c2af63e59224a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1bcd721ed24aee" /><Relationship Type="http://schemas.openxmlformats.org/officeDocument/2006/relationships/notesMaster" Target="/ppt/notesMasters/notesMaster1.xml" Id="Rced11beb0fca4f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2f51e3eed44c1f" /><Relationship Type="http://schemas.openxmlformats.org/officeDocument/2006/relationships/notesMaster" Target="/ppt/notesMasters/notesMaster1.xml" Id="Rb436076928e442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336defa41f4486" /><Relationship Type="http://schemas.openxmlformats.org/officeDocument/2006/relationships/notesMaster" Target="/ppt/notesMasters/notesMaster1.xml" Id="Ra41ff2c1ff5d49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c6f561a21e432b" /><Relationship Type="http://schemas.openxmlformats.org/officeDocument/2006/relationships/notesMaster" Target="/ppt/notesMasters/notesMaster1.xml" Id="Rad092e8d841d41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13334398d443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b4d17810afa434d" /><Relationship Type="http://schemas.openxmlformats.org/officeDocument/2006/relationships/slideLayout" Target="/ppt/slideLayouts/slideLayout2.xml" Id="R02a7d3d37a4342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a7d3d37a4342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cc94c040e5496e" /><Relationship Type="http://schemas.openxmlformats.org/officeDocument/2006/relationships/notesSlide" Target="/ppt/notesSlides/notesSlide1.xml" Id="Rccb7e48598a74e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10b1b1e3554f64" /><Relationship Type="http://schemas.openxmlformats.org/officeDocument/2006/relationships/notesSlide" Target="/ppt/notesSlides/notesSlide2.xml" Id="Rc65bb11366ec44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03ed123f204f0f" /><Relationship Type="http://schemas.openxmlformats.org/officeDocument/2006/relationships/notesSlide" Target="/ppt/notesSlides/notesSlide3.xml" Id="R4db2eb67e5e341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8c0e2697064f5c" /><Relationship Type="http://schemas.openxmlformats.org/officeDocument/2006/relationships/notesSlide" Target="/ppt/notesSlides/notesSlide4.xml" Id="Rfca0e52f23fd4a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394e7208f647a0" /><Relationship Type="http://schemas.openxmlformats.org/officeDocument/2006/relationships/image" Target="/ppt/media/image.png" Id="Rdd890375f474486c" /><Relationship Type="http://schemas.openxmlformats.org/officeDocument/2006/relationships/image" Target="/ppt/media/image2.png" Id="R181688e5c4334c31" /><Relationship Type="http://schemas.openxmlformats.org/officeDocument/2006/relationships/image" Target="/ppt/media/image3.png" Id="R9b5919c579b247b9" /><Relationship Type="http://schemas.openxmlformats.org/officeDocument/2006/relationships/image" Target="/ppt/media/image4.png" Id="R37f46fdff4bd4052" /><Relationship Type="http://schemas.openxmlformats.org/officeDocument/2006/relationships/notesSlide" Target="/ppt/notesSlides/notesSlide5.xml" Id="Rdad4cb0219e341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19dd9d98164d52" /><Relationship Type="http://schemas.openxmlformats.org/officeDocument/2006/relationships/notesSlide" Target="/ppt/notesSlides/notesSlide6.xml" Id="R6a2789f376ee40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7f6d159bf445ea" /><Relationship Type="http://schemas.openxmlformats.org/officeDocument/2006/relationships/notesSlide" Target="/ppt/notesSlides/notesSlide7.xml" Id="R4301eeaf66604e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26867e8c834c6c" /><Relationship Type="http://schemas.openxmlformats.org/officeDocument/2006/relationships/notesSlide" Target="/ppt/notesSlides/notesSlide8.xml" Id="Recf71b3d91d843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308c7f7c7348a8" /><Relationship Type="http://schemas.openxmlformats.org/officeDocument/2006/relationships/notesSlide" Target="/ppt/notesSlides/notesSlide9.xml" Id="Rf6cdf8bf030d4c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panel-1">
            <a:extLst xmlns:a="http://schemas.openxmlformats.org/drawingml/2006/main">
              <a:ext uri="{FF2B5EF4-FFF2-40B4-BE49-F238E27FC236}">
                <a16:creationId xmlns:a16="http://schemas.microsoft.com/office/drawing/2014/main" id="{EBA40131-AEFC-4956-B476-FA0F5C3F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2" name="s1-eyebrow">
            <a:extLst xmlns:a="http://schemas.openxmlformats.org/drawingml/2006/main">
              <a:ext uri="{FF2B5EF4-FFF2-40B4-BE49-F238E27FC236}">
                <a16:creationId xmlns:a16="http://schemas.microsoft.com/office/drawing/2014/main" id="{4E86CBB1-3BD3-47A1-B993-E63DDA01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BUSINESS CONTEXT</a:t>
            </a:r>
          </a:p>
        </p:txBody>
      </p:sp>
      <p:sp>
        <p:nvSpPr>
          <p:cNvPr id="3" name="s1-title">
            <a:extLst xmlns:a="http://schemas.openxmlformats.org/drawingml/2006/main">
              <a:ext uri="{FF2B5EF4-FFF2-40B4-BE49-F238E27FC236}">
                <a16:creationId xmlns:a16="http://schemas.microsoft.com/office/drawing/2014/main" id="{6EE4009A-5B9F-4944-BEC4-0CFE5239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6802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0212B"/>
                </a:solidFill>
              </a:defRPr>
            </a:pPr>
            <a:r>
              <a:rPr sz="4350" b="1" i="0">
                <a:solidFill>
                  <a:srgbClr val="10212B"/>
                </a:solidFill>
              </a:rPr>
              <a:t>Berau output meets ABL fleet scale.</a:t>
            </a:r>
          </a:p>
        </p:txBody>
      </p:sp>
      <p:sp>
        <p:nvSpPr>
          <p:cNvPr id="4" name="s1-body">
            <a:extLst xmlns:a="http://schemas.openxmlformats.org/drawingml/2006/main">
              <a:ext uri="{FF2B5EF4-FFF2-40B4-BE49-F238E27FC236}">
                <a16:creationId xmlns:a16="http://schemas.microsoft.com/office/drawing/2014/main" id="{C607BC27-5750-4793-9F5C-F79F7EA3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1887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The planning challenge is not abstract: it sits between a very large monthly cargo flow and a highly distributed marine asset network.</a:t>
            </a:r>
          </a:p>
        </p:txBody>
      </p:sp>
      <p:sp>
        <p:nvSpPr>
          <p:cNvPr id="5" name="s1-rule">
            <a:extLst xmlns:a="http://schemas.openxmlformats.org/drawingml/2006/main">
              <a:ext uri="{FF2B5EF4-FFF2-40B4-BE49-F238E27FC236}">
                <a16:creationId xmlns:a16="http://schemas.microsoft.com/office/drawing/2014/main" id="{E4A2F824-5D71-42C1-B49E-1B1BC488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83"/>
          </a:solidFill>
          <a:ln xmlns:a="http://schemas.openxmlformats.org/drawingml/2006/main" w="0">
            <a:solidFill>
              <a:srgbClr val="0E6B83"/>
            </a:solidFill>
            <a:prstDash val="solid"/>
          </a:ln>
        </p:spPr>
      </p:sp>
      <p:sp>
        <p:nvSpPr>
          <p:cNvPr id="6" name="s1-left-panel">
            <a:extLst xmlns:a="http://schemas.openxmlformats.org/drawingml/2006/main">
              <a:ext uri="{FF2B5EF4-FFF2-40B4-BE49-F238E27FC236}">
                <a16:creationId xmlns:a16="http://schemas.microsoft.com/office/drawing/2014/main" id="{98C8CBBD-EB95-4945-BF7E-2A6D6575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6570"/>
            <a:ext cx="7845266" cy="590550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EAF0F1"/>
          </a:solidFill>
        </p:spPr>
      </p:sp>
      <p:sp>
        <p:nvSpPr>
          <p:cNvPr id="7" name="s1-left-eyebrow">
            <a:extLst xmlns:a="http://schemas.openxmlformats.org/drawingml/2006/main">
              <a:ext uri="{FF2B5EF4-FFF2-40B4-BE49-F238E27FC236}">
                <a16:creationId xmlns:a16="http://schemas.microsoft.com/office/drawing/2014/main" id="{B6B42882-FA98-43BE-9F0D-F9575CE8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7277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BERAU COAL</a:t>
            </a:r>
          </a:p>
        </p:txBody>
      </p:sp>
      <p:sp>
        <p:nvSpPr>
          <p:cNvPr id="8" name="s1-berau-hero">
            <a:extLst xmlns:a="http://schemas.openxmlformats.org/drawingml/2006/main">
              <a:ext uri="{FF2B5EF4-FFF2-40B4-BE49-F238E27FC236}">
                <a16:creationId xmlns:a16="http://schemas.microsoft.com/office/drawing/2014/main" id="{5A5FA0F2-8853-4A1B-946F-84FA1207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72771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 i="0">
                <a:solidFill>
                  <a:srgbClr val="0E6B83"/>
                </a:solidFill>
              </a:defRPr>
            </a:pPr>
            <a:r>
              <a:rPr sz="6150" b="1" i="0">
                <a:solidFill>
                  <a:srgbClr val="0E6B83"/>
                </a:solidFill>
              </a:rPr>
              <a:t>35.9 Mt</a:t>
            </a:r>
          </a:p>
        </p:txBody>
      </p:sp>
      <p:sp>
        <p:nvSpPr>
          <p:cNvPr id="9" name="s1-berau-label">
            <a:extLst xmlns:a="http://schemas.openxmlformats.org/drawingml/2006/main">
              <a:ext uri="{FF2B5EF4-FFF2-40B4-BE49-F238E27FC236}">
                <a16:creationId xmlns:a16="http://schemas.microsoft.com/office/drawing/2014/main" id="{93BBDF12-1509-44DA-B8BC-A73560E6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727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0212B"/>
                </a:solidFill>
              </a:defRPr>
            </a:pPr>
            <a:r>
              <a:rPr sz="1650" b="0" i="0">
                <a:solidFill>
                  <a:srgbClr val="10212B"/>
                </a:solidFill>
              </a:rPr>
              <a:t>Coal production in 2024</a:t>
            </a:r>
          </a:p>
        </p:txBody>
      </p:sp>
      <p:sp>
        <p:nvSpPr>
          <p:cNvPr id="10" name="s1-left-rule">
            <a:extLst xmlns:a="http://schemas.openxmlformats.org/drawingml/2006/main">
              <a:ext uri="{FF2B5EF4-FFF2-40B4-BE49-F238E27FC236}">
                <a16:creationId xmlns:a16="http://schemas.microsoft.com/office/drawing/2014/main" id="{2D42F30A-7B5E-4BA8-BE15-C50A5A3E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727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7"/>
          </a:solidFill>
          <a:ln xmlns:a="http://schemas.openxmlformats.org/drawingml/2006/main" w="0">
            <a:solidFill>
              <a:srgbClr val="DCE5E7"/>
            </a:solidFill>
            <a:prstDash val="solid"/>
          </a:ln>
        </p:spPr>
      </p:sp>
      <p:sp>
        <p:nvSpPr>
          <p:cNvPr id="11" name="metric-value-s1a">
            <a:extLst xmlns:a="http://schemas.openxmlformats.org/drawingml/2006/main">
              <a:ext uri="{FF2B5EF4-FFF2-40B4-BE49-F238E27FC236}">
                <a16:creationId xmlns:a16="http://schemas.microsoft.com/office/drawing/2014/main" id="{FA4A2DEA-C85E-4D57-BA7B-BAFE5A61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72100"/>
            <a:ext cx="3505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2F8C73"/>
                </a:solidFill>
              </a:defRPr>
            </a:pPr>
            <a:r>
              <a:rPr sz="4050" b="1" i="0">
                <a:solidFill>
                  <a:srgbClr val="2F8C73"/>
                </a:solidFill>
              </a:rPr>
              <a:t>≈3.0 Mt</a:t>
            </a:r>
          </a:p>
        </p:txBody>
      </p:sp>
      <p:sp>
        <p:nvSpPr>
          <p:cNvPr id="12" name="metric-label-s1a">
            <a:extLst xmlns:a="http://schemas.openxmlformats.org/drawingml/2006/main">
              <a:ext uri="{FF2B5EF4-FFF2-40B4-BE49-F238E27FC236}">
                <a16:creationId xmlns:a16="http://schemas.microsoft.com/office/drawing/2014/main" id="{BD8B0687-E4A6-4840-88E5-97C4C89A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96000"/>
            <a:ext cx="350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56D"/>
                </a:solidFill>
              </a:defRPr>
            </a:pPr>
            <a:r>
              <a:rPr sz="1350" b="0" i="0">
                <a:solidFill>
                  <a:srgbClr val="53656D"/>
                </a:solidFill>
              </a:rPr>
              <a:t>Average / month</a:t>
            </a:r>
          </a:p>
        </p:txBody>
      </p:sp>
      <p:sp>
        <p:nvSpPr>
          <p:cNvPr id="13" name="metric-value-s1b">
            <a:extLst xmlns:a="http://schemas.openxmlformats.org/drawingml/2006/main">
              <a:ext uri="{FF2B5EF4-FFF2-40B4-BE49-F238E27FC236}">
                <a16:creationId xmlns:a16="http://schemas.microsoft.com/office/drawing/2014/main" id="{4E450E8D-C30D-41A1-89B8-60FE1A01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72100"/>
            <a:ext cx="3505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C8852C"/>
                </a:solidFill>
              </a:defRPr>
            </a:pPr>
            <a:r>
              <a:rPr sz="4050" b="1" i="0">
                <a:solidFill>
                  <a:srgbClr val="C8852C"/>
                </a:solidFill>
              </a:rPr>
              <a:t>≈98 kt</a:t>
            </a:r>
          </a:p>
        </p:txBody>
      </p:sp>
      <p:sp>
        <p:nvSpPr>
          <p:cNvPr id="14" name="metric-label-s1b">
            <a:extLst xmlns:a="http://schemas.openxmlformats.org/drawingml/2006/main">
              <a:ext uri="{FF2B5EF4-FFF2-40B4-BE49-F238E27FC236}">
                <a16:creationId xmlns:a16="http://schemas.microsoft.com/office/drawing/2014/main" id="{AA361EEF-98C0-477D-82D8-C455CCA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096000"/>
            <a:ext cx="350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56D"/>
                </a:solidFill>
              </a:defRPr>
            </a:pPr>
            <a:r>
              <a:rPr sz="1350" b="0" i="0">
                <a:solidFill>
                  <a:srgbClr val="53656D"/>
                </a:solidFill>
              </a:rPr>
              <a:t>Average / day</a:t>
            </a:r>
          </a:p>
        </p:txBody>
      </p:sp>
      <p:sp>
        <p:nvSpPr>
          <p:cNvPr id="15" name="s1-left-note">
            <a:extLst xmlns:a="http://schemas.openxmlformats.org/drawingml/2006/main">
              <a:ext uri="{FF2B5EF4-FFF2-40B4-BE49-F238E27FC236}">
                <a16:creationId xmlns:a16="http://schemas.microsoft.com/office/drawing/2014/main" id="{C1F904A1-B9DD-4028-9EB4-B74A8C37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77000"/>
            <a:ext cx="7277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3656D"/>
                </a:solidFill>
              </a:defRPr>
            </a:pPr>
            <a:r>
              <a:rPr sz="1650" b="0" i="0">
                <a:solidFill>
                  <a:srgbClr val="53656D"/>
                </a:solidFill>
              </a:rPr>
              <a:t>This is the demand rhythm the plan must absorb before one tug, barge, jetty, or CTS move is assigned.</a:t>
            </a:r>
          </a:p>
        </p:txBody>
      </p:sp>
      <p:sp>
        <p:nvSpPr>
          <p:cNvPr id="16" name="s1-right-panel">
            <a:extLst xmlns:a="http://schemas.openxmlformats.org/drawingml/2006/main">
              <a:ext uri="{FF2B5EF4-FFF2-40B4-BE49-F238E27FC236}">
                <a16:creationId xmlns:a16="http://schemas.microsoft.com/office/drawing/2014/main" id="{A0B7B186-8A85-4B87-A650-0EF9AB22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966" y="3036570"/>
            <a:ext cx="8671084" cy="590550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s1-right-eyebrow">
            <a:extLst xmlns:a="http://schemas.openxmlformats.org/drawingml/2006/main">
              <a:ext uri="{FF2B5EF4-FFF2-40B4-BE49-F238E27FC236}">
                <a16:creationId xmlns:a16="http://schemas.microsoft.com/office/drawing/2014/main" id="{5B1C6D54-29B5-436C-9E25-6FDAAE9F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95650"/>
            <a:ext cx="809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ABL OCEAN-FLEET PARTNER</a:t>
            </a:r>
          </a:p>
        </p:txBody>
      </p:sp>
      <p:sp>
        <p:nvSpPr>
          <p:cNvPr id="18" name="metric-value-s1c">
            <a:extLst xmlns:a="http://schemas.openxmlformats.org/drawingml/2006/main">
              <a:ext uri="{FF2B5EF4-FFF2-40B4-BE49-F238E27FC236}">
                <a16:creationId xmlns:a16="http://schemas.microsoft.com/office/drawing/2014/main" id="{4F184D2F-46DD-4904-9CFA-509F2D2E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57600"/>
            <a:ext cx="3924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C8852C"/>
                </a:solidFill>
              </a:defRPr>
            </a:pPr>
            <a:r>
              <a:rPr sz="4050" b="1" i="0">
                <a:solidFill>
                  <a:srgbClr val="C8852C"/>
                </a:solidFill>
              </a:rPr>
              <a:t>100M+</a:t>
            </a:r>
          </a:p>
        </p:txBody>
      </p:sp>
      <p:sp>
        <p:nvSpPr>
          <p:cNvPr id="19" name="metric-label-s1c">
            <a:extLst xmlns:a="http://schemas.openxmlformats.org/drawingml/2006/main">
              <a:ext uri="{FF2B5EF4-FFF2-40B4-BE49-F238E27FC236}">
                <a16:creationId xmlns:a16="http://schemas.microsoft.com/office/drawing/2014/main" id="{D62BD190-4389-41F8-8C10-9C71458C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62450"/>
            <a:ext cx="3924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56D"/>
                </a:solidFill>
              </a:defRPr>
            </a:pPr>
            <a:r>
              <a:rPr sz="1350" b="0" i="0">
                <a:solidFill>
                  <a:srgbClr val="53656D"/>
                </a:solidFill>
              </a:rPr>
              <a:t>Tonnes transshipped / year</a:t>
            </a:r>
          </a:p>
        </p:txBody>
      </p:sp>
      <p:sp>
        <p:nvSpPr>
          <p:cNvPr id="20" name="metric-value-s1d">
            <a:extLst xmlns:a="http://schemas.openxmlformats.org/drawingml/2006/main">
              <a:ext uri="{FF2B5EF4-FFF2-40B4-BE49-F238E27FC236}">
                <a16:creationId xmlns:a16="http://schemas.microsoft.com/office/drawing/2014/main" id="{BA43020E-BEB9-475C-9048-8703766C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657600"/>
            <a:ext cx="3924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E6B83"/>
                </a:solidFill>
              </a:defRPr>
            </a:pPr>
            <a:r>
              <a:rPr sz="4050" b="1" i="0">
                <a:solidFill>
                  <a:srgbClr val="0E6B83"/>
                </a:solidFill>
              </a:rPr>
              <a:t>20–55 kt</a:t>
            </a:r>
          </a:p>
        </p:txBody>
      </p:sp>
      <p:sp>
        <p:nvSpPr>
          <p:cNvPr id="21" name="metric-label-s1d">
            <a:extLst xmlns:a="http://schemas.openxmlformats.org/drawingml/2006/main">
              <a:ext uri="{FF2B5EF4-FFF2-40B4-BE49-F238E27FC236}">
                <a16:creationId xmlns:a16="http://schemas.microsoft.com/office/drawing/2014/main" id="{913C5A73-4759-4646-9E07-C314F5CD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362450"/>
            <a:ext cx="3924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56D"/>
                </a:solidFill>
              </a:defRPr>
            </a:pPr>
            <a:r>
              <a:rPr sz="1350" b="0" i="0">
                <a:solidFill>
                  <a:srgbClr val="53656D"/>
                </a:solidFill>
              </a:rPr>
              <a:t>CTS throughput / day</a:t>
            </a:r>
          </a:p>
        </p:txBody>
      </p:sp>
      <p:sp>
        <p:nvSpPr>
          <p:cNvPr id="22" name="s1-right-rule">
            <a:extLst xmlns:a="http://schemas.openxmlformats.org/drawingml/2006/main">
              <a:ext uri="{FF2B5EF4-FFF2-40B4-BE49-F238E27FC236}">
                <a16:creationId xmlns:a16="http://schemas.microsoft.com/office/drawing/2014/main" id="{399BA701-4AE5-4324-915D-18F14715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4345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7"/>
          </a:solidFill>
          <a:ln xmlns:a="http://schemas.openxmlformats.org/drawingml/2006/main" w="0">
            <a:solidFill>
              <a:srgbClr val="DCE5E7"/>
            </a:solidFill>
            <a:prstDash val="solid"/>
          </a:ln>
        </p:spPr>
      </p:sp>
      <p:sp>
        <p:nvSpPr>
          <p:cNvPr id="23" name="metric-value-s1e">
            <a:extLst xmlns:a="http://schemas.openxmlformats.org/drawingml/2006/main">
              <a:ext uri="{FF2B5EF4-FFF2-40B4-BE49-F238E27FC236}">
                <a16:creationId xmlns:a16="http://schemas.microsoft.com/office/drawing/2014/main" id="{31D45D52-E3DA-4F91-9D8D-7A8F2A5B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33950"/>
            <a:ext cx="2590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E6B83"/>
                </a:solidFill>
              </a:defRPr>
            </a:pPr>
            <a:r>
              <a:rPr sz="4050" b="1" i="0">
                <a:solidFill>
                  <a:srgbClr val="0E6B83"/>
                </a:solidFill>
              </a:rPr>
              <a:t>15</a:t>
            </a:r>
          </a:p>
        </p:txBody>
      </p:sp>
      <p:sp>
        <p:nvSpPr>
          <p:cNvPr id="24" name="metric-label-s1e">
            <a:extLst xmlns:a="http://schemas.openxmlformats.org/drawingml/2006/main">
              <a:ext uri="{FF2B5EF4-FFF2-40B4-BE49-F238E27FC236}">
                <a16:creationId xmlns:a16="http://schemas.microsoft.com/office/drawing/2014/main" id="{3EECE065-1E3A-4348-B1E5-66A7987C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657850"/>
            <a:ext cx="2590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56D"/>
                </a:solidFill>
              </a:defRPr>
            </a:pPr>
            <a:r>
              <a:rPr sz="1350" b="0" i="0">
                <a:solidFill>
                  <a:srgbClr val="53656D"/>
                </a:solidFill>
              </a:rPr>
              <a:t>Cargo Transfer Ships</a:t>
            </a:r>
          </a:p>
        </p:txBody>
      </p:sp>
      <p:sp>
        <p:nvSpPr>
          <p:cNvPr id="25" name="metric-value-s1f">
            <a:extLst xmlns:a="http://schemas.openxmlformats.org/drawingml/2006/main">
              <a:ext uri="{FF2B5EF4-FFF2-40B4-BE49-F238E27FC236}">
                <a16:creationId xmlns:a16="http://schemas.microsoft.com/office/drawing/2014/main" id="{3C5C6631-AA60-4988-BEF6-7EF0D551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933950"/>
            <a:ext cx="2590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2F8C73"/>
                </a:solidFill>
              </a:defRPr>
            </a:pPr>
            <a:r>
              <a:rPr sz="4050" b="1" i="0">
                <a:solidFill>
                  <a:srgbClr val="2F8C73"/>
                </a:solidFill>
              </a:rPr>
              <a:t>61</a:t>
            </a:r>
          </a:p>
        </p:txBody>
      </p:sp>
      <p:sp>
        <p:nvSpPr>
          <p:cNvPr id="26" name="metric-label-s1f">
            <a:extLst xmlns:a="http://schemas.openxmlformats.org/drawingml/2006/main">
              <a:ext uri="{FF2B5EF4-FFF2-40B4-BE49-F238E27FC236}">
                <a16:creationId xmlns:a16="http://schemas.microsoft.com/office/drawing/2014/main" id="{B4617C04-490D-4797-85AA-47544C2D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657850"/>
            <a:ext cx="2590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56D"/>
                </a:solidFill>
              </a:defRPr>
            </a:pPr>
            <a:r>
              <a:rPr sz="1350" b="0" i="0">
                <a:solidFill>
                  <a:srgbClr val="53656D"/>
                </a:solidFill>
              </a:rPr>
              <a:t>Tug + barge sets</a:t>
            </a:r>
          </a:p>
        </p:txBody>
      </p:sp>
      <p:sp>
        <p:nvSpPr>
          <p:cNvPr id="27" name="metric-value-s1g">
            <a:extLst xmlns:a="http://schemas.openxmlformats.org/drawingml/2006/main">
              <a:ext uri="{FF2B5EF4-FFF2-40B4-BE49-F238E27FC236}">
                <a16:creationId xmlns:a16="http://schemas.microsoft.com/office/drawing/2014/main" id="{57B16FC7-C584-4820-B5B5-0065C7CD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933950"/>
            <a:ext cx="2590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B9654A"/>
                </a:solidFill>
              </a:defRPr>
            </a:pPr>
            <a:r>
              <a:rPr sz="4050" b="1" i="0">
                <a:solidFill>
                  <a:srgbClr val="B9654A"/>
                </a:solidFill>
              </a:rPr>
              <a:t>11</a:t>
            </a:r>
          </a:p>
        </p:txBody>
      </p:sp>
      <p:sp>
        <p:nvSpPr>
          <p:cNvPr id="28" name="metric-label-s1g">
            <a:extLst xmlns:a="http://schemas.openxmlformats.org/drawingml/2006/main">
              <a:ext uri="{FF2B5EF4-FFF2-40B4-BE49-F238E27FC236}">
                <a16:creationId xmlns:a16="http://schemas.microsoft.com/office/drawing/2014/main" id="{E2BDEBB3-AA76-408D-B0B2-C8635653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5657850"/>
            <a:ext cx="2590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56D"/>
                </a:solidFill>
              </a:defRPr>
            </a:pPr>
            <a:r>
              <a:rPr sz="1350" b="0" i="0">
                <a:solidFill>
                  <a:srgbClr val="53656D"/>
                </a:solidFill>
              </a:rPr>
              <a:t>Ocean-going vessels</a:t>
            </a:r>
          </a:p>
        </p:txBody>
      </p:sp>
      <p:sp>
        <p:nvSpPr>
          <p:cNvPr id="29" name="s1-right-note">
            <a:extLst xmlns:a="http://schemas.openxmlformats.org/drawingml/2006/main">
              <a:ext uri="{FF2B5EF4-FFF2-40B4-BE49-F238E27FC236}">
                <a16:creationId xmlns:a16="http://schemas.microsoft.com/office/drawing/2014/main" id="{ED857CCA-9229-4E17-A2F2-EEF6285E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819900"/>
            <a:ext cx="809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3656D"/>
                </a:solidFill>
              </a:defRPr>
            </a:pPr>
            <a:r>
              <a:rPr sz="1650" b="0" i="0">
                <a:solidFill>
                  <a:srgbClr val="53656D"/>
                </a:solidFill>
              </a:rPr>
              <a:t>The software has to turn this capacity into a coordinated sequence, not merely display it.</a:t>
            </a:r>
          </a:p>
        </p:txBody>
      </p:sp>
      <p:sp>
        <p:nvSpPr>
          <p:cNvPr id="30" name="spacer-1">
            <a:extLst xmlns:a="http://schemas.openxmlformats.org/drawingml/2006/main">
              <a:ext uri="{FF2B5EF4-FFF2-40B4-BE49-F238E27FC236}">
                <a16:creationId xmlns:a16="http://schemas.microsoft.com/office/drawing/2014/main" id="{151BE8BB-1AE1-48F4-B4B0-977BAE65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220200"/>
            <a:ext cx="16840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31" name="source-1">
            <a:extLst xmlns:a="http://schemas.openxmlformats.org/drawingml/2006/main">
              <a:ext uri="{FF2B5EF4-FFF2-40B4-BE49-F238E27FC236}">
                <a16:creationId xmlns:a16="http://schemas.microsoft.com/office/drawing/2014/main" id="{E1ED0D85-A5FB-43FA-A1F3-28E42071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44050"/>
            <a:ext cx="16211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3656D"/>
                </a:solidFill>
              </a:defRPr>
            </a:pPr>
            <a:r>
              <a:rPr sz="1050" b="0" i="0">
                <a:solidFill>
                  <a:srgbClr val="53656D"/>
                </a:solidFill>
              </a:rPr>
              <a:t>Sources: Berau Coal Energy Annual Report 2024; ABL official site.</a:t>
            </a:r>
          </a:p>
        </p:txBody>
      </p:sp>
      <p:sp>
        <p:nvSpPr>
          <p:cNvPr id="32" name="page-1">
            <a:extLst xmlns:a="http://schemas.openxmlformats.org/drawingml/2006/main">
              <a:ext uri="{FF2B5EF4-FFF2-40B4-BE49-F238E27FC236}">
                <a16:creationId xmlns:a16="http://schemas.microsoft.com/office/drawing/2014/main" id="{B236F2E7-4A93-4462-B01F-F9F60150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9544050"/>
            <a:ext cx="400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E6B83"/>
                </a:solidFill>
              </a:defRPr>
            </a:pPr>
            <a:r>
              <a:rPr sz="1050" b="1" i="0">
                <a:solidFill>
                  <a:srgbClr val="0E6B8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25660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panel-2">
            <a:extLst xmlns:a="http://schemas.openxmlformats.org/drawingml/2006/main">
              <a:ext uri="{FF2B5EF4-FFF2-40B4-BE49-F238E27FC236}">
                <a16:creationId xmlns:a16="http://schemas.microsoft.com/office/drawing/2014/main" id="{A831254A-C8E9-4BC7-B631-824A6089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EF718001-14BB-4858-B4DC-FBED5A0D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CURRENT REALITY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CDA76DD0-909E-4397-82F3-9BDF739A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6802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0212B"/>
                </a:solidFill>
              </a:defRPr>
            </a:pPr>
            <a:r>
              <a:rPr sz="3900" b="1" i="0">
                <a:solidFill>
                  <a:srgbClr val="10212B"/>
                </a:solidFill>
              </a:rPr>
              <a:t>Data exists. Orchestration is still manual.</a:t>
            </a:r>
          </a:p>
        </p:txBody>
      </p:sp>
      <p:sp>
        <p:nvSpPr>
          <p:cNvPr id="4" name="s2-body">
            <a:extLst xmlns:a="http://schemas.openxmlformats.org/drawingml/2006/main">
              <a:ext uri="{FF2B5EF4-FFF2-40B4-BE49-F238E27FC236}">
                <a16:creationId xmlns:a16="http://schemas.microsoft.com/office/drawing/2014/main" id="{2CFF88BD-9BF2-4154-BF35-4221571D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10725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Today’s operation already produces useful signals; the friction is that the plan is still assembled, reconciled, and updated by hand.</a:t>
            </a:r>
          </a:p>
        </p:txBody>
      </p:sp>
      <p:sp>
        <p:nvSpPr>
          <p:cNvPr id="5" name="s2-rule">
            <a:extLst xmlns:a="http://schemas.openxmlformats.org/drawingml/2006/main">
              <a:ext uri="{FF2B5EF4-FFF2-40B4-BE49-F238E27FC236}">
                <a16:creationId xmlns:a16="http://schemas.microsoft.com/office/drawing/2014/main" id="{8004FD0C-5BE6-4A19-9783-D5EDAD3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83"/>
          </a:solidFill>
          <a:ln xmlns:a="http://schemas.openxmlformats.org/drawingml/2006/main" w="0">
            <a:solidFill>
              <a:srgbClr val="0E6B83"/>
            </a:solidFill>
            <a:prstDash val="solid"/>
          </a:ln>
        </p:spPr>
      </p:sp>
      <p:sp>
        <p:nvSpPr>
          <p:cNvPr id="6" name="s2-panel1">
            <a:extLst xmlns:a="http://schemas.openxmlformats.org/drawingml/2006/main">
              <a:ext uri="{FF2B5EF4-FFF2-40B4-BE49-F238E27FC236}">
                <a16:creationId xmlns:a16="http://schemas.microsoft.com/office/drawing/2014/main" id="{5A78CEC6-85A7-4B21-B7AB-8CDF8679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7990"/>
            <a:ext cx="5422900" cy="4953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0F1"/>
          </a:solidFill>
        </p:spPr>
      </p:sp>
      <p:sp>
        <p:nvSpPr>
          <p:cNvPr id="7" name="s2-c1-num">
            <a:extLst xmlns:a="http://schemas.openxmlformats.org/drawingml/2006/main">
              <a:ext uri="{FF2B5EF4-FFF2-40B4-BE49-F238E27FC236}">
                <a16:creationId xmlns:a16="http://schemas.microsoft.com/office/drawing/2014/main" id="{0EC69ADE-7AE5-4146-AA80-47041C3B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497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01</a:t>
            </a:r>
          </a:p>
        </p:txBody>
      </p:sp>
      <p:sp>
        <p:nvSpPr>
          <p:cNvPr id="8" name="s2-c1-title">
            <a:extLst xmlns:a="http://schemas.openxmlformats.org/drawingml/2006/main">
              <a:ext uri="{FF2B5EF4-FFF2-40B4-BE49-F238E27FC236}">
                <a16:creationId xmlns:a16="http://schemas.microsoft.com/office/drawing/2014/main" id="{69B89152-EFB6-42C4-867D-A7D8DF31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4972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0212B"/>
                </a:solidFill>
              </a:defRPr>
            </a:pPr>
            <a:r>
              <a:rPr sz="3000" b="1" i="0">
                <a:solidFill>
                  <a:srgbClr val="10212B"/>
                </a:solidFill>
              </a:rPr>
              <a:t>Excel schedule</a:t>
            </a:r>
          </a:p>
        </p:txBody>
      </p:sp>
      <p:sp>
        <p:nvSpPr>
          <p:cNvPr id="9" name="s2-c1-body">
            <a:extLst xmlns:a="http://schemas.openxmlformats.org/drawingml/2006/main">
              <a:ext uri="{FF2B5EF4-FFF2-40B4-BE49-F238E27FC236}">
                <a16:creationId xmlns:a16="http://schemas.microsoft.com/office/drawing/2014/main" id="{DD5B408F-77EA-4DBE-A27A-FD08C41C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52900"/>
            <a:ext cx="49720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53656D"/>
                </a:solidFill>
              </a:defRPr>
            </a:pPr>
            <a:r>
              <a:rPr sz="2025" b="0" i="0">
                <a:solidFill>
                  <a:srgbClr val="53656D"/>
                </a:solidFill>
              </a:rPr>
              <a:t>A usable planning workspace—but one that depends on manual collation, edits, and reconciliation.</a:t>
            </a:r>
          </a:p>
        </p:txBody>
      </p:sp>
      <p:sp>
        <p:nvSpPr>
          <p:cNvPr id="10" name="s2-c1-rule">
            <a:extLst xmlns:a="http://schemas.openxmlformats.org/drawingml/2006/main">
              <a:ext uri="{FF2B5EF4-FFF2-40B4-BE49-F238E27FC236}">
                <a16:creationId xmlns:a16="http://schemas.microsoft.com/office/drawing/2014/main" id="{1B499EE4-90A0-42FE-89A2-12C7A327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10350"/>
            <a:ext cx="497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7"/>
          </a:solidFill>
          <a:ln xmlns:a="http://schemas.openxmlformats.org/drawingml/2006/main" w="0">
            <a:solidFill>
              <a:srgbClr val="DCE5E7"/>
            </a:solidFill>
            <a:prstDash val="solid"/>
          </a:ln>
        </p:spPr>
      </p:sp>
      <p:sp>
        <p:nvSpPr>
          <p:cNvPr id="11" name="s2-c1-kicker">
            <a:extLst xmlns:a="http://schemas.openxmlformats.org/drawingml/2006/main">
              <a:ext uri="{FF2B5EF4-FFF2-40B4-BE49-F238E27FC236}">
                <a16:creationId xmlns:a16="http://schemas.microsoft.com/office/drawing/2014/main" id="{8167D067-5C4D-44F8-9C5C-EEB958F9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627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E6B83"/>
                </a:solidFill>
              </a:defRPr>
            </a:pPr>
            <a:r>
              <a:rPr sz="1275" b="1" i="0">
                <a:solidFill>
                  <a:srgbClr val="0E6B83"/>
                </a:solidFill>
              </a:rPr>
              <a:t>CURRENT STATE</a:t>
            </a:r>
          </a:p>
        </p:txBody>
      </p:sp>
      <p:sp>
        <p:nvSpPr>
          <p:cNvPr id="12" name="s2-c1-note">
            <a:extLst xmlns:a="http://schemas.openxmlformats.org/drawingml/2006/main">
              <a:ext uri="{FF2B5EF4-FFF2-40B4-BE49-F238E27FC236}">
                <a16:creationId xmlns:a16="http://schemas.microsoft.com/office/drawing/2014/main" id="{301D182D-3C8D-481E-924B-F5B92AD9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86600"/>
            <a:ext cx="4972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0E6B83"/>
                </a:solidFill>
              </a:defRPr>
            </a:pPr>
            <a:r>
              <a:rPr sz="2025" b="0" i="0">
                <a:solidFill>
                  <a:srgbClr val="0E6B83"/>
                </a:solidFill>
              </a:rPr>
              <a:t>The data is present.</a:t>
            </a:r>
          </a:p>
          <a:p xmlns:a="http://schemas.openxmlformats.org/drawingml/2006/main">
            <a:pPr>
              <a:defRPr sz="2025" b="0" i="0">
                <a:solidFill>
                  <a:srgbClr val="0E6B83"/>
                </a:solidFill>
              </a:defRPr>
            </a:pPr>
            <a:r>
              <a:rPr sz="2025" b="0" i="0">
                <a:solidFill>
                  <a:srgbClr val="0E6B83"/>
                </a:solidFill>
              </a:rPr>
              <a:t>The workflow is brittle.</a:t>
            </a:r>
          </a:p>
        </p:txBody>
      </p:sp>
      <p:sp>
        <p:nvSpPr>
          <p:cNvPr id="13" name="s2-panel2">
            <a:extLst xmlns:a="http://schemas.openxmlformats.org/drawingml/2006/main">
              <a:ext uri="{FF2B5EF4-FFF2-40B4-BE49-F238E27FC236}">
                <a16:creationId xmlns:a16="http://schemas.microsoft.com/office/drawing/2014/main" id="{4EDC5931-4C16-4765-8B54-FCFDECDF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2967990"/>
            <a:ext cx="5422900" cy="4953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s2-c2-num">
            <a:extLst xmlns:a="http://schemas.openxmlformats.org/drawingml/2006/main">
              <a:ext uri="{FF2B5EF4-FFF2-40B4-BE49-F238E27FC236}">
                <a16:creationId xmlns:a16="http://schemas.microsoft.com/office/drawing/2014/main" id="{C53ADBA3-FF2F-4BBA-9783-56239C2D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97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02</a:t>
            </a:r>
          </a:p>
        </p:txBody>
      </p:sp>
      <p:sp>
        <p:nvSpPr>
          <p:cNvPr id="15" name="s2-c2-title">
            <a:extLst xmlns:a="http://schemas.openxmlformats.org/drawingml/2006/main">
              <a:ext uri="{FF2B5EF4-FFF2-40B4-BE49-F238E27FC236}">
                <a16:creationId xmlns:a16="http://schemas.microsoft.com/office/drawing/2014/main" id="{C358AB06-C028-40C3-808D-ED73909F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4972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0212B"/>
                </a:solidFill>
              </a:defRPr>
            </a:pPr>
            <a:r>
              <a:rPr sz="3000" b="1" i="0">
                <a:solidFill>
                  <a:srgbClr val="10212B"/>
                </a:solidFill>
              </a:rPr>
              <a:t>Spinergie layer</a:t>
            </a:r>
          </a:p>
        </p:txBody>
      </p:sp>
      <p:sp>
        <p:nvSpPr>
          <p:cNvPr id="16" name="s2-c2-body">
            <a:extLst xmlns:a="http://schemas.openxmlformats.org/drawingml/2006/main">
              <a:ext uri="{FF2B5EF4-FFF2-40B4-BE49-F238E27FC236}">
                <a16:creationId xmlns:a16="http://schemas.microsoft.com/office/drawing/2014/main" id="{0653892F-38A5-4CAE-A315-8127DB48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49720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53656D"/>
                </a:solidFill>
              </a:defRPr>
            </a:pPr>
            <a:r>
              <a:rPr sz="2025" b="0" i="0">
                <a:solidFill>
                  <a:srgbClr val="53656D"/>
                </a:solidFill>
              </a:rPr>
              <a:t>Digital daily reports, cycle KPIs, real-time AIS visibility, GPS evidence, and environmental reporting already exist around the operation.</a:t>
            </a:r>
          </a:p>
        </p:txBody>
      </p:sp>
      <p:sp>
        <p:nvSpPr>
          <p:cNvPr id="17" name="s2-c2-rule">
            <a:extLst xmlns:a="http://schemas.openxmlformats.org/drawingml/2006/main">
              <a:ext uri="{FF2B5EF4-FFF2-40B4-BE49-F238E27FC236}">
                <a16:creationId xmlns:a16="http://schemas.microsoft.com/office/drawing/2014/main" id="{F08723D0-3528-4C30-B71A-177926D1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610350"/>
            <a:ext cx="497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7"/>
          </a:solidFill>
          <a:ln xmlns:a="http://schemas.openxmlformats.org/drawingml/2006/main" w="0">
            <a:solidFill>
              <a:srgbClr val="DCE5E7"/>
            </a:solidFill>
            <a:prstDash val="solid"/>
          </a:ln>
        </p:spPr>
      </p:sp>
      <p:sp>
        <p:nvSpPr>
          <p:cNvPr id="18" name="s2-c2-kicker">
            <a:extLst xmlns:a="http://schemas.openxmlformats.org/drawingml/2006/main">
              <a:ext uri="{FF2B5EF4-FFF2-40B4-BE49-F238E27FC236}">
                <a16:creationId xmlns:a16="http://schemas.microsoft.com/office/drawing/2014/main" id="{DCA6ED08-8FC7-4095-B17F-65D9E6DE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7627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F8C73"/>
                </a:solidFill>
              </a:defRPr>
            </a:pPr>
            <a:r>
              <a:rPr sz="1275" b="1" i="0">
                <a:solidFill>
                  <a:srgbClr val="2F8C73"/>
                </a:solidFill>
              </a:rPr>
              <a:t>EVIDENCE LAYER</a:t>
            </a:r>
          </a:p>
        </p:txBody>
      </p:sp>
      <p:sp>
        <p:nvSpPr>
          <p:cNvPr id="19" name="s2-c2-note">
            <a:extLst xmlns:a="http://schemas.openxmlformats.org/drawingml/2006/main">
              <a:ext uri="{FF2B5EF4-FFF2-40B4-BE49-F238E27FC236}">
                <a16:creationId xmlns:a16="http://schemas.microsoft.com/office/drawing/2014/main" id="{CD12326F-49E8-4C18-AB19-38CC250E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086600"/>
            <a:ext cx="4972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2F8C73"/>
                </a:solidFill>
              </a:defRPr>
            </a:pPr>
            <a:r>
              <a:rPr sz="2025" b="0" i="0">
                <a:solidFill>
                  <a:srgbClr val="2F8C73"/>
                </a:solidFill>
              </a:rPr>
              <a:t>Useful signals.</a:t>
            </a:r>
          </a:p>
          <a:p xmlns:a="http://schemas.openxmlformats.org/drawingml/2006/main">
            <a:pPr>
              <a:defRPr sz="2025" b="0" i="0">
                <a:solidFill>
                  <a:srgbClr val="2F8C73"/>
                </a:solidFill>
              </a:defRPr>
            </a:pPr>
            <a:r>
              <a:rPr sz="2025" b="0" i="0">
                <a:solidFill>
                  <a:srgbClr val="2F8C73"/>
                </a:solidFill>
              </a:rPr>
              <a:t>Not yet the planning brain.</a:t>
            </a:r>
          </a:p>
        </p:txBody>
      </p:sp>
      <p:sp>
        <p:nvSpPr>
          <p:cNvPr id="20" name="s2-panel3">
            <a:extLst xmlns:a="http://schemas.openxmlformats.org/drawingml/2006/main">
              <a:ext uri="{FF2B5EF4-FFF2-40B4-BE49-F238E27FC236}">
                <a16:creationId xmlns:a16="http://schemas.microsoft.com/office/drawing/2014/main" id="{B4C7BFA8-FB90-4624-A1BE-FED131B7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2150" y="2967990"/>
            <a:ext cx="5422900" cy="4953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DFCF"/>
          </a:solidFill>
        </p:spPr>
      </p:sp>
      <p:sp>
        <p:nvSpPr>
          <p:cNvPr id="21" name="s2-c3-num">
            <a:extLst xmlns:a="http://schemas.openxmlformats.org/drawingml/2006/main">
              <a:ext uri="{FF2B5EF4-FFF2-40B4-BE49-F238E27FC236}">
                <a16:creationId xmlns:a16="http://schemas.microsoft.com/office/drawing/2014/main" id="{151B8B56-4073-41CC-8AA7-7ABFF0E7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181350"/>
            <a:ext cx="497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03</a:t>
            </a:r>
          </a:p>
        </p:txBody>
      </p:sp>
      <p:sp>
        <p:nvSpPr>
          <p:cNvPr id="22" name="s2-c3-title">
            <a:extLst xmlns:a="http://schemas.openxmlformats.org/drawingml/2006/main">
              <a:ext uri="{FF2B5EF4-FFF2-40B4-BE49-F238E27FC236}">
                <a16:creationId xmlns:a16="http://schemas.microsoft.com/office/drawing/2014/main" id="{B4C119CE-8730-411A-86D2-BC0A136E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524250"/>
            <a:ext cx="4972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0212B"/>
                </a:solidFill>
              </a:defRPr>
            </a:pPr>
            <a:r>
              <a:rPr sz="3000" b="1" i="0">
                <a:solidFill>
                  <a:srgbClr val="10212B"/>
                </a:solidFill>
              </a:rPr>
              <a:t>The gap</a:t>
            </a:r>
          </a:p>
        </p:txBody>
      </p:sp>
      <p:sp>
        <p:nvSpPr>
          <p:cNvPr id="23" name="s2-c3-body">
            <a:extLst xmlns:a="http://schemas.openxmlformats.org/drawingml/2006/main">
              <a:ext uri="{FF2B5EF4-FFF2-40B4-BE49-F238E27FC236}">
                <a16:creationId xmlns:a16="http://schemas.microsoft.com/office/drawing/2014/main" id="{E1050B9B-247C-48B0-AC7D-E779E280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152900"/>
            <a:ext cx="49720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53656D"/>
                </a:solidFill>
              </a:defRPr>
            </a:pPr>
            <a:r>
              <a:rPr sz="2025" b="0" i="0">
                <a:solidFill>
                  <a:srgbClr val="53656D"/>
                </a:solidFill>
              </a:rPr>
              <a:t>What is missing is a governed model that turns demand, assets, constraints, and live evidence into one executable plan.</a:t>
            </a:r>
          </a:p>
        </p:txBody>
      </p:sp>
      <p:sp>
        <p:nvSpPr>
          <p:cNvPr id="24" name="s2-c3-rule">
            <a:extLst xmlns:a="http://schemas.openxmlformats.org/drawingml/2006/main">
              <a:ext uri="{FF2B5EF4-FFF2-40B4-BE49-F238E27FC236}">
                <a16:creationId xmlns:a16="http://schemas.microsoft.com/office/drawing/2014/main" id="{5B0E3807-6FA5-4F1E-B8EE-28057B69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610350"/>
            <a:ext cx="497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7AF"/>
          </a:solidFill>
          <a:ln xmlns:a="http://schemas.openxmlformats.org/drawingml/2006/main" w="0">
            <a:solidFill>
              <a:srgbClr val="D7C7AF"/>
            </a:solidFill>
            <a:prstDash val="solid"/>
          </a:ln>
        </p:spPr>
      </p:sp>
      <p:sp>
        <p:nvSpPr>
          <p:cNvPr id="25" name="s2-c3-kicker">
            <a:extLst xmlns:a="http://schemas.openxmlformats.org/drawingml/2006/main">
              <a:ext uri="{FF2B5EF4-FFF2-40B4-BE49-F238E27FC236}">
                <a16:creationId xmlns:a16="http://schemas.microsoft.com/office/drawing/2014/main" id="{85530A91-ECB4-45A6-BC10-C68C776D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7627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8852C"/>
                </a:solidFill>
              </a:defRPr>
            </a:pPr>
            <a:r>
              <a:rPr sz="1275" b="1" i="0">
                <a:solidFill>
                  <a:srgbClr val="C8852C"/>
                </a:solidFill>
              </a:rPr>
              <a:t>NEEDED NEXT</a:t>
            </a:r>
          </a:p>
        </p:txBody>
      </p:sp>
      <p:sp>
        <p:nvSpPr>
          <p:cNvPr id="26" name="s2-c3-note">
            <a:extLst xmlns:a="http://schemas.openxmlformats.org/drawingml/2006/main">
              <a:ext uri="{FF2B5EF4-FFF2-40B4-BE49-F238E27FC236}">
                <a16:creationId xmlns:a16="http://schemas.microsoft.com/office/drawing/2014/main" id="{281E314E-85B0-4FC0-B4F5-638112EA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086600"/>
            <a:ext cx="49720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C8852C"/>
                </a:solidFill>
              </a:defRPr>
            </a:pPr>
            <a:r>
              <a:rPr sz="2025" b="0" i="0">
                <a:solidFill>
                  <a:srgbClr val="C8852C"/>
                </a:solidFill>
              </a:rPr>
              <a:t>From data presence</a:t>
            </a:r>
          </a:p>
          <a:p xmlns:a="http://schemas.openxmlformats.org/drawingml/2006/main">
            <a:pPr>
              <a:defRPr sz="2025" b="0" i="0">
                <a:solidFill>
                  <a:srgbClr val="C8852C"/>
                </a:solidFill>
              </a:defRPr>
            </a:pPr>
            <a:r>
              <a:rPr sz="2025" b="0" i="0">
                <a:solidFill>
                  <a:srgbClr val="C8852C"/>
                </a:solidFill>
              </a:rPr>
              <a:t>→ planning confidence.</a:t>
            </a:r>
          </a:p>
        </p:txBody>
      </p:sp>
      <p:sp>
        <p:nvSpPr>
          <p:cNvPr id="27" name="s2-bottom-panel">
            <a:extLst xmlns:a="http://schemas.openxmlformats.org/drawingml/2006/main">
              <a:ext uri="{FF2B5EF4-FFF2-40B4-BE49-F238E27FC236}">
                <a16:creationId xmlns:a16="http://schemas.microsoft.com/office/drawing/2014/main" id="{43DA59D8-217C-46C0-A289-0FE8574E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68640"/>
            <a:ext cx="16802100" cy="617220"/>
          </a:xfrm>
          <a:prstGeom xmlns:a="http://schemas.openxmlformats.org/drawingml/2006/main" prst="roundRect">
            <a:avLst>
              <a:gd name="adj" fmla="val 33951"/>
            </a:avLst>
          </a:prstGeom>
          <a:solidFill xmlns:a="http://schemas.openxmlformats.org/drawingml/2006/main">
            <a:srgbClr val="EAF0F1"/>
          </a:solidFill>
        </p:spPr>
      </p:sp>
      <p:sp>
        <p:nvSpPr>
          <p:cNvPr id="28" name="s2-bottom-note">
            <a:extLst xmlns:a="http://schemas.openxmlformats.org/drawingml/2006/main">
              <a:ext uri="{FF2B5EF4-FFF2-40B4-BE49-F238E27FC236}">
                <a16:creationId xmlns:a16="http://schemas.microsoft.com/office/drawing/2014/main" id="{44BDEB88-4207-46A1-8181-03D1B2F5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343900"/>
            <a:ext cx="16344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0212B"/>
                </a:solidFill>
              </a:defRPr>
            </a:pPr>
            <a:r>
              <a:rPr sz="1800" b="0" i="0">
                <a:solidFill>
                  <a:srgbClr val="10212B"/>
                </a:solidFill>
              </a:rPr>
              <a:t>The gap is not lack of data. It is lack of a single governed workspace that converts data into a plan operators can execute and revise together.</a:t>
            </a:r>
          </a:p>
        </p:txBody>
      </p:sp>
      <p:sp>
        <p:nvSpPr>
          <p:cNvPr id="29" name="spacer-2">
            <a:extLst xmlns:a="http://schemas.openxmlformats.org/drawingml/2006/main">
              <a:ext uri="{FF2B5EF4-FFF2-40B4-BE49-F238E27FC236}">
                <a16:creationId xmlns:a16="http://schemas.microsoft.com/office/drawing/2014/main" id="{E19C2A9D-9B82-49A7-9DDE-0C83F2EC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067800"/>
            <a:ext cx="1684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30" name="source-2">
            <a:extLst xmlns:a="http://schemas.openxmlformats.org/drawingml/2006/main">
              <a:ext uri="{FF2B5EF4-FFF2-40B4-BE49-F238E27FC236}">
                <a16:creationId xmlns:a16="http://schemas.microsoft.com/office/drawing/2014/main" id="{F53DE0FC-0E8A-449D-B3A0-F363483E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44050"/>
            <a:ext cx="16211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3656D"/>
                </a:solidFill>
              </a:defRPr>
            </a:pPr>
            <a:r>
              <a:rPr sz="1050" b="0" i="0">
                <a:solidFill>
                  <a:srgbClr val="53656D"/>
                </a:solidFill>
              </a:rPr>
              <a:t>Sources: project BRD; Spinergie press release, June 2024.</a:t>
            </a:r>
          </a:p>
        </p:txBody>
      </p:sp>
      <p:sp>
        <p:nvSpPr>
          <p:cNvPr id="31" name="page-2">
            <a:extLst xmlns:a="http://schemas.openxmlformats.org/drawingml/2006/main">
              <a:ext uri="{FF2B5EF4-FFF2-40B4-BE49-F238E27FC236}">
                <a16:creationId xmlns:a16="http://schemas.microsoft.com/office/drawing/2014/main" id="{345B3ACA-A0C5-45E8-BA68-1D85F6DE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9544050"/>
            <a:ext cx="400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E6B83"/>
                </a:solidFill>
              </a:defRPr>
            </a:pPr>
            <a:r>
              <a:rPr sz="1050" b="1" i="0">
                <a:solidFill>
                  <a:srgbClr val="0E6B8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2288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panel-3">
            <a:extLst xmlns:a="http://schemas.openxmlformats.org/drawingml/2006/main">
              <a:ext uri="{FF2B5EF4-FFF2-40B4-BE49-F238E27FC236}">
                <a16:creationId xmlns:a16="http://schemas.microsoft.com/office/drawing/2014/main" id="{AA23B329-B08F-4440-A323-71D16AB4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7AFA3E5F-CBBE-4F60-8CAF-F6D477C9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OPERATING MODEL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E967AA56-3B73-415E-A4FC-870D66CA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6802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0212B"/>
                </a:solidFill>
              </a:defRPr>
            </a:pPr>
            <a:r>
              <a:rPr sz="3900" b="1" i="0">
                <a:solidFill>
                  <a:srgbClr val="10212B"/>
                </a:solidFill>
              </a:rPr>
              <a:t>The network has two clocks.</a:t>
            </a:r>
          </a:p>
        </p:txBody>
      </p:sp>
      <p:sp>
        <p:nvSpPr>
          <p:cNvPr id="4" name="s3-body">
            <a:extLst xmlns:a="http://schemas.openxmlformats.org/drawingml/2006/main">
              <a:ext uri="{FF2B5EF4-FFF2-40B4-BE49-F238E27FC236}">
                <a16:creationId xmlns:a16="http://schemas.microsoft.com/office/drawing/2014/main" id="{7EFC4432-9D22-46F5-895D-55CE8DF8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10153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Demand wants certainty. Fleet operations live inside constraints. The tool exists to make those two clocks agree.</a:t>
            </a:r>
          </a:p>
        </p:txBody>
      </p:sp>
      <p:sp>
        <p:nvSpPr>
          <p:cNvPr id="5" name="s3-rule">
            <a:extLst xmlns:a="http://schemas.openxmlformats.org/drawingml/2006/main">
              <a:ext uri="{FF2B5EF4-FFF2-40B4-BE49-F238E27FC236}">
                <a16:creationId xmlns:a16="http://schemas.microsoft.com/office/drawing/2014/main" id="{B6091D74-B99F-4288-8E00-73C72988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83"/>
          </a:solidFill>
          <a:ln xmlns:a="http://schemas.openxmlformats.org/drawingml/2006/main" w="0">
            <a:solidFill>
              <a:srgbClr val="0E6B83"/>
            </a:solidFill>
            <a:prstDash val="solid"/>
          </a:ln>
        </p:spPr>
      </p:sp>
      <p:sp>
        <p:nvSpPr>
          <p:cNvPr id="6" name="s3-demand-panel">
            <a:extLst xmlns:a="http://schemas.openxmlformats.org/drawingml/2006/main">
              <a:ext uri="{FF2B5EF4-FFF2-40B4-BE49-F238E27FC236}">
                <a16:creationId xmlns:a16="http://schemas.microsoft.com/office/drawing/2014/main" id="{85DF8311-9A6A-4C80-8A35-6A839E7C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7990"/>
            <a:ext cx="7532615" cy="4762500"/>
          </a:xfrm>
          <a:prstGeom xmlns:a="http://schemas.openxmlformats.org/drawingml/2006/main" prst="roundRect">
            <a:avLst>
              <a:gd name="adj" fmla="val 5200"/>
            </a:avLst>
          </a:prstGeom>
          <a:solidFill xmlns:a="http://schemas.openxmlformats.org/drawingml/2006/main">
            <a:srgbClr val="EAF0F1"/>
          </a:solidFill>
        </p:spPr>
      </p:sp>
      <p:sp>
        <p:nvSpPr>
          <p:cNvPr id="7" name="chip-s3a">
            <a:extLst xmlns:a="http://schemas.openxmlformats.org/drawingml/2006/main">
              <a:ext uri="{FF2B5EF4-FFF2-40B4-BE49-F238E27FC236}">
                <a16:creationId xmlns:a16="http://schemas.microsoft.com/office/drawing/2014/main" id="{2A227AAD-143E-452B-B9F9-9F3E3F54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96590"/>
            <a:ext cx="1234916" cy="6019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B83"/>
          </a:solidFill>
        </p:spPr>
      </p:sp>
      <p:sp>
        <p:nvSpPr>
          <p:cNvPr id="8" name="chip-label-s3a">
            <a:extLst xmlns:a="http://schemas.openxmlformats.org/drawingml/2006/main">
              <a:ext uri="{FF2B5EF4-FFF2-40B4-BE49-F238E27FC236}">
                <a16:creationId xmlns:a16="http://schemas.microsoft.com/office/drawing/2014/main" id="{4E20E2FE-995F-4989-9F9B-E0E5BC77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933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Demand side</a:t>
            </a:r>
          </a:p>
        </p:txBody>
      </p:sp>
      <p:sp>
        <p:nvSpPr>
          <p:cNvPr id="9" name="s3-demand-title">
            <a:extLst xmlns:a="http://schemas.openxmlformats.org/drawingml/2006/main">
              <a:ext uri="{FF2B5EF4-FFF2-40B4-BE49-F238E27FC236}">
                <a16:creationId xmlns:a16="http://schemas.microsoft.com/office/drawing/2014/main" id="{C84BA641-3499-42C4-AFD0-8E6ECB6B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6991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0212B"/>
                </a:solidFill>
              </a:defRPr>
            </a:pPr>
            <a:r>
              <a:rPr sz="2400" b="1" i="0">
                <a:solidFill>
                  <a:srgbClr val="10212B"/>
                </a:solidFill>
              </a:rPr>
              <a:t>Berau commercial + scheduling</a:t>
            </a:r>
          </a:p>
        </p:txBody>
      </p:sp>
      <p:sp>
        <p:nvSpPr>
          <p:cNvPr id="10" name="metric-value-s3d1">
            <a:extLst xmlns:a="http://schemas.openxmlformats.org/drawingml/2006/main">
              <a:ext uri="{FF2B5EF4-FFF2-40B4-BE49-F238E27FC236}">
                <a16:creationId xmlns:a16="http://schemas.microsoft.com/office/drawing/2014/main" id="{DD56D069-A266-4383-9113-C41C1AC6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390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E6B83"/>
                </a:solidFill>
              </a:defRPr>
            </a:pPr>
            <a:r>
              <a:rPr sz="4050" b="1" i="0">
                <a:solidFill>
                  <a:srgbClr val="0E6B83"/>
                </a:solidFill>
              </a:rPr>
              <a:t>35.9 Mt</a:t>
            </a:r>
          </a:p>
        </p:txBody>
      </p:sp>
      <p:sp>
        <p:nvSpPr>
          <p:cNvPr id="11" name="metric-label-s3d1">
            <a:extLst xmlns:a="http://schemas.openxmlformats.org/drawingml/2006/main">
              <a:ext uri="{FF2B5EF4-FFF2-40B4-BE49-F238E27FC236}">
                <a16:creationId xmlns:a16="http://schemas.microsoft.com/office/drawing/2014/main" id="{3B61C5D4-7985-4C0C-AF9A-EE725F31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81600"/>
            <a:ext cx="3390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56D"/>
                </a:solidFill>
              </a:defRPr>
            </a:pPr>
            <a:r>
              <a:rPr sz="1350" b="0" i="0">
                <a:solidFill>
                  <a:srgbClr val="53656D"/>
                </a:solidFill>
              </a:rPr>
              <a:t>2024 output</a:t>
            </a:r>
          </a:p>
        </p:txBody>
      </p:sp>
      <p:sp>
        <p:nvSpPr>
          <p:cNvPr id="12" name="metric-value-s3d2">
            <a:extLst xmlns:a="http://schemas.openxmlformats.org/drawingml/2006/main">
              <a:ext uri="{FF2B5EF4-FFF2-40B4-BE49-F238E27FC236}">
                <a16:creationId xmlns:a16="http://schemas.microsoft.com/office/drawing/2014/main" id="{60539A00-14E2-4E1C-9A58-14DFF62B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76750"/>
            <a:ext cx="3390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2F8C73"/>
                </a:solidFill>
              </a:defRPr>
            </a:pPr>
            <a:r>
              <a:rPr sz="4050" b="1" i="0">
                <a:solidFill>
                  <a:srgbClr val="2F8C73"/>
                </a:solidFill>
              </a:rPr>
              <a:t>≈3.0 Mt</a:t>
            </a:r>
          </a:p>
        </p:txBody>
      </p:sp>
      <p:sp>
        <p:nvSpPr>
          <p:cNvPr id="13" name="metric-label-s3d2">
            <a:extLst xmlns:a="http://schemas.openxmlformats.org/drawingml/2006/main">
              <a:ext uri="{FF2B5EF4-FFF2-40B4-BE49-F238E27FC236}">
                <a16:creationId xmlns:a16="http://schemas.microsoft.com/office/drawing/2014/main" id="{1E7B6604-9D14-4935-99D1-57252767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81600"/>
            <a:ext cx="3390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56D"/>
                </a:solidFill>
              </a:defRPr>
            </a:pPr>
            <a:r>
              <a:rPr sz="1350" b="0" i="0">
                <a:solidFill>
                  <a:srgbClr val="53656D"/>
                </a:solidFill>
              </a:rPr>
              <a:t>Monthly flow</a:t>
            </a:r>
          </a:p>
        </p:txBody>
      </p:sp>
      <p:sp>
        <p:nvSpPr>
          <p:cNvPr id="14" name="s3-demand-body">
            <a:extLst xmlns:a="http://schemas.openxmlformats.org/drawingml/2006/main">
              <a:ext uri="{FF2B5EF4-FFF2-40B4-BE49-F238E27FC236}">
                <a16:creationId xmlns:a16="http://schemas.microsoft.com/office/drawing/2014/main" id="{7930FF70-FB6E-4200-B139-90567FED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43550"/>
            <a:ext cx="69913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56D"/>
                </a:solidFill>
              </a:defRPr>
            </a:pPr>
            <a:r>
              <a:rPr sz="1800" b="0" i="0">
                <a:solidFill>
                  <a:srgbClr val="53656D"/>
                </a:solidFill>
              </a:rPr>
              <a:t>OGV voyages and laycan</a:t>
            </a:r>
          </a:p>
          <a:p xmlns:a="http://schemas.openxmlformats.org/drawingml/2006/main">
            <a:pPr>
              <a:defRPr sz="1800" b="0" i="0">
                <a:solidFill>
                  <a:srgbClr val="53656D"/>
                </a:solidFill>
              </a:defRPr>
            </a:pPr>
            <a:r>
              <a:rPr sz="1800" b="0" i="0">
                <a:solidFill>
                  <a:srgbClr val="53656D"/>
                </a:solidFill>
              </a:rPr>
              <a:t>Coal grade + layer sequence</a:t>
            </a:r>
          </a:p>
          <a:p xmlns:a="http://schemas.openxmlformats.org/drawingml/2006/main">
            <a:pPr>
              <a:defRPr sz="1800" b="0" i="0">
                <a:solidFill>
                  <a:srgbClr val="53656D"/>
                </a:solidFill>
              </a:defRPr>
            </a:pPr>
            <a:r>
              <a:rPr sz="1800" b="0" i="0">
                <a:solidFill>
                  <a:srgbClr val="53656D"/>
                </a:solidFill>
              </a:rPr>
              <a:t>Customer commitments</a:t>
            </a:r>
          </a:p>
          <a:p xmlns:a="http://schemas.openxmlformats.org/drawingml/2006/main">
            <a:pPr>
              <a:defRPr sz="1800" b="0" i="0">
                <a:solidFill>
                  <a:srgbClr val="53656D"/>
                </a:solidFill>
              </a:defRPr>
            </a:pPr>
            <a:r>
              <a:rPr sz="1800" b="0" i="0">
                <a:solidFill>
                  <a:srgbClr val="53656D"/>
                </a:solidFill>
              </a:rPr>
              <a:t>Stockpile / jetty readiness</a:t>
            </a:r>
          </a:p>
        </p:txBody>
      </p:sp>
      <p:sp>
        <p:nvSpPr>
          <p:cNvPr id="15" name="s3-arrow">
            <a:extLst xmlns:a="http://schemas.openxmlformats.org/drawingml/2006/main">
              <a:ext uri="{FF2B5EF4-FFF2-40B4-BE49-F238E27FC236}">
                <a16:creationId xmlns:a16="http://schemas.microsoft.com/office/drawing/2014/main" id="{CE1842FA-E269-4E2B-A631-95BC9C89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62450"/>
            <a:ext cx="9144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 i="0">
                <a:solidFill>
                  <a:srgbClr val="C8852C"/>
                </a:solidFill>
              </a:defRPr>
            </a:pPr>
            <a:r>
              <a:rPr sz="5400" b="1" i="0">
                <a:solidFill>
                  <a:srgbClr val="C8852C"/>
                </a:solidFill>
              </a:rPr>
              <a:t>↔</a:t>
            </a:r>
          </a:p>
        </p:txBody>
      </p:sp>
      <p:sp>
        <p:nvSpPr>
          <p:cNvPr id="16" name="s3-middle-label">
            <a:extLst xmlns:a="http://schemas.openxmlformats.org/drawingml/2006/main">
              <a:ext uri="{FF2B5EF4-FFF2-40B4-BE49-F238E27FC236}">
                <a16:creationId xmlns:a16="http://schemas.microsoft.com/office/drawing/2014/main" id="{C418C721-B5C9-4467-A611-74F189E7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34000"/>
            <a:ext cx="13716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3656D"/>
                </a:solidFill>
              </a:defRPr>
            </a:pPr>
            <a:r>
              <a:rPr sz="1650" b="0" i="0">
                <a:solidFill>
                  <a:srgbClr val="53656D"/>
                </a:solidFill>
              </a:rPr>
              <a:t>Shared constraints</a:t>
            </a:r>
          </a:p>
          <a:p xmlns:a="http://schemas.openxmlformats.org/drawingml/2006/main">
            <a:pPr>
              <a:defRPr sz="1650" b="0" i="0">
                <a:solidFill>
                  <a:srgbClr val="53656D"/>
                </a:solidFill>
              </a:defRPr>
            </a:pPr>
            <a:r>
              <a:rPr sz="1650" b="0" i="0">
                <a:solidFill>
                  <a:srgbClr val="53656D"/>
                </a:solidFill>
              </a:rPr>
              <a:t>shape every decision</a:t>
            </a:r>
          </a:p>
        </p:txBody>
      </p:sp>
      <p:sp>
        <p:nvSpPr>
          <p:cNvPr id="17" name="s3-fleet-panel">
            <a:extLst xmlns:a="http://schemas.openxmlformats.org/drawingml/2006/main">
              <a:ext uri="{FF2B5EF4-FFF2-40B4-BE49-F238E27FC236}">
                <a16:creationId xmlns:a16="http://schemas.microsoft.com/office/drawing/2014/main" id="{DD020152-E736-43E5-9C0B-4A39B399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435" y="2967990"/>
            <a:ext cx="7532615" cy="4762500"/>
          </a:xfrm>
          <a:prstGeom xmlns:a="http://schemas.openxmlformats.org/drawingml/2006/main" prst="roundRect">
            <a:avLst>
              <a:gd name="adj" fmla="val 52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chip-s3b">
            <a:extLst xmlns:a="http://schemas.openxmlformats.org/drawingml/2006/main">
              <a:ext uri="{FF2B5EF4-FFF2-40B4-BE49-F238E27FC236}">
                <a16:creationId xmlns:a16="http://schemas.microsoft.com/office/drawing/2014/main" id="{BFE1FF97-6C1B-4084-BE6D-CC4079B2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135" y="3196590"/>
            <a:ext cx="984028" cy="3962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C73"/>
          </a:solidFill>
        </p:spPr>
      </p:sp>
      <p:sp>
        <p:nvSpPr>
          <p:cNvPr id="19" name="chip-label-s3b">
            <a:extLst xmlns:a="http://schemas.openxmlformats.org/drawingml/2006/main">
              <a:ext uri="{FF2B5EF4-FFF2-40B4-BE49-F238E27FC236}">
                <a16:creationId xmlns:a16="http://schemas.microsoft.com/office/drawing/2014/main" id="{57250EC5-7D3F-4C1B-80D4-0EB4226F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2956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Fleet side</a:t>
            </a:r>
          </a:p>
        </p:txBody>
      </p:sp>
      <p:sp>
        <p:nvSpPr>
          <p:cNvPr id="20" name="s3-fleet-title">
            <a:extLst xmlns:a="http://schemas.openxmlformats.org/drawingml/2006/main">
              <a:ext uri="{FF2B5EF4-FFF2-40B4-BE49-F238E27FC236}">
                <a16:creationId xmlns:a16="http://schemas.microsoft.com/office/drawing/2014/main" id="{C316E8C7-17E8-425B-A86E-779A9F8F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52850"/>
            <a:ext cx="6991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0212B"/>
                </a:solidFill>
              </a:defRPr>
            </a:pPr>
            <a:r>
              <a:rPr sz="2400" b="1" i="0">
                <a:solidFill>
                  <a:srgbClr val="10212B"/>
                </a:solidFill>
              </a:rPr>
              <a:t>ABL dispatch + operations</a:t>
            </a:r>
          </a:p>
        </p:txBody>
      </p:sp>
      <p:sp>
        <p:nvSpPr>
          <p:cNvPr id="21" name="metric-value-s3f1">
            <a:extLst xmlns:a="http://schemas.openxmlformats.org/drawingml/2006/main">
              <a:ext uri="{FF2B5EF4-FFF2-40B4-BE49-F238E27FC236}">
                <a16:creationId xmlns:a16="http://schemas.microsoft.com/office/drawing/2014/main" id="{DDA0BE96-4848-4584-80CC-6B27F271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67200"/>
            <a:ext cx="2209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E6B83"/>
                </a:solidFill>
              </a:defRPr>
            </a:pPr>
            <a:r>
              <a:rPr sz="4050" b="1" i="0">
                <a:solidFill>
                  <a:srgbClr val="0E6B83"/>
                </a:solidFill>
              </a:rPr>
              <a:t>15</a:t>
            </a:r>
          </a:p>
        </p:txBody>
      </p:sp>
      <p:sp>
        <p:nvSpPr>
          <p:cNvPr id="22" name="metric-label-s3f1">
            <a:extLst xmlns:a="http://schemas.openxmlformats.org/drawingml/2006/main">
              <a:ext uri="{FF2B5EF4-FFF2-40B4-BE49-F238E27FC236}">
                <a16:creationId xmlns:a16="http://schemas.microsoft.com/office/drawing/2014/main" id="{B4E8B591-9EE5-4D7E-95FD-16EC09DA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7205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56D"/>
                </a:solidFill>
              </a:defRPr>
            </a:pPr>
            <a:r>
              <a:rPr sz="1350" b="0" i="0">
                <a:solidFill>
                  <a:srgbClr val="53656D"/>
                </a:solidFill>
              </a:rPr>
              <a:t>CTS</a:t>
            </a:r>
          </a:p>
        </p:txBody>
      </p:sp>
      <p:sp>
        <p:nvSpPr>
          <p:cNvPr id="23" name="metric-value-s3f2">
            <a:extLst xmlns:a="http://schemas.openxmlformats.org/drawingml/2006/main">
              <a:ext uri="{FF2B5EF4-FFF2-40B4-BE49-F238E27FC236}">
                <a16:creationId xmlns:a16="http://schemas.microsoft.com/office/drawing/2014/main" id="{B27A77CA-2AFE-403C-9624-A53F757F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267200"/>
            <a:ext cx="2209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2F8C73"/>
                </a:solidFill>
              </a:defRPr>
            </a:pPr>
            <a:r>
              <a:rPr sz="4050" b="1" i="0">
                <a:solidFill>
                  <a:srgbClr val="2F8C73"/>
                </a:solidFill>
              </a:rPr>
              <a:t>61</a:t>
            </a:r>
          </a:p>
        </p:txBody>
      </p:sp>
      <p:sp>
        <p:nvSpPr>
          <p:cNvPr id="24" name="metric-label-s3f2">
            <a:extLst xmlns:a="http://schemas.openxmlformats.org/drawingml/2006/main">
              <a:ext uri="{FF2B5EF4-FFF2-40B4-BE49-F238E27FC236}">
                <a16:creationId xmlns:a16="http://schemas.microsoft.com/office/drawing/2014/main" id="{0FF2E54E-9423-412F-981D-CEB6384C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97205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56D"/>
                </a:solidFill>
              </a:defRPr>
            </a:pPr>
            <a:r>
              <a:rPr sz="1350" b="0" i="0">
                <a:solidFill>
                  <a:srgbClr val="53656D"/>
                </a:solidFill>
              </a:rPr>
              <a:t>Tug + barge</a:t>
            </a:r>
          </a:p>
        </p:txBody>
      </p:sp>
      <p:sp>
        <p:nvSpPr>
          <p:cNvPr id="25" name="metric-value-s3f3">
            <a:extLst xmlns:a="http://schemas.openxmlformats.org/drawingml/2006/main">
              <a:ext uri="{FF2B5EF4-FFF2-40B4-BE49-F238E27FC236}">
                <a16:creationId xmlns:a16="http://schemas.microsoft.com/office/drawing/2014/main" id="{9BF0492F-B51F-4E17-890D-F2F30C78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0" y="4267200"/>
            <a:ext cx="2209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B9654A"/>
                </a:solidFill>
              </a:defRPr>
            </a:pPr>
            <a:r>
              <a:rPr sz="4050" b="1" i="0">
                <a:solidFill>
                  <a:srgbClr val="B9654A"/>
                </a:solidFill>
              </a:rPr>
              <a:t>11</a:t>
            </a:r>
          </a:p>
        </p:txBody>
      </p:sp>
      <p:sp>
        <p:nvSpPr>
          <p:cNvPr id="26" name="metric-label-s3f3">
            <a:extLst xmlns:a="http://schemas.openxmlformats.org/drawingml/2006/main">
              <a:ext uri="{FF2B5EF4-FFF2-40B4-BE49-F238E27FC236}">
                <a16:creationId xmlns:a16="http://schemas.microsoft.com/office/drawing/2014/main" id="{65C3450B-51B1-4B93-B392-7F670D04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0" y="497205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3656D"/>
                </a:solidFill>
              </a:defRPr>
            </a:pPr>
            <a:r>
              <a:rPr sz="1350" b="0" i="0">
                <a:solidFill>
                  <a:srgbClr val="53656D"/>
                </a:solidFill>
              </a:rPr>
              <a:t>OGV</a:t>
            </a:r>
          </a:p>
        </p:txBody>
      </p:sp>
      <p:sp>
        <p:nvSpPr>
          <p:cNvPr id="27" name="s3-fleet-body">
            <a:extLst xmlns:a="http://schemas.openxmlformats.org/drawingml/2006/main">
              <a:ext uri="{FF2B5EF4-FFF2-40B4-BE49-F238E27FC236}">
                <a16:creationId xmlns:a16="http://schemas.microsoft.com/office/drawing/2014/main" id="{3DA989F6-DEE5-47C9-931A-B4B58FAF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34000"/>
            <a:ext cx="69913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53656D"/>
                </a:solidFill>
              </a:defRPr>
            </a:pPr>
            <a:r>
              <a:rPr sz="1800" b="0" i="0">
                <a:solidFill>
                  <a:srgbClr val="53656D"/>
                </a:solidFill>
              </a:rPr>
              <a:t>Asset availability</a:t>
            </a:r>
          </a:p>
          <a:p xmlns:a="http://schemas.openxmlformats.org/drawingml/2006/main">
            <a:pPr>
              <a:defRPr sz="1800" b="0" i="0">
                <a:solidFill>
                  <a:srgbClr val="53656D"/>
                </a:solidFill>
              </a:defRPr>
            </a:pPr>
            <a:r>
              <a:rPr sz="1800" b="0" i="0">
                <a:solidFill>
                  <a:srgbClr val="53656D"/>
                </a:solidFill>
              </a:rPr>
              <a:t>CTS / floating-crane capacity</a:t>
            </a:r>
          </a:p>
          <a:p xmlns:a="http://schemas.openxmlformats.org/drawingml/2006/main">
            <a:pPr>
              <a:defRPr sz="1800" b="0" i="0">
                <a:solidFill>
                  <a:srgbClr val="53656D"/>
                </a:solidFill>
              </a:defRPr>
            </a:pPr>
            <a:r>
              <a:rPr sz="1800" b="0" i="0">
                <a:solidFill>
                  <a:srgbClr val="53656D"/>
                </a:solidFill>
              </a:rPr>
              <a:t>Jetty queue + loading rate</a:t>
            </a:r>
          </a:p>
          <a:p xmlns:a="http://schemas.openxmlformats.org/drawingml/2006/main">
            <a:pPr>
              <a:defRPr sz="1800" b="0" i="0">
                <a:solidFill>
                  <a:srgbClr val="53656D"/>
                </a:solidFill>
              </a:defRPr>
            </a:pPr>
            <a:r>
              <a:rPr sz="1800" b="0" i="0">
                <a:solidFill>
                  <a:srgbClr val="53656D"/>
                </a:solidFill>
              </a:rPr>
              <a:t>River movement + return cycle</a:t>
            </a:r>
          </a:p>
        </p:txBody>
      </p:sp>
      <p:sp>
        <p:nvSpPr>
          <p:cNvPr id="28" name="s3-bottom-panel">
            <a:extLst xmlns:a="http://schemas.openxmlformats.org/drawingml/2006/main">
              <a:ext uri="{FF2B5EF4-FFF2-40B4-BE49-F238E27FC236}">
                <a16:creationId xmlns:a16="http://schemas.microsoft.com/office/drawing/2014/main" id="{EF11C562-A547-4E04-A812-DD7B64D8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78140"/>
            <a:ext cx="16802100" cy="579120"/>
          </a:xfrm>
          <a:prstGeom xmlns:a="http://schemas.openxmlformats.org/drawingml/2006/main" prst="roundRect">
            <a:avLst>
              <a:gd name="adj" fmla="val 29605"/>
            </a:avLst>
          </a:prstGeom>
          <a:solidFill xmlns:a="http://schemas.openxmlformats.org/drawingml/2006/main">
            <a:srgbClr val="EADFCF"/>
          </a:solidFill>
        </p:spPr>
      </p:sp>
      <p:sp>
        <p:nvSpPr>
          <p:cNvPr id="29" name="s3-bottom">
            <a:extLst xmlns:a="http://schemas.openxmlformats.org/drawingml/2006/main">
              <a:ext uri="{FF2B5EF4-FFF2-40B4-BE49-F238E27FC236}">
                <a16:creationId xmlns:a16="http://schemas.microsoft.com/office/drawing/2014/main" id="{66C7FDC7-ADD7-44E0-A879-9C774483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134350"/>
            <a:ext cx="16421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0212B"/>
                </a:solidFill>
              </a:defRPr>
            </a:pPr>
            <a:r>
              <a:rPr sz="1800" b="0" i="0">
                <a:solidFill>
                  <a:srgbClr val="10212B"/>
                </a:solidFill>
              </a:rPr>
              <a:t>Shared constraints: tide  •  bridge  •  weather  •  compatibility  •  safety  •  demurrage</a:t>
            </a:r>
          </a:p>
        </p:txBody>
      </p:sp>
      <p:sp>
        <p:nvSpPr>
          <p:cNvPr id="30" name="spacer-3">
            <a:extLst xmlns:a="http://schemas.openxmlformats.org/drawingml/2006/main">
              <a:ext uri="{FF2B5EF4-FFF2-40B4-BE49-F238E27FC236}">
                <a16:creationId xmlns:a16="http://schemas.microsoft.com/office/drawing/2014/main" id="{8629BE8B-F4C7-4A1B-8EDB-C683519C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39200"/>
            <a:ext cx="1684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31" name="source-3">
            <a:extLst xmlns:a="http://schemas.openxmlformats.org/drawingml/2006/main">
              <a:ext uri="{FF2B5EF4-FFF2-40B4-BE49-F238E27FC236}">
                <a16:creationId xmlns:a16="http://schemas.microsoft.com/office/drawing/2014/main" id="{FE91DFE7-15CF-418C-BA85-E631C088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44050"/>
            <a:ext cx="16211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3656D"/>
                </a:solidFill>
              </a:defRPr>
            </a:pPr>
            <a:r>
              <a:rPr sz="1050" b="0" i="0">
                <a:solidFill>
                  <a:srgbClr val="53656D"/>
                </a:solidFill>
              </a:rPr>
              <a:t>Sources: project docs; ABL official site.</a:t>
            </a:r>
          </a:p>
        </p:txBody>
      </p:sp>
      <p:sp>
        <p:nvSpPr>
          <p:cNvPr id="32" name="page-3">
            <a:extLst xmlns:a="http://schemas.openxmlformats.org/drawingml/2006/main">
              <a:ext uri="{FF2B5EF4-FFF2-40B4-BE49-F238E27FC236}">
                <a16:creationId xmlns:a16="http://schemas.microsoft.com/office/drawing/2014/main" id="{C1CCC01C-6949-4C96-B6FF-097E723C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9544050"/>
            <a:ext cx="400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E6B83"/>
                </a:solidFill>
              </a:defRPr>
            </a:pPr>
            <a:r>
              <a:rPr sz="1050" b="1" i="0">
                <a:solidFill>
                  <a:srgbClr val="0E6B8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268870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panel-4">
            <a:extLst xmlns:a="http://schemas.openxmlformats.org/drawingml/2006/main">
              <a:ext uri="{FF2B5EF4-FFF2-40B4-BE49-F238E27FC236}">
                <a16:creationId xmlns:a16="http://schemas.microsoft.com/office/drawing/2014/main" id="{5D0B8CB1-E7AB-4A8E-B235-E392BB7D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FFFF08CA-9160-4B27-8727-31C8E9DF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SOLUTION SCOPE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EC5DC4D5-11D8-4E58-B400-EA7ECD92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6802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0212B"/>
                </a:solidFill>
              </a:defRPr>
            </a:pPr>
            <a:r>
              <a:rPr sz="3900" b="1" i="0">
                <a:solidFill>
                  <a:srgbClr val="10212B"/>
                </a:solidFill>
              </a:rPr>
              <a:t>Not a map. Not digital Excel. A planning engine.</a:t>
            </a:r>
          </a:p>
        </p:txBody>
      </p:sp>
      <p:sp>
        <p:nvSpPr>
          <p:cNvPr id="4" name="s4-body">
            <a:extLst xmlns:a="http://schemas.openxmlformats.org/drawingml/2006/main">
              <a:ext uri="{FF2B5EF4-FFF2-40B4-BE49-F238E27FC236}">
                <a16:creationId xmlns:a16="http://schemas.microsoft.com/office/drawing/2014/main" id="{CB59A7CE-4C33-4B5E-A08A-E6FF7790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11372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The product turns multiple evidence streams into one auditable operating plan, while keeping planned, observed, and recommended states separate.</a:t>
            </a:r>
          </a:p>
        </p:txBody>
      </p:sp>
      <p:sp>
        <p:nvSpPr>
          <p:cNvPr id="5" name="s4-rule">
            <a:extLst xmlns:a="http://schemas.openxmlformats.org/drawingml/2006/main">
              <a:ext uri="{FF2B5EF4-FFF2-40B4-BE49-F238E27FC236}">
                <a16:creationId xmlns:a16="http://schemas.microsoft.com/office/drawing/2014/main" id="{135FBDDC-BE6E-4B9D-9CBA-E7E8CBB4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83"/>
          </a:solidFill>
          <a:ln xmlns:a="http://schemas.openxmlformats.org/drawingml/2006/main" w="0">
            <a:solidFill>
              <a:srgbClr val="0E6B83"/>
            </a:solidFill>
            <a:prstDash val="solid"/>
          </a:ln>
        </p:spPr>
      </p:sp>
      <p:sp>
        <p:nvSpPr>
          <p:cNvPr id="6" name="s4-input-panel">
            <a:extLst xmlns:a="http://schemas.openxmlformats.org/drawingml/2006/main">
              <a:ext uri="{FF2B5EF4-FFF2-40B4-BE49-F238E27FC236}">
                <a16:creationId xmlns:a16="http://schemas.microsoft.com/office/drawing/2014/main" id="{33ECCC8C-BF71-40A1-B3DD-BCDB2F02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7990"/>
            <a:ext cx="5334000" cy="4286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s4-in-eyebrow">
            <a:extLst xmlns:a="http://schemas.openxmlformats.org/drawingml/2006/main">
              <a:ext uri="{FF2B5EF4-FFF2-40B4-BE49-F238E27FC236}">
                <a16:creationId xmlns:a16="http://schemas.microsoft.com/office/drawing/2014/main" id="{8798B3E6-D363-4DE6-BEB7-90248B63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87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INPUTS</a:t>
            </a:r>
          </a:p>
        </p:txBody>
      </p:sp>
      <p:sp>
        <p:nvSpPr>
          <p:cNvPr id="8" name="s4-inputs-body">
            <a:extLst xmlns:a="http://schemas.openxmlformats.org/drawingml/2006/main">
              <a:ext uri="{FF2B5EF4-FFF2-40B4-BE49-F238E27FC236}">
                <a16:creationId xmlns:a16="http://schemas.microsoft.com/office/drawing/2014/main" id="{8325A398-DD97-4230-8D35-7E02F381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48768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3656D"/>
                </a:solidFill>
              </a:defRPr>
            </a:pPr>
            <a:r>
              <a:rPr sz="2100" b="0" i="0">
                <a:solidFill>
                  <a:srgbClr val="53656D"/>
                </a:solidFill>
              </a:rPr>
              <a:t>OGV demand</a:t>
            </a:r>
          </a:p>
          <a:p xmlns:a="http://schemas.openxmlformats.org/drawingml/2006/main">
            <a:pPr>
              <a:defRPr sz="2100" b="0" i="0">
                <a:solidFill>
                  <a:srgbClr val="53656D"/>
                </a:solidFill>
              </a:defRPr>
            </a:pPr>
            <a:r>
              <a:rPr sz="2100" b="0" i="0">
                <a:solidFill>
                  <a:srgbClr val="53656D"/>
                </a:solidFill>
              </a:rPr>
              <a:t>Grade + stockpile readiness</a:t>
            </a:r>
          </a:p>
          <a:p xmlns:a="http://schemas.openxmlformats.org/drawingml/2006/main">
            <a:pPr>
              <a:defRPr sz="2100" b="0" i="0">
                <a:solidFill>
                  <a:srgbClr val="53656D"/>
                </a:solidFill>
              </a:defRPr>
            </a:pPr>
            <a:r>
              <a:rPr sz="2100" b="0" i="0">
                <a:solidFill>
                  <a:srgbClr val="53656D"/>
                </a:solidFill>
              </a:rPr>
              <a:t>Fleet + jetty status</a:t>
            </a:r>
          </a:p>
          <a:p xmlns:a="http://schemas.openxmlformats.org/drawingml/2006/main">
            <a:pPr>
              <a:defRPr sz="2100" b="0" i="0">
                <a:solidFill>
                  <a:srgbClr val="53656D"/>
                </a:solidFill>
              </a:defRPr>
            </a:pPr>
            <a:r>
              <a:rPr sz="2100" b="0" i="0">
                <a:solidFill>
                  <a:srgbClr val="53656D"/>
                </a:solidFill>
              </a:rPr>
              <a:t>Tide / bridge / weather</a:t>
            </a:r>
          </a:p>
          <a:p xmlns:a="http://schemas.openxmlformats.org/drawingml/2006/main">
            <a:pPr>
              <a:defRPr sz="2100" b="0" i="0">
                <a:solidFill>
                  <a:srgbClr val="53656D"/>
                </a:solidFill>
              </a:defRPr>
            </a:pPr>
            <a:r>
              <a:rPr sz="2100" b="0" i="0">
                <a:solidFill>
                  <a:srgbClr val="53656D"/>
                </a:solidFill>
              </a:rPr>
              <a:t>AIS + later GPS evidence</a:t>
            </a:r>
          </a:p>
        </p:txBody>
      </p:sp>
      <p:sp>
        <p:nvSpPr>
          <p:cNvPr id="9" name="s4-inputs-note">
            <a:extLst xmlns:a="http://schemas.openxmlformats.org/drawingml/2006/main">
              <a:ext uri="{FF2B5EF4-FFF2-40B4-BE49-F238E27FC236}">
                <a16:creationId xmlns:a16="http://schemas.microsoft.com/office/drawing/2014/main" id="{A443C1D8-0DB8-4F59-A235-8EB65AAD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43700"/>
            <a:ext cx="4876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0E6B83"/>
                </a:solidFill>
              </a:defRPr>
            </a:pPr>
            <a:r>
              <a:rPr sz="1800" b="0" i="0">
                <a:solidFill>
                  <a:srgbClr val="0E6B83"/>
                </a:solidFill>
              </a:rPr>
              <a:t>What the planner knows</a:t>
            </a:r>
          </a:p>
        </p:txBody>
      </p:sp>
      <p:sp>
        <p:nvSpPr>
          <p:cNvPr id="10" name="s4-engine-panel">
            <a:extLst xmlns:a="http://schemas.openxmlformats.org/drawingml/2006/main">
              <a:ext uri="{FF2B5EF4-FFF2-40B4-BE49-F238E27FC236}">
                <a16:creationId xmlns:a16="http://schemas.microsoft.com/office/drawing/2014/main" id="{49714104-2EFA-463E-9C96-C8C9AD61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67990"/>
            <a:ext cx="5600700" cy="4286250"/>
          </a:xfrm>
          <a:prstGeom xmlns:a="http://schemas.openxmlformats.org/drawingml/2006/main" prst="roundRect">
            <a:avLst>
              <a:gd name="adj" fmla="val 6222"/>
            </a:avLst>
          </a:prstGeom>
          <a:solidFill xmlns:a="http://schemas.openxmlformats.org/drawingml/2006/main">
            <a:srgbClr val="EAF0F1"/>
          </a:solidFill>
        </p:spPr>
      </p:sp>
      <p:sp>
        <p:nvSpPr>
          <p:cNvPr id="11" name="s4-engine-eyebrow">
            <a:extLst xmlns:a="http://schemas.openxmlformats.org/drawingml/2006/main">
              <a:ext uri="{FF2B5EF4-FFF2-40B4-BE49-F238E27FC236}">
                <a16:creationId xmlns:a16="http://schemas.microsoft.com/office/drawing/2014/main" id="{43B53CCC-9D2E-4112-8824-8841946A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57700"/>
            <a:ext cx="506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CORE</a:t>
            </a:r>
          </a:p>
        </p:txBody>
      </p:sp>
      <p:sp>
        <p:nvSpPr>
          <p:cNvPr id="12" name="s4-engine-title">
            <a:extLst xmlns:a="http://schemas.openxmlformats.org/drawingml/2006/main">
              <a:ext uri="{FF2B5EF4-FFF2-40B4-BE49-F238E27FC236}">
                <a16:creationId xmlns:a16="http://schemas.microsoft.com/office/drawing/2014/main" id="{E72E2D66-C620-40F4-9D0B-2C4DDE97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19650"/>
            <a:ext cx="5067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0212B"/>
                </a:solidFill>
              </a:defRPr>
            </a:pPr>
            <a:r>
              <a:rPr sz="3150" b="1" i="0">
                <a:solidFill>
                  <a:srgbClr val="10212B"/>
                </a:solidFill>
              </a:rPr>
              <a:t>Constraint-aware planning</a:t>
            </a:r>
          </a:p>
        </p:txBody>
      </p:sp>
      <p:sp>
        <p:nvSpPr>
          <p:cNvPr id="13" name="s4-engine-body">
            <a:extLst xmlns:a="http://schemas.openxmlformats.org/drawingml/2006/main">
              <a:ext uri="{FF2B5EF4-FFF2-40B4-BE49-F238E27FC236}">
                <a16:creationId xmlns:a16="http://schemas.microsoft.com/office/drawing/2014/main" id="{4FC89F99-894C-4B92-8912-9898CEDB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67350"/>
            <a:ext cx="5067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0E6B83"/>
                </a:solidFill>
              </a:defRPr>
            </a:pPr>
            <a:r>
              <a:rPr sz="1950" b="0" i="0">
                <a:solidFill>
                  <a:srgbClr val="0E6B83"/>
                </a:solidFill>
              </a:rPr>
              <a:t>Assign → validate → simulate → govern</a:t>
            </a:r>
          </a:p>
        </p:txBody>
      </p:sp>
      <p:sp>
        <p:nvSpPr>
          <p:cNvPr id="14" name="s4-output-panel">
            <a:extLst xmlns:a="http://schemas.openxmlformats.org/drawingml/2006/main">
              <a:ext uri="{FF2B5EF4-FFF2-40B4-BE49-F238E27FC236}">
                <a16:creationId xmlns:a16="http://schemas.microsoft.com/office/drawing/2014/main" id="{41664E69-2668-4A63-83DB-5BE85D31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967990"/>
            <a:ext cx="5334000" cy="4286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DFCF"/>
          </a:solidFill>
        </p:spPr>
      </p:sp>
      <p:sp>
        <p:nvSpPr>
          <p:cNvPr id="15" name="s4-out-eyebrow">
            <a:extLst xmlns:a="http://schemas.openxmlformats.org/drawingml/2006/main">
              <a:ext uri="{FF2B5EF4-FFF2-40B4-BE49-F238E27FC236}">
                <a16:creationId xmlns:a16="http://schemas.microsoft.com/office/drawing/2014/main" id="{C65B1000-76A6-409B-B6EB-61C4C4C5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200400"/>
            <a:ext cx="487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OUTPUTS</a:t>
            </a:r>
          </a:p>
        </p:txBody>
      </p:sp>
      <p:sp>
        <p:nvSpPr>
          <p:cNvPr id="16" name="s4-outputs-body">
            <a:extLst xmlns:a="http://schemas.openxmlformats.org/drawingml/2006/main">
              <a:ext uri="{FF2B5EF4-FFF2-40B4-BE49-F238E27FC236}">
                <a16:creationId xmlns:a16="http://schemas.microsoft.com/office/drawing/2014/main" id="{32355222-082F-43FD-BD35-BB573F63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3543300"/>
            <a:ext cx="48768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53656D"/>
                </a:solidFill>
              </a:defRPr>
            </a:pPr>
            <a:r>
              <a:rPr sz="2100" b="0" i="0">
                <a:solidFill>
                  <a:srgbClr val="53656D"/>
                </a:solidFill>
              </a:rPr>
              <a:t>Feasible schedule</a:t>
            </a:r>
          </a:p>
          <a:p xmlns:a="http://schemas.openxmlformats.org/drawingml/2006/main">
            <a:pPr>
              <a:defRPr sz="2100" b="0" i="0">
                <a:solidFill>
                  <a:srgbClr val="53656D"/>
                </a:solidFill>
              </a:defRPr>
            </a:pPr>
            <a:r>
              <a:rPr sz="2100" b="0" i="0">
                <a:solidFill>
                  <a:srgbClr val="53656D"/>
                </a:solidFill>
              </a:rPr>
              <a:t>Conflict list</a:t>
            </a:r>
          </a:p>
          <a:p xmlns:a="http://schemas.openxmlformats.org/drawingml/2006/main">
            <a:pPr>
              <a:defRPr sz="2100" b="0" i="0">
                <a:solidFill>
                  <a:srgbClr val="53656D"/>
                </a:solidFill>
              </a:defRPr>
            </a:pPr>
            <a:r>
              <a:rPr sz="2100" b="0" i="0">
                <a:solidFill>
                  <a:srgbClr val="53656D"/>
                </a:solidFill>
              </a:rPr>
              <a:t>Scenario comparison</a:t>
            </a:r>
          </a:p>
          <a:p xmlns:a="http://schemas.openxmlformats.org/drawingml/2006/main">
            <a:pPr>
              <a:defRPr sz="2100" b="0" i="0">
                <a:solidFill>
                  <a:srgbClr val="53656D"/>
                </a:solidFill>
              </a:defRPr>
            </a:pPr>
            <a:r>
              <a:rPr sz="2100" b="0" i="0">
                <a:solidFill>
                  <a:srgbClr val="53656D"/>
                </a:solidFill>
              </a:rPr>
              <a:t>Approval chain</a:t>
            </a:r>
          </a:p>
          <a:p xmlns:a="http://schemas.openxmlformats.org/drawingml/2006/main">
            <a:pPr>
              <a:defRPr sz="2100" b="0" i="0">
                <a:solidFill>
                  <a:srgbClr val="53656D"/>
                </a:solidFill>
              </a:defRPr>
            </a:pPr>
            <a:r>
              <a:rPr sz="2100" b="0" i="0">
                <a:solidFill>
                  <a:srgbClr val="53656D"/>
                </a:solidFill>
              </a:rPr>
              <a:t>Published live plan</a:t>
            </a:r>
          </a:p>
        </p:txBody>
      </p:sp>
      <p:sp>
        <p:nvSpPr>
          <p:cNvPr id="17" name="s4-outputs-note">
            <a:extLst xmlns:a="http://schemas.openxmlformats.org/drawingml/2006/main">
              <a:ext uri="{FF2B5EF4-FFF2-40B4-BE49-F238E27FC236}">
                <a16:creationId xmlns:a16="http://schemas.microsoft.com/office/drawing/2014/main" id="{5BAC05BC-B7F0-41B0-A3B4-94720785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6743700"/>
            <a:ext cx="4876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8852C"/>
                </a:solidFill>
              </a:defRPr>
            </a:pPr>
            <a:r>
              <a:rPr sz="1800" b="0" i="0">
                <a:solidFill>
                  <a:srgbClr val="C8852C"/>
                </a:solidFill>
              </a:rPr>
              <a:t>What the planner changes</a:t>
            </a:r>
          </a:p>
        </p:txBody>
      </p:sp>
      <p:sp>
        <p:nvSpPr>
          <p:cNvPr id="18" name="s4-state-row">
            <a:extLst xmlns:a="http://schemas.openxmlformats.org/drawingml/2006/main">
              <a:ext uri="{FF2B5EF4-FFF2-40B4-BE49-F238E27FC236}">
                <a16:creationId xmlns:a16="http://schemas.microsoft.com/office/drawing/2014/main" id="{58B707B4-CBEF-4832-8066-CB082D2B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05700"/>
            <a:ext cx="16802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0E6B83"/>
                </a:solidFill>
              </a:defRPr>
            </a:pPr>
            <a:r>
              <a:rPr sz="1800" b="0" i="0">
                <a:solidFill>
                  <a:srgbClr val="0E6B83"/>
                </a:solidFill>
              </a:rPr>
              <a:t>Planned  •  Observed  •  Confirmed  •  Derived  •  Recommended</a:t>
            </a:r>
          </a:p>
        </p:txBody>
      </p:sp>
      <p:sp>
        <p:nvSpPr>
          <p:cNvPr id="19" name="s4-bottom-panel">
            <a:extLst xmlns:a="http://schemas.openxmlformats.org/drawingml/2006/main">
              <a:ext uri="{FF2B5EF4-FFF2-40B4-BE49-F238E27FC236}">
                <a16:creationId xmlns:a16="http://schemas.microsoft.com/office/drawing/2014/main" id="{4C3AD2B7-8109-412A-8BB3-86D39774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23860"/>
            <a:ext cx="16802100" cy="567690"/>
          </a:xfrm>
          <a:prstGeom xmlns:a="http://schemas.openxmlformats.org/drawingml/2006/main" prst="roundRect">
            <a:avLst>
              <a:gd name="adj" fmla="val 33557"/>
            </a:avLst>
          </a:prstGeom>
          <a:solidFill xmlns:a="http://schemas.openxmlformats.org/drawingml/2006/main">
            <a:srgbClr val="EADFCF"/>
          </a:solidFill>
        </p:spPr>
      </p:sp>
      <p:sp>
        <p:nvSpPr>
          <p:cNvPr id="20" name="s4-bottom-note">
            <a:extLst xmlns:a="http://schemas.openxmlformats.org/drawingml/2006/main">
              <a:ext uri="{FF2B5EF4-FFF2-40B4-BE49-F238E27FC236}">
                <a16:creationId xmlns:a16="http://schemas.microsoft.com/office/drawing/2014/main" id="{0D3829B3-6047-4231-B9B6-D677E698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72450"/>
            <a:ext cx="1638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0212B"/>
                </a:solidFill>
              </a:defRPr>
            </a:pPr>
            <a:r>
              <a:rPr sz="1725" b="0" i="0">
                <a:solidFill>
                  <a:srgbClr val="10212B"/>
                </a:solidFill>
              </a:rPr>
              <a:t>Product surfaces: demand board  •  assignment board  •  tide / bridge windows  •  simulation  •  approvals  •  published plan</a:t>
            </a:r>
          </a:p>
        </p:txBody>
      </p:sp>
      <p:sp>
        <p:nvSpPr>
          <p:cNvPr id="21" name="spacer-4">
            <a:extLst xmlns:a="http://schemas.openxmlformats.org/drawingml/2006/main">
              <a:ext uri="{FF2B5EF4-FFF2-40B4-BE49-F238E27FC236}">
                <a16:creationId xmlns:a16="http://schemas.microsoft.com/office/drawing/2014/main" id="{5C3FCC00-B0D4-4B20-9114-A10C9B57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39200"/>
            <a:ext cx="16840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22" name="source-4">
            <a:extLst xmlns:a="http://schemas.openxmlformats.org/drawingml/2006/main">
              <a:ext uri="{FF2B5EF4-FFF2-40B4-BE49-F238E27FC236}">
                <a16:creationId xmlns:a16="http://schemas.microsoft.com/office/drawing/2014/main" id="{00AA13F7-9E53-4E6A-A8AB-9426B491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44050"/>
            <a:ext cx="16211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3656D"/>
                </a:solidFill>
              </a:defRPr>
            </a:pPr>
            <a:r>
              <a:rPr sz="1050" b="0" i="0">
                <a:solidFill>
                  <a:srgbClr val="53656D"/>
                </a:solidFill>
              </a:rPr>
              <a:t>Source: project planning scope and data architecture docs.</a:t>
            </a:r>
          </a:p>
        </p:txBody>
      </p:sp>
      <p:sp>
        <p:nvSpPr>
          <p:cNvPr id="23" name="page-4">
            <a:extLst xmlns:a="http://schemas.openxmlformats.org/drawingml/2006/main">
              <a:ext uri="{FF2B5EF4-FFF2-40B4-BE49-F238E27FC236}">
                <a16:creationId xmlns:a16="http://schemas.microsoft.com/office/drawing/2014/main" id="{D8360C2F-E928-42FA-B936-C51211B2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9544050"/>
            <a:ext cx="400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E6B83"/>
                </a:solidFill>
              </a:defRPr>
            </a:pPr>
            <a:r>
              <a:rPr sz="1050" b="1" i="0">
                <a:solidFill>
                  <a:srgbClr val="0E6B8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07050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panel-5">
            <a:extLst xmlns:a="http://schemas.openxmlformats.org/drawingml/2006/main">
              <a:ext uri="{FF2B5EF4-FFF2-40B4-BE49-F238E27FC236}">
                <a16:creationId xmlns:a16="http://schemas.microsoft.com/office/drawing/2014/main" id="{E5A3FEC4-91FA-405A-AD70-A616FA45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D82175CD-886E-4E1D-8E95-ECDAAB71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BRIDGE TO THE DEMO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0B24DA97-A079-499A-B66E-62FE4D41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6802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0212B"/>
                </a:solidFill>
              </a:defRPr>
            </a:pPr>
            <a:r>
              <a:rPr sz="3900" b="1" i="0">
                <a:solidFill>
                  <a:srgbClr val="10212B"/>
                </a:solidFill>
              </a:rPr>
              <a:t>When we say “constraint-aware,” this is what users will see.</a:t>
            </a:r>
          </a:p>
        </p:txBody>
      </p:sp>
      <p:sp>
        <p:nvSpPr>
          <p:cNvPr id="4" name="s5-body">
            <a:extLst xmlns:a="http://schemas.openxmlformats.org/drawingml/2006/main">
              <a:ext uri="{FF2B5EF4-FFF2-40B4-BE49-F238E27FC236}">
                <a16:creationId xmlns:a16="http://schemas.microsoft.com/office/drawing/2014/main" id="{AF817CDE-F1C8-49F3-B304-8FCE8E5B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The current product already exposes the spine of the operating model you just saw.</a:t>
            </a:r>
          </a:p>
        </p:txBody>
      </p:sp>
      <p:sp>
        <p:nvSpPr>
          <p:cNvPr id="5" name="s5-rule">
            <a:extLst xmlns:a="http://schemas.openxmlformats.org/drawingml/2006/main">
              <a:ext uri="{FF2B5EF4-FFF2-40B4-BE49-F238E27FC236}">
                <a16:creationId xmlns:a16="http://schemas.microsoft.com/office/drawing/2014/main" id="{03D780CE-A961-48C1-ABA8-35C55B7F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83"/>
          </a:solidFill>
          <a:ln xmlns:a="http://schemas.openxmlformats.org/drawingml/2006/main" w="0">
            <a:solidFill>
              <a:srgbClr val="0E6B83"/>
            </a:solidFill>
            <a:prstDash val="solid"/>
          </a:ln>
        </p:spPr>
      </p:sp>
      <p:sp>
        <p:nvSpPr>
          <p:cNvPr id="6" name="s5-q1">
            <a:extLst xmlns:a="http://schemas.openxmlformats.org/drawingml/2006/main">
              <a:ext uri="{FF2B5EF4-FFF2-40B4-BE49-F238E27FC236}">
                <a16:creationId xmlns:a16="http://schemas.microsoft.com/office/drawing/2014/main" id="{33DF2ED2-613D-4183-A195-E813DB8D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7829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0212B"/>
                </a:solidFill>
              </a:defRPr>
            </a:pPr>
            <a:r>
              <a:rPr sz="2025" b="0" i="0">
                <a:solidFill>
                  <a:srgbClr val="10212B"/>
                </a:solidFill>
              </a:rPr>
              <a:t>1. What demand must be served?</a:t>
            </a:r>
          </a:p>
        </p:txBody>
      </p:sp>
      <p:sp>
        <p:nvSpPr>
          <p:cNvPr id="7" name="s5-q2">
            <a:extLst xmlns:a="http://schemas.openxmlformats.org/drawingml/2006/main">
              <a:ext uri="{FF2B5EF4-FFF2-40B4-BE49-F238E27FC236}">
                <a16:creationId xmlns:a16="http://schemas.microsoft.com/office/drawing/2014/main" id="{C36EC8A3-F11D-4277-A9E7-8005B7D9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7829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0212B"/>
                </a:solidFill>
              </a:defRPr>
            </a:pPr>
            <a:r>
              <a:rPr sz="2025" b="0" i="0">
                <a:solidFill>
                  <a:srgbClr val="10212B"/>
                </a:solidFill>
              </a:rPr>
              <a:t>2. Which windows constrain movement?</a:t>
            </a:r>
          </a:p>
        </p:txBody>
      </p:sp>
      <p:sp>
        <p:nvSpPr>
          <p:cNvPr id="8" name="s5-q3">
            <a:extLst xmlns:a="http://schemas.openxmlformats.org/drawingml/2006/main">
              <a:ext uri="{FF2B5EF4-FFF2-40B4-BE49-F238E27FC236}">
                <a16:creationId xmlns:a16="http://schemas.microsoft.com/office/drawing/2014/main" id="{37396AD5-A685-4076-8201-F18E89CC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7829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0212B"/>
                </a:solidFill>
              </a:defRPr>
            </a:pPr>
            <a:r>
              <a:rPr sz="2025" b="0" i="0">
                <a:solidFill>
                  <a:srgbClr val="10212B"/>
                </a:solidFill>
              </a:rPr>
              <a:t>3. What plan is safe to publish?</a:t>
            </a:r>
          </a:p>
        </p:txBody>
      </p:sp>
      <p:sp>
        <p:nvSpPr>
          <p:cNvPr id="9" name="s5-q4">
            <a:extLst xmlns:a="http://schemas.openxmlformats.org/drawingml/2006/main">
              <a:ext uri="{FF2B5EF4-FFF2-40B4-BE49-F238E27FC236}">
                <a16:creationId xmlns:a16="http://schemas.microsoft.com/office/drawing/2014/main" id="{CF0033ED-A170-4817-A93D-E00960D2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7829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0212B"/>
                </a:solidFill>
              </a:defRPr>
            </a:pPr>
            <a:r>
              <a:rPr sz="2025" b="0" i="0">
                <a:solidFill>
                  <a:srgbClr val="10212B"/>
                </a:solidFill>
              </a:rPr>
              <a:t>4. Who approved the version now in force?</a:t>
            </a:r>
          </a:p>
        </p:txBody>
      </p:sp>
      <p:sp>
        <p:nvSpPr>
          <p:cNvPr id="10" name="s5-left-rule">
            <a:extLst xmlns:a="http://schemas.openxmlformats.org/drawingml/2006/main">
              <a:ext uri="{FF2B5EF4-FFF2-40B4-BE49-F238E27FC236}">
                <a16:creationId xmlns:a16="http://schemas.microsoft.com/office/drawing/2014/main" id="{E16A7F4C-8171-4670-8F9A-67D85574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782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7"/>
          </a:solidFill>
          <a:ln xmlns:a="http://schemas.openxmlformats.org/drawingml/2006/main" w="0">
            <a:solidFill>
              <a:srgbClr val="DCE5E7"/>
            </a:solidFill>
            <a:prstDash val="solid"/>
          </a:ln>
        </p:spPr>
      </p:sp>
      <p:sp>
        <p:nvSpPr>
          <p:cNvPr id="11" name="s5-left-note">
            <a:extLst xmlns:a="http://schemas.openxmlformats.org/drawingml/2006/main">
              <a:ext uri="{FF2B5EF4-FFF2-40B4-BE49-F238E27FC236}">
                <a16:creationId xmlns:a16="http://schemas.microsoft.com/office/drawing/2014/main" id="{D8065BEF-C4BB-40B0-A13C-74E073F3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7829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0E6B83"/>
                </a:solidFill>
              </a:defRPr>
            </a:pPr>
            <a:r>
              <a:rPr sz="1875" b="0" i="0">
                <a:solidFill>
                  <a:srgbClr val="0E6B83"/>
                </a:solidFill>
              </a:rPr>
              <a:t>The live demo follows the same story:</a:t>
            </a:r>
          </a:p>
          <a:p xmlns:a="http://schemas.openxmlformats.org/drawingml/2006/main">
            <a:pPr>
              <a:defRPr sz="1875" b="0" i="0">
                <a:solidFill>
                  <a:srgbClr val="0E6B83"/>
                </a:solidFill>
              </a:defRPr>
            </a:pPr>
            <a:r>
              <a:rPr sz="1875" b="0" i="0">
                <a:solidFill>
                  <a:srgbClr val="0E6B83"/>
                </a:solidFill>
              </a:rPr>
              <a:t>OGV demand → constraints → approvals → published plan.</a:t>
            </a:r>
          </a:p>
        </p:txBody>
      </p:sp>
      <p:sp>
        <p:nvSpPr>
          <p:cNvPr id="12" name="screen-title-a">
            <a:extLst xmlns:a="http://schemas.openxmlformats.org/drawingml/2006/main">
              <a:ext uri="{FF2B5EF4-FFF2-40B4-BE49-F238E27FC236}">
                <a16:creationId xmlns:a16="http://schemas.microsoft.com/office/drawing/2014/main" id="{6669C2FA-401F-4C80-8615-E424A5F9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86050"/>
            <a:ext cx="424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6B83"/>
                </a:solidFill>
              </a:defRPr>
            </a:pPr>
            <a:r>
              <a:rPr sz="1500" b="1" i="0">
                <a:solidFill>
                  <a:srgbClr val="0E6B83"/>
                </a:solidFill>
              </a:rPr>
              <a:t>OGV Demand &amp; Laycan</a:t>
            </a:r>
          </a:p>
        </p:txBody>
      </p:sp>
      <p:sp>
        <p:nvSpPr>
          <p:cNvPr id="13" name="screen-image-panel-a">
            <a:extLst xmlns:a="http://schemas.openxmlformats.org/drawingml/2006/main">
              <a:ext uri="{FF2B5EF4-FFF2-40B4-BE49-F238E27FC236}">
                <a16:creationId xmlns:a16="http://schemas.microsoft.com/office/drawing/2014/main" id="{CABFDF0B-88C2-4DA8-9F64-CFCCB9B2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3968" y="3025140"/>
            <a:ext cx="4244816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14" name="screen-image-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90375f474486c"/>
          <a:stretch xmlns:a="http://schemas.openxmlformats.org/drawingml/2006/main"/>
        </p:blipFill>
        <p:spPr>
          <a:xfrm xmlns:a="http://schemas.openxmlformats.org/drawingml/2006/main">
            <a:off x="9177576" y="3139440"/>
            <a:ext cx="3657600" cy="2057400"/>
          </a:xfrm>
          <a:prstGeom xmlns:a="http://schemas.openxmlformats.org/drawingml/2006/main" prst="roundRect">
            <a:avLst>
              <a:gd name="adj" fmla="val 6481"/>
            </a:avLst>
          </a:prstGeom>
        </p:spPr>
      </p:pic>
      <p:sp>
        <p:nvSpPr>
          <p:cNvPr id="15" name="screen-title-b">
            <a:extLst xmlns:a="http://schemas.openxmlformats.org/drawingml/2006/main">
              <a:ext uri="{FF2B5EF4-FFF2-40B4-BE49-F238E27FC236}">
                <a16:creationId xmlns:a16="http://schemas.microsoft.com/office/drawing/2014/main" id="{7742D353-6339-439E-B022-02194D02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2686050"/>
            <a:ext cx="424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6B83"/>
                </a:solidFill>
              </a:defRPr>
            </a:pPr>
            <a:r>
              <a:rPr sz="1500" b="1" i="0">
                <a:solidFill>
                  <a:srgbClr val="0E6B83"/>
                </a:solidFill>
              </a:rPr>
              <a:t>Tide &amp; Bridge Window</a:t>
            </a:r>
          </a:p>
        </p:txBody>
      </p:sp>
      <p:sp>
        <p:nvSpPr>
          <p:cNvPr id="16" name="screen-image-panel-b">
            <a:extLst xmlns:a="http://schemas.openxmlformats.org/drawingml/2006/main">
              <a:ext uri="{FF2B5EF4-FFF2-40B4-BE49-F238E27FC236}">
                <a16:creationId xmlns:a16="http://schemas.microsoft.com/office/drawing/2014/main" id="{53D672CB-E019-4B27-B4B9-31F78CF8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0234" y="3025140"/>
            <a:ext cx="4244816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17" name="screen-image-b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688e5c4334c31"/>
          <a:stretch xmlns:a="http://schemas.openxmlformats.org/drawingml/2006/main"/>
        </p:blipFill>
        <p:spPr>
          <a:xfrm xmlns:a="http://schemas.openxmlformats.org/drawingml/2006/main">
            <a:off x="13593842" y="3139440"/>
            <a:ext cx="3657600" cy="2057400"/>
          </a:xfrm>
          <a:prstGeom xmlns:a="http://schemas.openxmlformats.org/drawingml/2006/main" prst="roundRect">
            <a:avLst>
              <a:gd name="adj" fmla="val 6481"/>
            </a:avLst>
          </a:prstGeom>
        </p:spPr>
      </p:pic>
      <p:sp>
        <p:nvSpPr>
          <p:cNvPr id="18" name="screen-title-c">
            <a:extLst xmlns:a="http://schemas.openxmlformats.org/drawingml/2006/main">
              <a:ext uri="{FF2B5EF4-FFF2-40B4-BE49-F238E27FC236}">
                <a16:creationId xmlns:a16="http://schemas.microsoft.com/office/drawing/2014/main" id="{DA6A4BC3-58A8-4458-88B0-2C5853BC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486400"/>
            <a:ext cx="424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6B83"/>
                </a:solidFill>
              </a:defRPr>
            </a:pPr>
            <a:r>
              <a:rPr sz="1500" b="1" i="0">
                <a:solidFill>
                  <a:srgbClr val="0E6B83"/>
                </a:solidFill>
              </a:rPr>
              <a:t>Approvals</a:t>
            </a:r>
          </a:p>
        </p:txBody>
      </p:sp>
      <p:sp>
        <p:nvSpPr>
          <p:cNvPr id="19" name="screen-image-panel-c">
            <a:extLst xmlns:a="http://schemas.openxmlformats.org/drawingml/2006/main">
              <a:ext uri="{FF2B5EF4-FFF2-40B4-BE49-F238E27FC236}">
                <a16:creationId xmlns:a16="http://schemas.microsoft.com/office/drawing/2014/main" id="{37C74FA4-30D3-43ED-888F-3CC5FADD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3968" y="5825490"/>
            <a:ext cx="4244816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20" name="screen-image-c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919c579b247b9"/>
          <a:stretch xmlns:a="http://schemas.openxmlformats.org/drawingml/2006/main"/>
        </p:blipFill>
        <p:spPr>
          <a:xfrm xmlns:a="http://schemas.openxmlformats.org/drawingml/2006/main">
            <a:off x="9177576" y="5939790"/>
            <a:ext cx="3657600" cy="2057400"/>
          </a:xfrm>
          <a:prstGeom xmlns:a="http://schemas.openxmlformats.org/drawingml/2006/main" prst="roundRect">
            <a:avLst>
              <a:gd name="adj" fmla="val 6481"/>
            </a:avLst>
          </a:prstGeom>
        </p:spPr>
      </p:pic>
      <p:sp>
        <p:nvSpPr>
          <p:cNvPr id="21" name="screen-title-d">
            <a:extLst xmlns:a="http://schemas.openxmlformats.org/drawingml/2006/main">
              <a:ext uri="{FF2B5EF4-FFF2-40B4-BE49-F238E27FC236}">
                <a16:creationId xmlns:a16="http://schemas.microsoft.com/office/drawing/2014/main" id="{6B7B179D-33D9-4212-8609-81BD68A4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486400"/>
            <a:ext cx="424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0E6B83"/>
                </a:solidFill>
              </a:defRPr>
            </a:pPr>
            <a:r>
              <a:rPr sz="1500" b="1" i="0">
                <a:solidFill>
                  <a:srgbClr val="0E6B83"/>
                </a:solidFill>
              </a:rPr>
              <a:t>Published Plan</a:t>
            </a:r>
          </a:p>
        </p:txBody>
      </p:sp>
      <p:sp>
        <p:nvSpPr>
          <p:cNvPr id="22" name="screen-image-panel-d">
            <a:extLst xmlns:a="http://schemas.openxmlformats.org/drawingml/2006/main">
              <a:ext uri="{FF2B5EF4-FFF2-40B4-BE49-F238E27FC236}">
                <a16:creationId xmlns:a16="http://schemas.microsoft.com/office/drawing/2014/main" id="{9E049C26-AC97-41FB-A6FE-9CB96FE6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0234" y="5825490"/>
            <a:ext cx="4244816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</p:spPr>
      </p:sp>
      <p:pic>
        <p:nvPicPr>
          <p:cNvPr id="23" name="screen-image-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46fdff4bd4052"/>
          <a:stretch xmlns:a="http://schemas.openxmlformats.org/drawingml/2006/main"/>
        </p:blipFill>
        <p:spPr>
          <a:xfrm xmlns:a="http://schemas.openxmlformats.org/drawingml/2006/main">
            <a:off x="13593842" y="5939790"/>
            <a:ext cx="3657600" cy="2057400"/>
          </a:xfrm>
          <a:prstGeom xmlns:a="http://schemas.openxmlformats.org/drawingml/2006/main" prst="roundRect">
            <a:avLst>
              <a:gd name="adj" fmla="val 6481"/>
            </a:avLst>
          </a:prstGeom>
        </p:spPr>
      </p:pic>
      <p:sp>
        <p:nvSpPr>
          <p:cNvPr id="24" name="spacer-5">
            <a:extLst xmlns:a="http://schemas.openxmlformats.org/drawingml/2006/main">
              <a:ext uri="{FF2B5EF4-FFF2-40B4-BE49-F238E27FC236}">
                <a16:creationId xmlns:a16="http://schemas.microsoft.com/office/drawing/2014/main" id="{1D4523B4-3872-4EDD-AF4E-E55C678F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82000"/>
            <a:ext cx="1684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25" name="source-5">
            <a:extLst xmlns:a="http://schemas.openxmlformats.org/drawingml/2006/main">
              <a:ext uri="{FF2B5EF4-FFF2-40B4-BE49-F238E27FC236}">
                <a16:creationId xmlns:a16="http://schemas.microsoft.com/office/drawing/2014/main" id="{C06618A0-5FBB-45DB-9D8C-5C24116D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44050"/>
            <a:ext cx="16211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3656D"/>
                </a:solidFill>
              </a:defRPr>
            </a:pPr>
            <a:r>
              <a:rPr sz="1050" b="0" i="0">
                <a:solidFill>
                  <a:srgbClr val="53656D"/>
                </a:solidFill>
              </a:rPr>
              <a:t>Source: current Coalflow Tower product evidence.</a:t>
            </a:r>
          </a:p>
        </p:txBody>
      </p:sp>
      <p:sp>
        <p:nvSpPr>
          <p:cNvPr id="26" name="page-5">
            <a:extLst xmlns:a="http://schemas.openxmlformats.org/drawingml/2006/main">
              <a:ext uri="{FF2B5EF4-FFF2-40B4-BE49-F238E27FC236}">
                <a16:creationId xmlns:a16="http://schemas.microsoft.com/office/drawing/2014/main" id="{8EEE5425-F941-4E07-AB06-B6C20386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9544050"/>
            <a:ext cx="400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E6B83"/>
                </a:solidFill>
              </a:defRPr>
            </a:pPr>
            <a:r>
              <a:rPr sz="1050" b="1" i="0">
                <a:solidFill>
                  <a:srgbClr val="0E6B8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589721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panel-6">
            <a:extLst xmlns:a="http://schemas.openxmlformats.org/drawingml/2006/main">
              <a:ext uri="{FF2B5EF4-FFF2-40B4-BE49-F238E27FC236}">
                <a16:creationId xmlns:a16="http://schemas.microsoft.com/office/drawing/2014/main" id="{372EC050-CEB5-486D-BFB7-9ECEBB42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E47B4907-CB37-4526-A7E8-00C4B047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SOLUTION APPROACH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B407508B-02E8-41BF-AE24-3B2EE01C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6802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0212B"/>
                </a:solidFill>
              </a:defRPr>
            </a:pPr>
            <a:r>
              <a:rPr sz="3900" b="1" i="0">
                <a:solidFill>
                  <a:srgbClr val="10212B"/>
                </a:solidFill>
              </a:rPr>
              <a:t>Manage the asset chain, not just the asset list.</a:t>
            </a:r>
          </a:p>
        </p:txBody>
      </p:sp>
      <p:sp>
        <p:nvSpPr>
          <p:cNvPr id="4" name="s6-body">
            <a:extLst xmlns:a="http://schemas.openxmlformats.org/drawingml/2006/main">
              <a:ext uri="{FF2B5EF4-FFF2-40B4-BE49-F238E27FC236}">
                <a16:creationId xmlns:a16="http://schemas.microsoft.com/office/drawing/2014/main" id="{9EE3AF1D-A3CE-4ED1-A076-3FA6D5C3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10534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A plan is only feasible when every resource handoff survives both operational and environmental constraints.</a:t>
            </a:r>
          </a:p>
        </p:txBody>
      </p:sp>
      <p:sp>
        <p:nvSpPr>
          <p:cNvPr id="5" name="s6-rule">
            <a:extLst xmlns:a="http://schemas.openxmlformats.org/drawingml/2006/main">
              <a:ext uri="{FF2B5EF4-FFF2-40B4-BE49-F238E27FC236}">
                <a16:creationId xmlns:a16="http://schemas.microsoft.com/office/drawing/2014/main" id="{06085BA5-E7CF-4C90-9BA5-DA8EC653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83"/>
          </a:solidFill>
          <a:ln xmlns:a="http://schemas.openxmlformats.org/drawingml/2006/main" w="0">
            <a:solidFill>
              <a:srgbClr val="0E6B83"/>
            </a:solidFill>
            <a:prstDash val="solid"/>
          </a:ln>
        </p:spPr>
      </p:sp>
      <p:sp>
        <p:nvSpPr>
          <p:cNvPr id="6" name="s6-panel1">
            <a:extLst xmlns:a="http://schemas.openxmlformats.org/drawingml/2006/main">
              <a:ext uri="{FF2B5EF4-FFF2-40B4-BE49-F238E27FC236}">
                <a16:creationId xmlns:a16="http://schemas.microsoft.com/office/drawing/2014/main" id="{89000748-5060-4DA9-925E-74835890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7990"/>
            <a:ext cx="3238500" cy="4286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0F1"/>
          </a:solidFill>
        </p:spPr>
      </p:sp>
      <p:sp>
        <p:nvSpPr>
          <p:cNvPr id="7" name="s6a">
            <a:extLst xmlns:a="http://schemas.openxmlformats.org/drawingml/2006/main">
              <a:ext uri="{FF2B5EF4-FFF2-40B4-BE49-F238E27FC236}">
                <a16:creationId xmlns:a16="http://schemas.microsoft.com/office/drawing/2014/main" id="{56D291B9-5093-4EF5-AC7F-8B14A44F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01</a:t>
            </a:r>
          </a:p>
        </p:txBody>
      </p:sp>
      <p:sp>
        <p:nvSpPr>
          <p:cNvPr id="8" name="s6-title1">
            <a:extLst xmlns:a="http://schemas.openxmlformats.org/drawingml/2006/main">
              <a:ext uri="{FF2B5EF4-FFF2-40B4-BE49-F238E27FC236}">
                <a16:creationId xmlns:a16="http://schemas.microsoft.com/office/drawing/2014/main" id="{736130EB-ABC9-47F7-B8CD-7E227684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12B"/>
                </a:solidFill>
              </a:defRPr>
            </a:pPr>
            <a:r>
              <a:rPr sz="2250" b="1" i="0">
                <a:solidFill>
                  <a:srgbClr val="10212B"/>
                </a:solidFill>
              </a:rPr>
              <a:t>Tug + barge</a:t>
            </a:r>
          </a:p>
        </p:txBody>
      </p:sp>
      <p:sp>
        <p:nvSpPr>
          <p:cNvPr id="9" name="s6-body1">
            <a:extLst xmlns:a="http://schemas.openxmlformats.org/drawingml/2006/main">
              <a:ext uri="{FF2B5EF4-FFF2-40B4-BE49-F238E27FC236}">
                <a16:creationId xmlns:a16="http://schemas.microsoft.com/office/drawing/2014/main" id="{3755AAB5-7D69-4F4B-A404-122BA355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21030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Availability</a:t>
            </a:r>
          </a:p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Compatibility</a:t>
            </a:r>
          </a:p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Loaded / empty speed</a:t>
            </a:r>
          </a:p>
        </p:txBody>
      </p:sp>
      <p:sp>
        <p:nvSpPr>
          <p:cNvPr id="10" name="s6-panel2">
            <a:extLst xmlns:a="http://schemas.openxmlformats.org/drawingml/2006/main">
              <a:ext uri="{FF2B5EF4-FFF2-40B4-BE49-F238E27FC236}">
                <a16:creationId xmlns:a16="http://schemas.microsoft.com/office/drawing/2014/main" id="{9E1C9420-A242-49C7-86CF-8873E0B1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67990"/>
            <a:ext cx="3238500" cy="4286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s6b">
            <a:extLst xmlns:a="http://schemas.openxmlformats.org/drawingml/2006/main">
              <a:ext uri="{FF2B5EF4-FFF2-40B4-BE49-F238E27FC236}">
                <a16:creationId xmlns:a16="http://schemas.microsoft.com/office/drawing/2014/main" id="{7D0BB93F-8265-4649-A169-E54C61CA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623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02</a:t>
            </a:r>
          </a:p>
        </p:txBody>
      </p:sp>
      <p:sp>
        <p:nvSpPr>
          <p:cNvPr id="12" name="s6-title2">
            <a:extLst xmlns:a="http://schemas.openxmlformats.org/drawingml/2006/main">
              <a:ext uri="{FF2B5EF4-FFF2-40B4-BE49-F238E27FC236}">
                <a16:creationId xmlns:a16="http://schemas.microsoft.com/office/drawing/2014/main" id="{F39EED5B-3FB5-41C5-A21E-6DEA4B46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12B"/>
                </a:solidFill>
              </a:defRPr>
            </a:pPr>
            <a:r>
              <a:rPr sz="2250" b="1" i="0">
                <a:solidFill>
                  <a:srgbClr val="10212B"/>
                </a:solidFill>
              </a:rPr>
              <a:t>Jetty</a:t>
            </a:r>
          </a:p>
        </p:txBody>
      </p:sp>
      <p:sp>
        <p:nvSpPr>
          <p:cNvPr id="13" name="s6-body2">
            <a:extLst xmlns:a="http://schemas.openxmlformats.org/drawingml/2006/main">
              <a:ext uri="{FF2B5EF4-FFF2-40B4-BE49-F238E27FC236}">
                <a16:creationId xmlns:a16="http://schemas.microsoft.com/office/drawing/2014/main" id="{2FE013D9-97CE-491E-ACC4-45645DD1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79120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Queue</a:t>
            </a:r>
          </a:p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Loading rate</a:t>
            </a:r>
          </a:p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Grade readiness</a:t>
            </a:r>
          </a:p>
        </p:txBody>
      </p:sp>
      <p:sp>
        <p:nvSpPr>
          <p:cNvPr id="14" name="s6-stat2">
            <a:extLst xmlns:a="http://schemas.openxmlformats.org/drawingml/2006/main">
              <a:ext uri="{FF2B5EF4-FFF2-40B4-BE49-F238E27FC236}">
                <a16:creationId xmlns:a16="http://schemas.microsoft.com/office/drawing/2014/main" id="{59768263-FC94-4FDD-BA2D-CFC249B6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7818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0E6B83"/>
                </a:solidFill>
              </a:defRPr>
            </a:pPr>
            <a:r>
              <a:rPr sz="1875" b="0" i="0">
                <a:solidFill>
                  <a:srgbClr val="0E6B83"/>
                </a:solidFill>
              </a:rPr>
              <a:t>1.5–3.5k MT/h</a:t>
            </a:r>
          </a:p>
        </p:txBody>
      </p:sp>
      <p:sp>
        <p:nvSpPr>
          <p:cNvPr id="15" name="s6-panel3">
            <a:extLst xmlns:a="http://schemas.openxmlformats.org/drawingml/2006/main">
              <a:ext uri="{FF2B5EF4-FFF2-40B4-BE49-F238E27FC236}">
                <a16:creationId xmlns:a16="http://schemas.microsoft.com/office/drawing/2014/main" id="{5F0671A6-58B5-40D2-B7A7-C8C22FB0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67990"/>
            <a:ext cx="3238500" cy="4286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DFCF"/>
          </a:solidFill>
        </p:spPr>
      </p:sp>
      <p:sp>
        <p:nvSpPr>
          <p:cNvPr id="16" name="s6c">
            <a:extLst xmlns:a="http://schemas.openxmlformats.org/drawingml/2006/main">
              <a:ext uri="{FF2B5EF4-FFF2-40B4-BE49-F238E27FC236}">
                <a16:creationId xmlns:a16="http://schemas.microsoft.com/office/drawing/2014/main" id="{43DD5DD6-66A9-40B2-A8C6-618E2038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623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03</a:t>
            </a:r>
          </a:p>
        </p:txBody>
      </p:sp>
      <p:sp>
        <p:nvSpPr>
          <p:cNvPr id="17" name="s6-title3">
            <a:extLst xmlns:a="http://schemas.openxmlformats.org/drawingml/2006/main">
              <a:ext uri="{FF2B5EF4-FFF2-40B4-BE49-F238E27FC236}">
                <a16:creationId xmlns:a16="http://schemas.microsoft.com/office/drawing/2014/main" id="{09DAB8A1-6FB9-4724-8FED-987D886F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8615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12B"/>
                </a:solidFill>
              </a:defRPr>
            </a:pPr>
            <a:r>
              <a:rPr sz="2250" b="1" i="0">
                <a:solidFill>
                  <a:srgbClr val="10212B"/>
                </a:solidFill>
              </a:rPr>
              <a:t>River route</a:t>
            </a:r>
          </a:p>
        </p:txBody>
      </p:sp>
      <p:sp>
        <p:nvSpPr>
          <p:cNvPr id="18" name="s6-body3">
            <a:extLst xmlns:a="http://schemas.openxmlformats.org/drawingml/2006/main">
              <a:ext uri="{FF2B5EF4-FFF2-40B4-BE49-F238E27FC236}">
                <a16:creationId xmlns:a16="http://schemas.microsoft.com/office/drawing/2014/main" id="{751CF8D1-6DC7-409B-8614-14682945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21030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Tide</a:t>
            </a:r>
          </a:p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Bridge window</a:t>
            </a:r>
          </a:p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Draft / weather</a:t>
            </a:r>
          </a:p>
        </p:txBody>
      </p:sp>
      <p:sp>
        <p:nvSpPr>
          <p:cNvPr id="19" name="s6-panel4">
            <a:extLst xmlns:a="http://schemas.openxmlformats.org/drawingml/2006/main">
              <a:ext uri="{FF2B5EF4-FFF2-40B4-BE49-F238E27FC236}">
                <a16:creationId xmlns:a16="http://schemas.microsoft.com/office/drawing/2014/main" id="{7F2BEF06-D63A-4752-8C0E-30758DAD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967990"/>
            <a:ext cx="3238500" cy="4286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0F1"/>
          </a:solidFill>
        </p:spPr>
      </p:sp>
      <p:sp>
        <p:nvSpPr>
          <p:cNvPr id="20" name="s6d">
            <a:extLst xmlns:a="http://schemas.openxmlformats.org/drawingml/2006/main">
              <a:ext uri="{FF2B5EF4-FFF2-40B4-BE49-F238E27FC236}">
                <a16:creationId xmlns:a16="http://schemas.microsoft.com/office/drawing/2014/main" id="{EBA1B8B5-3ADF-4A64-8953-C1D0C806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623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04</a:t>
            </a:r>
          </a:p>
        </p:txBody>
      </p:sp>
      <p:sp>
        <p:nvSpPr>
          <p:cNvPr id="21" name="s6-title4">
            <a:extLst xmlns:a="http://schemas.openxmlformats.org/drawingml/2006/main">
              <a:ext uri="{FF2B5EF4-FFF2-40B4-BE49-F238E27FC236}">
                <a16:creationId xmlns:a16="http://schemas.microsoft.com/office/drawing/2014/main" id="{C5C1E3CC-079F-40C9-833B-F3A8F1F0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48615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12B"/>
                </a:solidFill>
              </a:defRPr>
            </a:pPr>
            <a:r>
              <a:rPr sz="2250" b="1" i="0">
                <a:solidFill>
                  <a:srgbClr val="10212B"/>
                </a:solidFill>
              </a:rPr>
              <a:t>CTS / FC</a:t>
            </a:r>
          </a:p>
        </p:txBody>
      </p:sp>
      <p:sp>
        <p:nvSpPr>
          <p:cNvPr id="22" name="s6-body4">
            <a:extLst xmlns:a="http://schemas.openxmlformats.org/drawingml/2006/main">
              <a:ext uri="{FF2B5EF4-FFF2-40B4-BE49-F238E27FC236}">
                <a16:creationId xmlns:a16="http://schemas.microsoft.com/office/drawing/2014/main" id="{ACABA303-546C-4C78-89D2-10A38AC8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579120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Rate</a:t>
            </a:r>
          </a:p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Queue</a:t>
            </a:r>
          </a:p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Downtime</a:t>
            </a:r>
          </a:p>
        </p:txBody>
      </p:sp>
      <p:sp>
        <p:nvSpPr>
          <p:cNvPr id="23" name="s6-stat4">
            <a:extLst xmlns:a="http://schemas.openxmlformats.org/drawingml/2006/main">
              <a:ext uri="{FF2B5EF4-FFF2-40B4-BE49-F238E27FC236}">
                <a16:creationId xmlns:a16="http://schemas.microsoft.com/office/drawing/2014/main" id="{D2457CCC-6B27-49A0-B0E7-6C250487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7818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0E6B83"/>
                </a:solidFill>
              </a:defRPr>
            </a:pPr>
            <a:r>
              <a:rPr sz="1875" b="0" i="0">
                <a:solidFill>
                  <a:srgbClr val="0E6B83"/>
                </a:solidFill>
              </a:rPr>
              <a:t>20–55 kt/day</a:t>
            </a:r>
          </a:p>
        </p:txBody>
      </p:sp>
      <p:sp>
        <p:nvSpPr>
          <p:cNvPr id="24" name="s6-panel5">
            <a:extLst xmlns:a="http://schemas.openxmlformats.org/drawingml/2006/main">
              <a:ext uri="{FF2B5EF4-FFF2-40B4-BE49-F238E27FC236}">
                <a16:creationId xmlns:a16="http://schemas.microsoft.com/office/drawing/2014/main" id="{CD940720-46C9-4282-A326-AAED812B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2967990"/>
            <a:ext cx="3238500" cy="4286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5" name="s6e">
            <a:extLst xmlns:a="http://schemas.openxmlformats.org/drawingml/2006/main">
              <a:ext uri="{FF2B5EF4-FFF2-40B4-BE49-F238E27FC236}">
                <a16:creationId xmlns:a16="http://schemas.microsoft.com/office/drawing/2014/main" id="{8D7A3FEE-3A18-4EE6-9DBD-2F255379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31623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05</a:t>
            </a:r>
          </a:p>
        </p:txBody>
      </p:sp>
      <p:sp>
        <p:nvSpPr>
          <p:cNvPr id="26" name="s6-title5">
            <a:extLst xmlns:a="http://schemas.openxmlformats.org/drawingml/2006/main">
              <a:ext uri="{FF2B5EF4-FFF2-40B4-BE49-F238E27FC236}">
                <a16:creationId xmlns:a16="http://schemas.microsoft.com/office/drawing/2014/main" id="{D81B3DB5-B64C-442E-86D8-FB3A8A5F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348615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0212B"/>
                </a:solidFill>
              </a:defRPr>
            </a:pPr>
            <a:r>
              <a:rPr sz="2250" b="1" i="0">
                <a:solidFill>
                  <a:srgbClr val="10212B"/>
                </a:solidFill>
              </a:rPr>
              <a:t>OGV</a:t>
            </a:r>
          </a:p>
        </p:txBody>
      </p:sp>
      <p:sp>
        <p:nvSpPr>
          <p:cNvPr id="27" name="s6-body5">
            <a:extLst xmlns:a="http://schemas.openxmlformats.org/drawingml/2006/main">
              <a:ext uri="{FF2B5EF4-FFF2-40B4-BE49-F238E27FC236}">
                <a16:creationId xmlns:a16="http://schemas.microsoft.com/office/drawing/2014/main" id="{61E6EC34-990D-437F-B8FB-C780CB46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579120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Laycan</a:t>
            </a:r>
          </a:p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Layer sequence</a:t>
            </a:r>
          </a:p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Demurrage risk</a:t>
            </a:r>
          </a:p>
        </p:txBody>
      </p:sp>
      <p:sp>
        <p:nvSpPr>
          <p:cNvPr id="28" name="s6-stat5">
            <a:extLst xmlns:a="http://schemas.openxmlformats.org/drawingml/2006/main">
              <a:ext uri="{FF2B5EF4-FFF2-40B4-BE49-F238E27FC236}">
                <a16:creationId xmlns:a16="http://schemas.microsoft.com/office/drawing/2014/main" id="{1790DFE0-EB43-4856-881D-4AC84516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67818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0E6B83"/>
                </a:solidFill>
              </a:defRPr>
            </a:pPr>
            <a:r>
              <a:rPr sz="1875" b="0" i="0">
                <a:solidFill>
                  <a:srgbClr val="0E6B83"/>
                </a:solidFill>
              </a:rPr>
              <a:t>≈76k DWT class</a:t>
            </a:r>
          </a:p>
        </p:txBody>
      </p:sp>
      <p:sp>
        <p:nvSpPr>
          <p:cNvPr id="29" name="s6-quant-band">
            <a:extLst xmlns:a="http://schemas.openxmlformats.org/drawingml/2006/main">
              <a:ext uri="{FF2B5EF4-FFF2-40B4-BE49-F238E27FC236}">
                <a16:creationId xmlns:a16="http://schemas.microsoft.com/office/drawing/2014/main" id="{4719A48C-F98A-42C7-9031-3B315C4E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01890"/>
            <a:ext cx="16802100" cy="579120"/>
          </a:xfrm>
          <a:prstGeom xmlns:a="http://schemas.openxmlformats.org/drawingml/2006/main" prst="roundRect">
            <a:avLst>
              <a:gd name="adj" fmla="val 32895"/>
            </a:avLst>
          </a:prstGeom>
          <a:solidFill xmlns:a="http://schemas.openxmlformats.org/drawingml/2006/main">
            <a:srgbClr val="EADFCF"/>
          </a:solidFill>
        </p:spPr>
      </p:sp>
      <p:sp>
        <p:nvSpPr>
          <p:cNvPr id="30" name="s6-quant-note">
            <a:extLst xmlns:a="http://schemas.openxmlformats.org/drawingml/2006/main">
              <a:ext uri="{FF2B5EF4-FFF2-40B4-BE49-F238E27FC236}">
                <a16:creationId xmlns:a16="http://schemas.microsoft.com/office/drawing/2014/main" id="{DBC01A14-DD09-47B0-8B24-7A57C6E5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58100"/>
            <a:ext cx="1638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0212B"/>
                </a:solidFill>
              </a:defRPr>
            </a:pPr>
            <a:r>
              <a:rPr sz="1800" b="0" i="0">
                <a:solidFill>
                  <a:srgbClr val="10212B"/>
                </a:solidFill>
              </a:rPr>
              <a:t>Capacity is distributed across the chain. A fast CTS cannot recover a missed tide; a ready tug cannot compensate for a wrong grade sequence.</a:t>
            </a:r>
          </a:p>
        </p:txBody>
      </p:sp>
      <p:sp>
        <p:nvSpPr>
          <p:cNvPr id="31" name="s6-bottom-panel">
            <a:extLst xmlns:a="http://schemas.openxmlformats.org/drawingml/2006/main">
              <a:ext uri="{FF2B5EF4-FFF2-40B4-BE49-F238E27FC236}">
                <a16:creationId xmlns:a16="http://schemas.microsoft.com/office/drawing/2014/main" id="{140A7EA7-A9B7-4B19-BEF0-A75F33E7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328660"/>
            <a:ext cx="16802100" cy="640080"/>
          </a:xfrm>
          <a:prstGeom xmlns:a="http://schemas.openxmlformats.org/drawingml/2006/main" prst="roundRect">
            <a:avLst>
              <a:gd name="adj" fmla="val 32738"/>
            </a:avLst>
          </a:prstGeom>
          <a:solidFill xmlns:a="http://schemas.openxmlformats.org/drawingml/2006/main">
            <a:srgbClr val="EAF0F1"/>
          </a:solidFill>
        </p:spPr>
      </p:sp>
      <p:sp>
        <p:nvSpPr>
          <p:cNvPr id="32" name="s6-bottom-note">
            <a:extLst xmlns:a="http://schemas.openxmlformats.org/drawingml/2006/main">
              <a:ext uri="{FF2B5EF4-FFF2-40B4-BE49-F238E27FC236}">
                <a16:creationId xmlns:a16="http://schemas.microsoft.com/office/drawing/2014/main" id="{F03B16DB-DC79-4734-BCF0-19307347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496300"/>
            <a:ext cx="16344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0212B"/>
                </a:solidFill>
              </a:defRPr>
            </a:pPr>
            <a:r>
              <a:rPr sz="1950" b="0" i="0">
                <a:solidFill>
                  <a:srgbClr val="10212B"/>
                </a:solidFill>
              </a:rPr>
              <a:t>The planner’s job is not “where is the vessel?” but “which next move keeps the whole chain feasible?”</a:t>
            </a:r>
          </a:p>
        </p:txBody>
      </p:sp>
      <p:sp>
        <p:nvSpPr>
          <p:cNvPr id="33" name="spacer-6">
            <a:extLst xmlns:a="http://schemas.openxmlformats.org/drawingml/2006/main">
              <a:ext uri="{FF2B5EF4-FFF2-40B4-BE49-F238E27FC236}">
                <a16:creationId xmlns:a16="http://schemas.microsoft.com/office/drawing/2014/main" id="{B60E937A-990B-47C5-A03C-4A47F7A1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220200"/>
            <a:ext cx="16840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34" name="source-6">
            <a:extLst xmlns:a="http://schemas.openxmlformats.org/drawingml/2006/main">
              <a:ext uri="{FF2B5EF4-FFF2-40B4-BE49-F238E27FC236}">
                <a16:creationId xmlns:a16="http://schemas.microsoft.com/office/drawing/2014/main" id="{EFF14D94-68D3-47FB-A5BB-E1347DF4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44050"/>
            <a:ext cx="16211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3656D"/>
                </a:solidFill>
              </a:defRPr>
            </a:pPr>
            <a:r>
              <a:rPr sz="1050" b="0" i="0">
                <a:solidFill>
                  <a:srgbClr val="53656D"/>
                </a:solidFill>
              </a:rPr>
              <a:t>Source: project operating-model and planning-scope docs.</a:t>
            </a:r>
          </a:p>
        </p:txBody>
      </p:sp>
      <p:sp>
        <p:nvSpPr>
          <p:cNvPr id="35" name="page-6">
            <a:extLst xmlns:a="http://schemas.openxmlformats.org/drawingml/2006/main">
              <a:ext uri="{FF2B5EF4-FFF2-40B4-BE49-F238E27FC236}">
                <a16:creationId xmlns:a16="http://schemas.microsoft.com/office/drawing/2014/main" id="{4AA2EEBA-7481-426D-9573-711411CE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9544050"/>
            <a:ext cx="400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E6B83"/>
                </a:solidFill>
              </a:defRPr>
            </a:pPr>
            <a:r>
              <a:rPr sz="1050" b="1" i="0">
                <a:solidFill>
                  <a:srgbClr val="0E6B8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47104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panel-7">
            <a:extLst xmlns:a="http://schemas.openxmlformats.org/drawingml/2006/main">
              <a:ext uri="{FF2B5EF4-FFF2-40B4-BE49-F238E27FC236}">
                <a16:creationId xmlns:a16="http://schemas.microsoft.com/office/drawing/2014/main" id="{EB427439-9135-4288-B651-DACA7DF6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B6292F2E-B81D-4575-B844-5C0B4A49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ROADMAP — NEAR TERM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42B59006-1008-4614-BDD2-CB75190F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6802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0212B"/>
                </a:solidFill>
              </a:defRPr>
            </a:pPr>
            <a:r>
              <a:rPr sz="3900" b="1" i="0">
                <a:solidFill>
                  <a:srgbClr val="10212B"/>
                </a:solidFill>
              </a:rPr>
              <a:t>First build the planner’s spine.</a:t>
            </a:r>
          </a:p>
        </p:txBody>
      </p:sp>
      <p:sp>
        <p:nvSpPr>
          <p:cNvPr id="4" name="s7-body">
            <a:extLst xmlns:a="http://schemas.openxmlformats.org/drawingml/2006/main">
              <a:ext uri="{FF2B5EF4-FFF2-40B4-BE49-F238E27FC236}">
                <a16:creationId xmlns:a16="http://schemas.microsoft.com/office/drawing/2014/main" id="{6F12569A-CB1E-41DA-8A1E-30D75A54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10077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The product matures in layers: structured planning first, consequence modeling next, then live evidence.</a:t>
            </a:r>
          </a:p>
        </p:txBody>
      </p:sp>
      <p:sp>
        <p:nvSpPr>
          <p:cNvPr id="5" name="s7-rule">
            <a:extLst xmlns:a="http://schemas.openxmlformats.org/drawingml/2006/main">
              <a:ext uri="{FF2B5EF4-FFF2-40B4-BE49-F238E27FC236}">
                <a16:creationId xmlns:a16="http://schemas.microsoft.com/office/drawing/2014/main" id="{D2AC4C21-F5FB-4AD1-940F-6ABFB984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83"/>
          </a:solidFill>
          <a:ln xmlns:a="http://schemas.openxmlformats.org/drawingml/2006/main" w="0">
            <a:solidFill>
              <a:srgbClr val="0E6B83"/>
            </a:solidFill>
            <a:prstDash val="solid"/>
          </a:ln>
        </p:spPr>
      </p:sp>
      <p:sp>
        <p:nvSpPr>
          <p:cNvPr id="6" name="s7-panel1">
            <a:extLst xmlns:a="http://schemas.openxmlformats.org/drawingml/2006/main">
              <a:ext uri="{FF2B5EF4-FFF2-40B4-BE49-F238E27FC236}">
                <a16:creationId xmlns:a16="http://schemas.microsoft.com/office/drawing/2014/main" id="{6F3E23F2-805F-4590-9D7D-5735F9CE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2240"/>
            <a:ext cx="5435600" cy="457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0F1"/>
          </a:solidFill>
        </p:spPr>
      </p:sp>
      <p:sp>
        <p:nvSpPr>
          <p:cNvPr id="7" name="s7a">
            <a:extLst xmlns:a="http://schemas.openxmlformats.org/drawingml/2006/main">
              <a:ext uri="{FF2B5EF4-FFF2-40B4-BE49-F238E27FC236}">
                <a16:creationId xmlns:a16="http://schemas.microsoft.com/office/drawing/2014/main" id="{DD882572-8D64-43B7-BC6C-A07B7A4F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497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NOW</a:t>
            </a:r>
          </a:p>
        </p:txBody>
      </p:sp>
      <p:sp>
        <p:nvSpPr>
          <p:cNvPr id="8" name="s7-title1">
            <a:extLst xmlns:a="http://schemas.openxmlformats.org/drawingml/2006/main">
              <a:ext uri="{FF2B5EF4-FFF2-40B4-BE49-F238E27FC236}">
                <a16:creationId xmlns:a16="http://schemas.microsoft.com/office/drawing/2014/main" id="{A43A4B6E-81BE-4BAC-961A-D8DBF924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4972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10212B"/>
                </a:solidFill>
              </a:defRPr>
            </a:pPr>
            <a:r>
              <a:rPr sz="2475" b="1" i="0">
                <a:solidFill>
                  <a:srgbClr val="10212B"/>
                </a:solidFill>
              </a:rPr>
              <a:t>1. Digital scheduling model</a:t>
            </a:r>
          </a:p>
        </p:txBody>
      </p:sp>
      <p:sp>
        <p:nvSpPr>
          <p:cNvPr id="9" name="s7-body1">
            <a:extLst xmlns:a="http://schemas.openxmlformats.org/drawingml/2006/main">
              <a:ext uri="{FF2B5EF4-FFF2-40B4-BE49-F238E27FC236}">
                <a16:creationId xmlns:a16="http://schemas.microsoft.com/office/drawing/2014/main" id="{33C97ECE-49F8-4629-B8E2-745F1B04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49720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Replace Excel with structured demand, manual availability, conflicts, approvals, and a published plan.</a:t>
            </a:r>
          </a:p>
        </p:txBody>
      </p:sp>
      <p:sp>
        <p:nvSpPr>
          <p:cNvPr id="10" name="s7-kicker1">
            <a:extLst xmlns:a="http://schemas.openxmlformats.org/drawingml/2006/main">
              <a:ext uri="{FF2B5EF4-FFF2-40B4-BE49-F238E27FC236}">
                <a16:creationId xmlns:a16="http://schemas.microsoft.com/office/drawing/2014/main" id="{C9659D7D-FE1C-42F3-9062-034C5DC7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912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E6B83"/>
                </a:solidFill>
              </a:defRPr>
            </a:pPr>
            <a:r>
              <a:rPr sz="1275" b="1" i="0">
                <a:solidFill>
                  <a:srgbClr val="0E6B83"/>
                </a:solidFill>
              </a:rPr>
              <a:t>USER SEES</a:t>
            </a:r>
          </a:p>
        </p:txBody>
      </p:sp>
      <p:sp>
        <p:nvSpPr>
          <p:cNvPr id="11" name="s7-note1">
            <a:extLst xmlns:a="http://schemas.openxmlformats.org/drawingml/2006/main">
              <a:ext uri="{FF2B5EF4-FFF2-40B4-BE49-F238E27FC236}">
                <a16:creationId xmlns:a16="http://schemas.microsoft.com/office/drawing/2014/main" id="{F3A6E9E9-46D9-4763-B999-D657EE21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960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0E6B83"/>
                </a:solidFill>
              </a:defRPr>
            </a:pPr>
            <a:r>
              <a:rPr sz="1725" b="0" i="0">
                <a:solidFill>
                  <a:srgbClr val="0E6B83"/>
                </a:solidFill>
              </a:rPr>
              <a:t>OGV demand • constraints • approvals</a:t>
            </a:r>
          </a:p>
        </p:txBody>
      </p:sp>
      <p:sp>
        <p:nvSpPr>
          <p:cNvPr id="12" name="s7-maturity1">
            <a:extLst xmlns:a="http://schemas.openxmlformats.org/drawingml/2006/main">
              <a:ext uri="{FF2B5EF4-FFF2-40B4-BE49-F238E27FC236}">
                <a16:creationId xmlns:a16="http://schemas.microsoft.com/office/drawing/2014/main" id="{CDE20D98-90F3-4CE9-95B3-BDAC3A3A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3656D"/>
                </a:solidFill>
              </a:defRPr>
            </a:pPr>
            <a:r>
              <a:rPr sz="1275" b="1" i="0">
                <a:solidFill>
                  <a:srgbClr val="53656D"/>
                </a:solidFill>
              </a:rPr>
              <a:t>PLANNING MATURITY</a:t>
            </a:r>
          </a:p>
        </p:txBody>
      </p:sp>
      <p:sp>
        <p:nvSpPr>
          <p:cNvPr id="13" name="s7-maturity-body1">
            <a:extLst xmlns:a="http://schemas.openxmlformats.org/drawingml/2006/main">
              <a:ext uri="{FF2B5EF4-FFF2-40B4-BE49-F238E27FC236}">
                <a16:creationId xmlns:a16="http://schemas.microsoft.com/office/drawing/2014/main" id="{B03A2E44-5599-433C-BDFF-74C9E5CE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818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0212B"/>
                </a:solidFill>
              </a:defRPr>
            </a:pPr>
            <a:r>
              <a:rPr sz="1725" b="0" i="0">
                <a:solidFill>
                  <a:srgbClr val="10212B"/>
                </a:solidFill>
              </a:rPr>
              <a:t>Manual → governed</a:t>
            </a:r>
          </a:p>
        </p:txBody>
      </p:sp>
      <p:sp>
        <p:nvSpPr>
          <p:cNvPr id="14" name="s7-panel2">
            <a:extLst xmlns:a="http://schemas.openxmlformats.org/drawingml/2006/main">
              <a:ext uri="{FF2B5EF4-FFF2-40B4-BE49-F238E27FC236}">
                <a16:creationId xmlns:a16="http://schemas.microsoft.com/office/drawing/2014/main" id="{C02EC6AE-CC3D-4252-B995-95E7FF77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682240"/>
            <a:ext cx="5435600" cy="457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s7b">
            <a:extLst xmlns:a="http://schemas.openxmlformats.org/drawingml/2006/main">
              <a:ext uri="{FF2B5EF4-FFF2-40B4-BE49-F238E27FC236}">
                <a16:creationId xmlns:a16="http://schemas.microsoft.com/office/drawing/2014/main" id="{D972C9E9-18B9-4406-950F-98F5F409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95600"/>
            <a:ext cx="497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NEXT</a:t>
            </a:r>
          </a:p>
        </p:txBody>
      </p:sp>
      <p:sp>
        <p:nvSpPr>
          <p:cNvPr id="16" name="s7-title2">
            <a:extLst xmlns:a="http://schemas.openxmlformats.org/drawingml/2006/main">
              <a:ext uri="{FF2B5EF4-FFF2-40B4-BE49-F238E27FC236}">
                <a16:creationId xmlns:a16="http://schemas.microsoft.com/office/drawing/2014/main" id="{5645A361-F83D-4249-94EF-857C0465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4972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10212B"/>
                </a:solidFill>
              </a:defRPr>
            </a:pPr>
            <a:r>
              <a:rPr sz="2475" b="1" i="0">
                <a:solidFill>
                  <a:srgbClr val="10212B"/>
                </a:solidFill>
              </a:rPr>
              <a:t>2. Simulation + scenarios</a:t>
            </a:r>
          </a:p>
        </p:txBody>
      </p:sp>
      <p:sp>
        <p:nvSpPr>
          <p:cNvPr id="17" name="s7-body2">
            <a:extLst xmlns:a="http://schemas.openxmlformats.org/drawingml/2006/main">
              <a:ext uri="{FF2B5EF4-FFF2-40B4-BE49-F238E27FC236}">
                <a16:creationId xmlns:a16="http://schemas.microsoft.com/office/drawing/2014/main" id="{4D94A636-916F-4A56-B322-55A89A84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52850"/>
            <a:ext cx="4972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Test delays, outages, and window changes before committing a new version.</a:t>
            </a:r>
          </a:p>
        </p:txBody>
      </p:sp>
      <p:sp>
        <p:nvSpPr>
          <p:cNvPr id="18" name="s7-kicker2">
            <a:extLst xmlns:a="http://schemas.openxmlformats.org/drawingml/2006/main">
              <a:ext uri="{FF2B5EF4-FFF2-40B4-BE49-F238E27FC236}">
                <a16:creationId xmlns:a16="http://schemas.microsoft.com/office/drawing/2014/main" id="{57254823-FC73-4036-A3B5-F021B4CE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7912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F8C73"/>
                </a:solidFill>
              </a:defRPr>
            </a:pPr>
            <a:r>
              <a:rPr sz="1275" b="1" i="0">
                <a:solidFill>
                  <a:srgbClr val="2F8C73"/>
                </a:solidFill>
              </a:rPr>
              <a:t>USER SEES</a:t>
            </a:r>
          </a:p>
        </p:txBody>
      </p:sp>
      <p:sp>
        <p:nvSpPr>
          <p:cNvPr id="19" name="s7-note2">
            <a:extLst xmlns:a="http://schemas.openxmlformats.org/drawingml/2006/main">
              <a:ext uri="{FF2B5EF4-FFF2-40B4-BE49-F238E27FC236}">
                <a16:creationId xmlns:a16="http://schemas.microsoft.com/office/drawing/2014/main" id="{DCDD92C5-E0CD-4C8F-B5D1-8A7E9EC9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0960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2F8C73"/>
                </a:solidFill>
              </a:defRPr>
            </a:pPr>
            <a:r>
              <a:rPr sz="1725" b="0" i="0">
                <a:solidFill>
                  <a:srgbClr val="2F8C73"/>
                </a:solidFill>
              </a:rPr>
              <a:t>Baseline vs revised plan</a:t>
            </a:r>
          </a:p>
        </p:txBody>
      </p:sp>
      <p:sp>
        <p:nvSpPr>
          <p:cNvPr id="20" name="s7-maturity2">
            <a:extLst xmlns:a="http://schemas.openxmlformats.org/drawingml/2006/main">
              <a:ext uri="{FF2B5EF4-FFF2-40B4-BE49-F238E27FC236}">
                <a16:creationId xmlns:a16="http://schemas.microsoft.com/office/drawing/2014/main" id="{D464AD87-1490-4BCF-AF61-551A8159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770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3656D"/>
                </a:solidFill>
              </a:defRPr>
            </a:pPr>
            <a:r>
              <a:rPr sz="1275" b="1" i="0">
                <a:solidFill>
                  <a:srgbClr val="53656D"/>
                </a:solidFill>
              </a:rPr>
              <a:t>PLANNING MATURITY</a:t>
            </a:r>
          </a:p>
        </p:txBody>
      </p:sp>
      <p:sp>
        <p:nvSpPr>
          <p:cNvPr id="21" name="s7-maturity-body2">
            <a:extLst xmlns:a="http://schemas.openxmlformats.org/drawingml/2006/main">
              <a:ext uri="{FF2B5EF4-FFF2-40B4-BE49-F238E27FC236}">
                <a16:creationId xmlns:a16="http://schemas.microsoft.com/office/drawing/2014/main" id="{83452E77-24E3-4ECA-A5C4-ADACC35C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7818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0212B"/>
                </a:solidFill>
              </a:defRPr>
            </a:pPr>
            <a:r>
              <a:rPr sz="1725" b="0" i="0">
                <a:solidFill>
                  <a:srgbClr val="10212B"/>
                </a:solidFill>
              </a:rPr>
              <a:t>Reactive → comparative</a:t>
            </a:r>
          </a:p>
        </p:txBody>
      </p:sp>
      <p:sp>
        <p:nvSpPr>
          <p:cNvPr id="22" name="s7-panel3">
            <a:extLst xmlns:a="http://schemas.openxmlformats.org/drawingml/2006/main">
              <a:ext uri="{FF2B5EF4-FFF2-40B4-BE49-F238E27FC236}">
                <a16:creationId xmlns:a16="http://schemas.microsoft.com/office/drawing/2014/main" id="{68EF2687-02FD-4911-8023-497CD64C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2682240"/>
            <a:ext cx="5435600" cy="457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DFCF"/>
          </a:solidFill>
        </p:spPr>
      </p:sp>
      <p:sp>
        <p:nvSpPr>
          <p:cNvPr id="23" name="s7c">
            <a:extLst xmlns:a="http://schemas.openxmlformats.org/drawingml/2006/main">
              <a:ext uri="{FF2B5EF4-FFF2-40B4-BE49-F238E27FC236}">
                <a16:creationId xmlns:a16="http://schemas.microsoft.com/office/drawing/2014/main" id="{713E7B2A-4D6B-4B2C-B0CD-29127CAC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895600"/>
            <a:ext cx="497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THEN</a:t>
            </a:r>
          </a:p>
        </p:txBody>
      </p:sp>
      <p:sp>
        <p:nvSpPr>
          <p:cNvPr id="24" name="s7-title3">
            <a:extLst xmlns:a="http://schemas.openxmlformats.org/drawingml/2006/main">
              <a:ext uri="{FF2B5EF4-FFF2-40B4-BE49-F238E27FC236}">
                <a16:creationId xmlns:a16="http://schemas.microsoft.com/office/drawing/2014/main" id="{572A4CCB-C9EA-4223-8715-AAF7892C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219450"/>
            <a:ext cx="4972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10212B"/>
                </a:solidFill>
              </a:defRPr>
            </a:pPr>
            <a:r>
              <a:rPr sz="2475" b="1" i="0">
                <a:solidFill>
                  <a:srgbClr val="10212B"/>
                </a:solidFill>
              </a:rPr>
              <a:t>3. GPS / AIS tracking</a:t>
            </a:r>
          </a:p>
        </p:txBody>
      </p:sp>
      <p:sp>
        <p:nvSpPr>
          <p:cNvPr id="25" name="s7-body3">
            <a:extLst xmlns:a="http://schemas.openxmlformats.org/drawingml/2006/main">
              <a:ext uri="{FF2B5EF4-FFF2-40B4-BE49-F238E27FC236}">
                <a16:creationId xmlns:a16="http://schemas.microsoft.com/office/drawing/2014/main" id="{6035997C-EE3E-467F-B453-1B586B83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752850"/>
            <a:ext cx="4972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Connect planned schedules to live movement, geofences, and ETA variance.</a:t>
            </a:r>
          </a:p>
        </p:txBody>
      </p:sp>
      <p:sp>
        <p:nvSpPr>
          <p:cNvPr id="26" name="s7-kicker3">
            <a:extLst xmlns:a="http://schemas.openxmlformats.org/drawingml/2006/main">
              <a:ext uri="{FF2B5EF4-FFF2-40B4-BE49-F238E27FC236}">
                <a16:creationId xmlns:a16="http://schemas.microsoft.com/office/drawing/2014/main" id="{FA9C7F78-6195-4D2A-8D31-A9870DE0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7912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8852C"/>
                </a:solidFill>
              </a:defRPr>
            </a:pPr>
            <a:r>
              <a:rPr sz="1275" b="1" i="0">
                <a:solidFill>
                  <a:srgbClr val="C8852C"/>
                </a:solidFill>
              </a:rPr>
              <a:t>USER SEES</a:t>
            </a:r>
          </a:p>
        </p:txBody>
      </p:sp>
      <p:sp>
        <p:nvSpPr>
          <p:cNvPr id="27" name="s7-note3">
            <a:extLst xmlns:a="http://schemas.openxmlformats.org/drawingml/2006/main">
              <a:ext uri="{FF2B5EF4-FFF2-40B4-BE49-F238E27FC236}">
                <a16:creationId xmlns:a16="http://schemas.microsoft.com/office/drawing/2014/main" id="{F820F742-1FBC-4DCC-8849-2704A6FD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0960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852C"/>
                </a:solidFill>
              </a:defRPr>
            </a:pPr>
            <a:r>
              <a:rPr sz="1725" b="0" i="0">
                <a:solidFill>
                  <a:srgbClr val="C8852C"/>
                </a:solidFill>
              </a:rPr>
              <a:t>Plan vs actual movement</a:t>
            </a:r>
          </a:p>
        </p:txBody>
      </p:sp>
      <p:sp>
        <p:nvSpPr>
          <p:cNvPr id="28" name="s7-maturity3">
            <a:extLst xmlns:a="http://schemas.openxmlformats.org/drawingml/2006/main">
              <a:ext uri="{FF2B5EF4-FFF2-40B4-BE49-F238E27FC236}">
                <a16:creationId xmlns:a16="http://schemas.microsoft.com/office/drawing/2014/main" id="{BCFD7EA8-FCFD-4121-85E3-9189C3DF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4770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53656D"/>
                </a:solidFill>
              </a:defRPr>
            </a:pPr>
            <a:r>
              <a:rPr sz="1275" b="1" i="0">
                <a:solidFill>
                  <a:srgbClr val="53656D"/>
                </a:solidFill>
              </a:rPr>
              <a:t>PLANNING MATURITY</a:t>
            </a:r>
          </a:p>
        </p:txBody>
      </p:sp>
      <p:sp>
        <p:nvSpPr>
          <p:cNvPr id="29" name="s7-maturity-body3">
            <a:extLst xmlns:a="http://schemas.openxmlformats.org/drawingml/2006/main">
              <a:ext uri="{FF2B5EF4-FFF2-40B4-BE49-F238E27FC236}">
                <a16:creationId xmlns:a16="http://schemas.microsoft.com/office/drawing/2014/main" id="{CEF1466C-D7B4-4103-A1C3-0A4838B8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7818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0212B"/>
                </a:solidFill>
              </a:defRPr>
            </a:pPr>
            <a:r>
              <a:rPr sz="1725" b="0" i="0">
                <a:solidFill>
                  <a:srgbClr val="10212B"/>
                </a:solidFill>
              </a:rPr>
              <a:t>Planned → observable</a:t>
            </a:r>
          </a:p>
        </p:txBody>
      </p:sp>
      <p:sp>
        <p:nvSpPr>
          <p:cNvPr id="30" name="s7-bottom-panel">
            <a:extLst xmlns:a="http://schemas.openxmlformats.org/drawingml/2006/main">
              <a:ext uri="{FF2B5EF4-FFF2-40B4-BE49-F238E27FC236}">
                <a16:creationId xmlns:a16="http://schemas.microsoft.com/office/drawing/2014/main" id="{462DEE53-1BAD-40EC-86D5-4A13E733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01890"/>
            <a:ext cx="16802100" cy="617220"/>
          </a:xfrm>
          <a:prstGeom xmlns:a="http://schemas.openxmlformats.org/drawingml/2006/main" prst="roundRect">
            <a:avLst>
              <a:gd name="adj" fmla="val 30864"/>
            </a:avLst>
          </a:prstGeom>
          <a:solidFill xmlns:a="http://schemas.openxmlformats.org/drawingml/2006/main">
            <a:srgbClr val="EAF0F1"/>
          </a:solidFill>
        </p:spPr>
      </p:sp>
      <p:sp>
        <p:nvSpPr>
          <p:cNvPr id="31" name="s7-bottom-note">
            <a:extLst xmlns:a="http://schemas.openxmlformats.org/drawingml/2006/main">
              <a:ext uri="{FF2B5EF4-FFF2-40B4-BE49-F238E27FC236}">
                <a16:creationId xmlns:a16="http://schemas.microsoft.com/office/drawing/2014/main" id="{B52C9AF7-2294-4DA8-8EEC-A112FA8C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677150"/>
            <a:ext cx="16344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0212B"/>
                </a:solidFill>
              </a:defRPr>
            </a:pPr>
            <a:r>
              <a:rPr sz="1800" b="0" i="0">
                <a:solidFill>
                  <a:srgbClr val="10212B"/>
                </a:solidFill>
              </a:rPr>
              <a:t>The current demo sits at the first milestone: the governed planning spine is already visible.</a:t>
            </a:r>
          </a:p>
        </p:txBody>
      </p:sp>
      <p:sp>
        <p:nvSpPr>
          <p:cNvPr id="32" name="spacer-7">
            <a:extLst xmlns:a="http://schemas.openxmlformats.org/drawingml/2006/main">
              <a:ext uri="{FF2B5EF4-FFF2-40B4-BE49-F238E27FC236}">
                <a16:creationId xmlns:a16="http://schemas.microsoft.com/office/drawing/2014/main" id="{7B700906-242C-473C-8163-0A486FB5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82000"/>
            <a:ext cx="1684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33" name="source-7">
            <a:extLst xmlns:a="http://schemas.openxmlformats.org/drawingml/2006/main">
              <a:ext uri="{FF2B5EF4-FFF2-40B4-BE49-F238E27FC236}">
                <a16:creationId xmlns:a16="http://schemas.microsoft.com/office/drawing/2014/main" id="{71B438AB-1229-4A27-B131-70AB5379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44050"/>
            <a:ext cx="16211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3656D"/>
                </a:solidFill>
              </a:defRPr>
            </a:pPr>
            <a:r>
              <a:rPr sz="1050" b="0" i="0">
                <a:solidFill>
                  <a:srgbClr val="53656D"/>
                </a:solidFill>
              </a:rPr>
              <a:t>Source: project roadmap docs.</a:t>
            </a:r>
          </a:p>
        </p:txBody>
      </p:sp>
      <p:sp>
        <p:nvSpPr>
          <p:cNvPr id="34" name="page-7">
            <a:extLst xmlns:a="http://schemas.openxmlformats.org/drawingml/2006/main">
              <a:ext uri="{FF2B5EF4-FFF2-40B4-BE49-F238E27FC236}">
                <a16:creationId xmlns:a16="http://schemas.microsoft.com/office/drawing/2014/main" id="{48983E58-9516-44B9-9CC6-B54AA4B3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9544050"/>
            <a:ext cx="400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E6B83"/>
                </a:solidFill>
              </a:defRPr>
            </a:pPr>
            <a:r>
              <a:rPr sz="1050" b="1" i="0">
                <a:solidFill>
                  <a:srgbClr val="0E6B8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11144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panel-8">
            <a:extLst xmlns:a="http://schemas.openxmlformats.org/drawingml/2006/main">
              <a:ext uri="{FF2B5EF4-FFF2-40B4-BE49-F238E27FC236}">
                <a16:creationId xmlns:a16="http://schemas.microsoft.com/office/drawing/2014/main" id="{0A339E2A-3D70-4C3F-A430-B51E4AAA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6D2DE6D1-CE9E-4FE3-AF3E-AC90CB40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ROADMAP — MATURE PRODUCT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02A1F813-158F-4E37-AFE8-59B4CD9F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6802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0212B"/>
                </a:solidFill>
              </a:defRPr>
            </a:pPr>
            <a:r>
              <a:rPr sz="3900" b="1" i="0">
                <a:solidFill>
                  <a:srgbClr val="10212B"/>
                </a:solidFill>
              </a:rPr>
              <a:t>Then let the field speak back.</a:t>
            </a:r>
          </a:p>
        </p:txBody>
      </p:sp>
      <p:sp>
        <p:nvSpPr>
          <p:cNvPr id="4" name="s8-body">
            <a:extLst xmlns:a="http://schemas.openxmlformats.org/drawingml/2006/main">
              <a:ext uri="{FF2B5EF4-FFF2-40B4-BE49-F238E27FC236}">
                <a16:creationId xmlns:a16="http://schemas.microsoft.com/office/drawing/2014/main" id="{66CE7139-06A7-4DD8-99CE-3FC78444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8724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The mature product does not stop at visibility; it turns trusted events into better decisions.</a:t>
            </a:r>
          </a:p>
        </p:txBody>
      </p:sp>
      <p:sp>
        <p:nvSpPr>
          <p:cNvPr id="5" name="s8-rule">
            <a:extLst xmlns:a="http://schemas.openxmlformats.org/drawingml/2006/main">
              <a:ext uri="{FF2B5EF4-FFF2-40B4-BE49-F238E27FC236}">
                <a16:creationId xmlns:a16="http://schemas.microsoft.com/office/drawing/2014/main" id="{233872A9-8B76-402C-80C7-527193A7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83"/>
          </a:solidFill>
          <a:ln xmlns:a="http://schemas.openxmlformats.org/drawingml/2006/main" w="0">
            <a:solidFill>
              <a:srgbClr val="0E6B83"/>
            </a:solidFill>
            <a:prstDash val="solid"/>
          </a:ln>
        </p:spPr>
      </p:sp>
      <p:sp>
        <p:nvSpPr>
          <p:cNvPr id="6" name="s8-panel1">
            <a:extLst xmlns:a="http://schemas.openxmlformats.org/drawingml/2006/main">
              <a:ext uri="{FF2B5EF4-FFF2-40B4-BE49-F238E27FC236}">
                <a16:creationId xmlns:a16="http://schemas.microsoft.com/office/drawing/2014/main" id="{6897932A-7E19-47DE-991C-237A1B75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2240"/>
            <a:ext cx="5435600" cy="457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7" name="s8a">
            <a:extLst xmlns:a="http://schemas.openxmlformats.org/drawingml/2006/main">
              <a:ext uri="{FF2B5EF4-FFF2-40B4-BE49-F238E27FC236}">
                <a16:creationId xmlns:a16="http://schemas.microsoft.com/office/drawing/2014/main" id="{2752FE5B-C88D-4B47-AE6F-844E9869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497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04</a:t>
            </a:r>
          </a:p>
        </p:txBody>
      </p:sp>
      <p:sp>
        <p:nvSpPr>
          <p:cNvPr id="8" name="s8-title1">
            <a:extLst xmlns:a="http://schemas.openxmlformats.org/drawingml/2006/main">
              <a:ext uri="{FF2B5EF4-FFF2-40B4-BE49-F238E27FC236}">
                <a16:creationId xmlns:a16="http://schemas.microsoft.com/office/drawing/2014/main" id="{98C0867C-CE04-4F85-B4E2-43F02990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4972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10212B"/>
                </a:solidFill>
              </a:defRPr>
            </a:pPr>
            <a:r>
              <a:rPr sz="2475" b="1" i="0">
                <a:solidFill>
                  <a:srgbClr val="10212B"/>
                </a:solidFill>
              </a:rPr>
              <a:t>IoT operations</a:t>
            </a:r>
          </a:p>
        </p:txBody>
      </p:sp>
      <p:sp>
        <p:nvSpPr>
          <p:cNvPr id="9" name="s8-body1">
            <a:extLst xmlns:a="http://schemas.openxmlformats.org/drawingml/2006/main">
              <a:ext uri="{FF2B5EF4-FFF2-40B4-BE49-F238E27FC236}">
                <a16:creationId xmlns:a16="http://schemas.microsoft.com/office/drawing/2014/main" id="{1F9F3F37-A47A-433F-881E-3541D5F5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4972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Jetty events, CTS discharge, device health, edge buffering, and sensor-backed status.</a:t>
            </a:r>
          </a:p>
        </p:txBody>
      </p:sp>
      <p:sp>
        <p:nvSpPr>
          <p:cNvPr id="10" name="s8-kicker1a">
            <a:extLst xmlns:a="http://schemas.openxmlformats.org/drawingml/2006/main">
              <a:ext uri="{FF2B5EF4-FFF2-40B4-BE49-F238E27FC236}">
                <a16:creationId xmlns:a16="http://schemas.microsoft.com/office/drawing/2014/main" id="{EA7063C0-C27F-409B-A2D0-1AAA6769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912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B9654A"/>
                </a:solidFill>
              </a:defRPr>
            </a:pPr>
            <a:r>
              <a:rPr sz="1275" b="1" i="0">
                <a:solidFill>
                  <a:srgbClr val="B9654A"/>
                </a:solidFill>
              </a:rPr>
              <a:t>FROM</a:t>
            </a:r>
          </a:p>
        </p:txBody>
      </p:sp>
      <p:sp>
        <p:nvSpPr>
          <p:cNvPr id="11" name="s8-note1a">
            <a:extLst xmlns:a="http://schemas.openxmlformats.org/drawingml/2006/main">
              <a:ext uri="{FF2B5EF4-FFF2-40B4-BE49-F238E27FC236}">
                <a16:creationId xmlns:a16="http://schemas.microsoft.com/office/drawing/2014/main" id="{5B5C0940-3436-4880-BD43-8FB887A3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960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B9654A"/>
                </a:solidFill>
              </a:defRPr>
            </a:pPr>
            <a:r>
              <a:rPr sz="1725" b="0" i="0">
                <a:solidFill>
                  <a:srgbClr val="B9654A"/>
                </a:solidFill>
              </a:rPr>
              <a:t>Manual status</a:t>
            </a:r>
          </a:p>
        </p:txBody>
      </p:sp>
      <p:sp>
        <p:nvSpPr>
          <p:cNvPr id="12" name="s8-kicker1b">
            <a:extLst xmlns:a="http://schemas.openxmlformats.org/drawingml/2006/main">
              <a:ext uri="{FF2B5EF4-FFF2-40B4-BE49-F238E27FC236}">
                <a16:creationId xmlns:a16="http://schemas.microsoft.com/office/drawing/2014/main" id="{2026F592-ABD8-41B0-8ED8-0AD175A0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E6B83"/>
                </a:solidFill>
              </a:defRPr>
            </a:pPr>
            <a:r>
              <a:rPr sz="1275" b="1" i="0">
                <a:solidFill>
                  <a:srgbClr val="0E6B83"/>
                </a:solidFill>
              </a:rPr>
              <a:t>TO</a:t>
            </a:r>
          </a:p>
        </p:txBody>
      </p:sp>
      <p:sp>
        <p:nvSpPr>
          <p:cNvPr id="13" name="s8-note1b">
            <a:extLst xmlns:a="http://schemas.openxmlformats.org/drawingml/2006/main">
              <a:ext uri="{FF2B5EF4-FFF2-40B4-BE49-F238E27FC236}">
                <a16:creationId xmlns:a16="http://schemas.microsoft.com/office/drawing/2014/main" id="{95E7B495-6D85-4ACF-8B7E-E6C07E69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818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0E6B83"/>
                </a:solidFill>
              </a:defRPr>
            </a:pPr>
            <a:r>
              <a:rPr sz="1725" b="0" i="0">
                <a:solidFill>
                  <a:srgbClr val="0E6B83"/>
                </a:solidFill>
              </a:rPr>
              <a:t>Trusted field events</a:t>
            </a:r>
          </a:p>
        </p:txBody>
      </p:sp>
      <p:sp>
        <p:nvSpPr>
          <p:cNvPr id="14" name="s8-panel2">
            <a:extLst xmlns:a="http://schemas.openxmlformats.org/drawingml/2006/main">
              <a:ext uri="{FF2B5EF4-FFF2-40B4-BE49-F238E27FC236}">
                <a16:creationId xmlns:a16="http://schemas.microsoft.com/office/drawing/2014/main" id="{8206E611-4A3F-4129-AD97-BEF2F2B6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682240"/>
            <a:ext cx="5435600" cy="457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0F1"/>
          </a:solidFill>
        </p:spPr>
      </p:sp>
      <p:sp>
        <p:nvSpPr>
          <p:cNvPr id="15" name="s8b">
            <a:extLst xmlns:a="http://schemas.openxmlformats.org/drawingml/2006/main">
              <a:ext uri="{FF2B5EF4-FFF2-40B4-BE49-F238E27FC236}">
                <a16:creationId xmlns:a16="http://schemas.microsoft.com/office/drawing/2014/main" id="{46F4D4D5-46F6-43FF-835B-9AFACCC4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95600"/>
            <a:ext cx="497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05</a:t>
            </a:r>
          </a:p>
        </p:txBody>
      </p:sp>
      <p:sp>
        <p:nvSpPr>
          <p:cNvPr id="16" name="s8-title2">
            <a:extLst xmlns:a="http://schemas.openxmlformats.org/drawingml/2006/main">
              <a:ext uri="{FF2B5EF4-FFF2-40B4-BE49-F238E27FC236}">
                <a16:creationId xmlns:a16="http://schemas.microsoft.com/office/drawing/2014/main" id="{3F6547AA-07AB-4E4D-8F1E-96EA0EE0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4972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10212B"/>
                </a:solidFill>
              </a:defRPr>
            </a:pPr>
            <a:r>
              <a:rPr sz="2475" b="1" i="0">
                <a:solidFill>
                  <a:srgbClr val="10212B"/>
                </a:solidFill>
              </a:rPr>
              <a:t>Optimization</a:t>
            </a:r>
          </a:p>
        </p:txBody>
      </p:sp>
      <p:sp>
        <p:nvSpPr>
          <p:cNvPr id="17" name="s8-body2">
            <a:extLst xmlns:a="http://schemas.openxmlformats.org/drawingml/2006/main">
              <a:ext uri="{FF2B5EF4-FFF2-40B4-BE49-F238E27FC236}">
                <a16:creationId xmlns:a16="http://schemas.microsoft.com/office/drawing/2014/main" id="{80F4ADB8-9EB5-4DCE-AF41-2F72559F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52850"/>
            <a:ext cx="4972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Recovery recommendations, resequencing, and conflict repair with human approval.</a:t>
            </a:r>
          </a:p>
        </p:txBody>
      </p:sp>
      <p:sp>
        <p:nvSpPr>
          <p:cNvPr id="18" name="s8-kicker2a">
            <a:extLst xmlns:a="http://schemas.openxmlformats.org/drawingml/2006/main">
              <a:ext uri="{FF2B5EF4-FFF2-40B4-BE49-F238E27FC236}">
                <a16:creationId xmlns:a16="http://schemas.microsoft.com/office/drawing/2014/main" id="{D5BB09D9-3253-4553-A5F8-DF1F023E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7912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F8C73"/>
                </a:solidFill>
              </a:defRPr>
            </a:pPr>
            <a:r>
              <a:rPr sz="1275" b="1" i="0">
                <a:solidFill>
                  <a:srgbClr val="2F8C73"/>
                </a:solidFill>
              </a:rPr>
              <a:t>FROM</a:t>
            </a:r>
          </a:p>
        </p:txBody>
      </p:sp>
      <p:sp>
        <p:nvSpPr>
          <p:cNvPr id="19" name="s8-note2a">
            <a:extLst xmlns:a="http://schemas.openxmlformats.org/drawingml/2006/main">
              <a:ext uri="{FF2B5EF4-FFF2-40B4-BE49-F238E27FC236}">
                <a16:creationId xmlns:a16="http://schemas.microsoft.com/office/drawing/2014/main" id="{EF81519A-95DE-4450-ACD3-70F92C48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0960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2F8C73"/>
                </a:solidFill>
              </a:defRPr>
            </a:pPr>
            <a:r>
              <a:rPr sz="1725" b="0" i="0">
                <a:solidFill>
                  <a:srgbClr val="2F8C73"/>
                </a:solidFill>
              </a:rPr>
              <a:t>Scenario outputs</a:t>
            </a:r>
          </a:p>
        </p:txBody>
      </p:sp>
      <p:sp>
        <p:nvSpPr>
          <p:cNvPr id="20" name="s8-kicker2b">
            <a:extLst xmlns:a="http://schemas.openxmlformats.org/drawingml/2006/main">
              <a:ext uri="{FF2B5EF4-FFF2-40B4-BE49-F238E27FC236}">
                <a16:creationId xmlns:a16="http://schemas.microsoft.com/office/drawing/2014/main" id="{E314A3F5-AFB2-4679-BC96-8E13664E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770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E6B83"/>
                </a:solidFill>
              </a:defRPr>
            </a:pPr>
            <a:r>
              <a:rPr sz="1275" b="1" i="0">
                <a:solidFill>
                  <a:srgbClr val="0E6B83"/>
                </a:solidFill>
              </a:rPr>
              <a:t>TO</a:t>
            </a:r>
          </a:p>
        </p:txBody>
      </p:sp>
      <p:sp>
        <p:nvSpPr>
          <p:cNvPr id="21" name="s8-note2b">
            <a:extLst xmlns:a="http://schemas.openxmlformats.org/drawingml/2006/main">
              <a:ext uri="{FF2B5EF4-FFF2-40B4-BE49-F238E27FC236}">
                <a16:creationId xmlns:a16="http://schemas.microsoft.com/office/drawing/2014/main" id="{7DD89829-0F27-43D8-AF72-496DC08C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7818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0E6B83"/>
                </a:solidFill>
              </a:defRPr>
            </a:pPr>
            <a:r>
              <a:rPr sz="1725" b="0" i="0">
                <a:solidFill>
                  <a:srgbClr val="0E6B83"/>
                </a:solidFill>
              </a:rPr>
              <a:t>Recommended action</a:t>
            </a:r>
          </a:p>
        </p:txBody>
      </p:sp>
      <p:sp>
        <p:nvSpPr>
          <p:cNvPr id="22" name="s8-panel3">
            <a:extLst xmlns:a="http://schemas.openxmlformats.org/drawingml/2006/main">
              <a:ext uri="{FF2B5EF4-FFF2-40B4-BE49-F238E27FC236}">
                <a16:creationId xmlns:a16="http://schemas.microsoft.com/office/drawing/2014/main" id="{446D26B1-EF8D-4AFF-B535-60658BB4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2682240"/>
            <a:ext cx="5435600" cy="457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DFCF"/>
          </a:solidFill>
        </p:spPr>
      </p:sp>
      <p:sp>
        <p:nvSpPr>
          <p:cNvPr id="23" name="s8c">
            <a:extLst xmlns:a="http://schemas.openxmlformats.org/drawingml/2006/main">
              <a:ext uri="{FF2B5EF4-FFF2-40B4-BE49-F238E27FC236}">
                <a16:creationId xmlns:a16="http://schemas.microsoft.com/office/drawing/2014/main" id="{539862F6-E5B6-489D-9F33-38683CF8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895600"/>
            <a:ext cx="497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06</a:t>
            </a:r>
          </a:p>
        </p:txBody>
      </p:sp>
      <p:sp>
        <p:nvSpPr>
          <p:cNvPr id="24" name="s8-title3">
            <a:extLst xmlns:a="http://schemas.openxmlformats.org/drawingml/2006/main">
              <a:ext uri="{FF2B5EF4-FFF2-40B4-BE49-F238E27FC236}">
                <a16:creationId xmlns:a16="http://schemas.microsoft.com/office/drawing/2014/main" id="{C82FD8CA-CD34-49EA-B67A-9A0C68A9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219450"/>
            <a:ext cx="4972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10212B"/>
                </a:solidFill>
              </a:defRPr>
            </a:pPr>
            <a:r>
              <a:rPr sz="2475" b="1" i="0">
                <a:solidFill>
                  <a:srgbClr val="10212B"/>
                </a:solidFill>
              </a:rPr>
              <a:t>Control tower</a:t>
            </a:r>
          </a:p>
        </p:txBody>
      </p:sp>
      <p:sp>
        <p:nvSpPr>
          <p:cNvPr id="25" name="s8-body3">
            <a:extLst xmlns:a="http://schemas.openxmlformats.org/drawingml/2006/main">
              <a:ext uri="{FF2B5EF4-FFF2-40B4-BE49-F238E27FC236}">
                <a16:creationId xmlns:a16="http://schemas.microsoft.com/office/drawing/2014/main" id="{68E1EDC0-67FD-4343-A4FB-7A43C62E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752850"/>
            <a:ext cx="4972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Role-based visibility for ABL, Berau, management, and eventually customers.</a:t>
            </a:r>
          </a:p>
        </p:txBody>
      </p:sp>
      <p:sp>
        <p:nvSpPr>
          <p:cNvPr id="26" name="s8-kicker3a">
            <a:extLst xmlns:a="http://schemas.openxmlformats.org/drawingml/2006/main">
              <a:ext uri="{FF2B5EF4-FFF2-40B4-BE49-F238E27FC236}">
                <a16:creationId xmlns:a16="http://schemas.microsoft.com/office/drawing/2014/main" id="{02979319-DA23-457B-B452-EDEAA17A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7912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8852C"/>
                </a:solidFill>
              </a:defRPr>
            </a:pPr>
            <a:r>
              <a:rPr sz="1275" b="1" i="0">
                <a:solidFill>
                  <a:srgbClr val="C8852C"/>
                </a:solidFill>
              </a:rPr>
              <a:t>FROM</a:t>
            </a:r>
          </a:p>
        </p:txBody>
      </p:sp>
      <p:sp>
        <p:nvSpPr>
          <p:cNvPr id="27" name="s8-note3a">
            <a:extLst xmlns:a="http://schemas.openxmlformats.org/drawingml/2006/main">
              <a:ext uri="{FF2B5EF4-FFF2-40B4-BE49-F238E27FC236}">
                <a16:creationId xmlns:a16="http://schemas.microsoft.com/office/drawing/2014/main" id="{57A615E9-45E3-4CF3-B035-22E87154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0960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8852C"/>
                </a:solidFill>
              </a:defRPr>
            </a:pPr>
            <a:r>
              <a:rPr sz="1725" b="0" i="0">
                <a:solidFill>
                  <a:srgbClr val="C8852C"/>
                </a:solidFill>
              </a:rPr>
              <a:t>Shared tool</a:t>
            </a:r>
          </a:p>
        </p:txBody>
      </p:sp>
      <p:sp>
        <p:nvSpPr>
          <p:cNvPr id="28" name="s8-kicker3b">
            <a:extLst xmlns:a="http://schemas.openxmlformats.org/drawingml/2006/main">
              <a:ext uri="{FF2B5EF4-FFF2-40B4-BE49-F238E27FC236}">
                <a16:creationId xmlns:a16="http://schemas.microsoft.com/office/drawing/2014/main" id="{75771E46-7999-4170-8062-4059786A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4770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E6B83"/>
                </a:solidFill>
              </a:defRPr>
            </a:pPr>
            <a:r>
              <a:rPr sz="1275" b="1" i="0">
                <a:solidFill>
                  <a:srgbClr val="0E6B83"/>
                </a:solidFill>
              </a:rPr>
              <a:t>TO</a:t>
            </a:r>
          </a:p>
        </p:txBody>
      </p:sp>
      <p:sp>
        <p:nvSpPr>
          <p:cNvPr id="29" name="s8-note3b">
            <a:extLst xmlns:a="http://schemas.openxmlformats.org/drawingml/2006/main">
              <a:ext uri="{FF2B5EF4-FFF2-40B4-BE49-F238E27FC236}">
                <a16:creationId xmlns:a16="http://schemas.microsoft.com/office/drawing/2014/main" id="{3A0C5917-1663-449B-9DE0-BBF81FFC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7818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0E6B83"/>
                </a:solidFill>
              </a:defRPr>
            </a:pPr>
            <a:r>
              <a:rPr sz="1725" b="0" i="0">
                <a:solidFill>
                  <a:srgbClr val="0E6B83"/>
                </a:solidFill>
              </a:rPr>
              <a:t>Shared operating system</a:t>
            </a:r>
          </a:p>
        </p:txBody>
      </p:sp>
      <p:sp>
        <p:nvSpPr>
          <p:cNvPr id="30" name="s8-bottom-panel">
            <a:extLst xmlns:a="http://schemas.openxmlformats.org/drawingml/2006/main">
              <a:ext uri="{FF2B5EF4-FFF2-40B4-BE49-F238E27FC236}">
                <a16:creationId xmlns:a16="http://schemas.microsoft.com/office/drawing/2014/main" id="{00E6B3CF-6655-47AB-8AAF-17350142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01890"/>
            <a:ext cx="16802100" cy="640080"/>
          </a:xfrm>
          <a:prstGeom xmlns:a="http://schemas.openxmlformats.org/drawingml/2006/main" prst="roundRect">
            <a:avLst>
              <a:gd name="adj" fmla="val 32738"/>
            </a:avLst>
          </a:prstGeom>
          <a:solidFill xmlns:a="http://schemas.openxmlformats.org/drawingml/2006/main">
            <a:srgbClr val="EAF0F1"/>
          </a:solidFill>
        </p:spPr>
      </p:sp>
      <p:sp>
        <p:nvSpPr>
          <p:cNvPr id="31" name="s8-bottom-note">
            <a:extLst xmlns:a="http://schemas.openxmlformats.org/drawingml/2006/main">
              <a:ext uri="{FF2B5EF4-FFF2-40B4-BE49-F238E27FC236}">
                <a16:creationId xmlns:a16="http://schemas.microsoft.com/office/drawing/2014/main" id="{1A65BC66-56B8-4C88-8F01-27F6A35C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677150"/>
            <a:ext cx="16344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0E6B83"/>
                </a:solidFill>
              </a:defRPr>
            </a:pPr>
            <a:r>
              <a:rPr sz="1950" b="0" i="0">
                <a:solidFill>
                  <a:srgbClr val="0E6B83"/>
                </a:solidFill>
              </a:rPr>
              <a:t>Manual inputs → live evidence → trusted events → recommended actions.</a:t>
            </a:r>
          </a:p>
        </p:txBody>
      </p:sp>
      <p:sp>
        <p:nvSpPr>
          <p:cNvPr id="32" name="spacer-8">
            <a:extLst xmlns:a="http://schemas.openxmlformats.org/drawingml/2006/main">
              <a:ext uri="{FF2B5EF4-FFF2-40B4-BE49-F238E27FC236}">
                <a16:creationId xmlns:a16="http://schemas.microsoft.com/office/drawing/2014/main" id="{4C2752A4-B0B8-4446-A1FA-E2C0BD68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82000"/>
            <a:ext cx="1684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33" name="source-8">
            <a:extLst xmlns:a="http://schemas.openxmlformats.org/drawingml/2006/main">
              <a:ext uri="{FF2B5EF4-FFF2-40B4-BE49-F238E27FC236}">
                <a16:creationId xmlns:a16="http://schemas.microsoft.com/office/drawing/2014/main" id="{5457EDB9-0B6A-4CE9-AB5C-8F37DCF9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44050"/>
            <a:ext cx="16211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3656D"/>
                </a:solidFill>
              </a:defRPr>
            </a:pPr>
            <a:r>
              <a:rPr sz="1050" b="0" i="0">
                <a:solidFill>
                  <a:srgbClr val="53656D"/>
                </a:solidFill>
              </a:rPr>
              <a:t>Source: project IoT and roadmap docs.</a:t>
            </a:r>
          </a:p>
        </p:txBody>
      </p:sp>
      <p:sp>
        <p:nvSpPr>
          <p:cNvPr id="34" name="page-8">
            <a:extLst xmlns:a="http://schemas.openxmlformats.org/drawingml/2006/main">
              <a:ext uri="{FF2B5EF4-FFF2-40B4-BE49-F238E27FC236}">
                <a16:creationId xmlns:a16="http://schemas.microsoft.com/office/drawing/2014/main" id="{5DB6A9E9-B4F6-4444-878D-CEEFF506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9544050"/>
            <a:ext cx="400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E6B83"/>
                </a:solidFill>
              </a:defRPr>
            </a:pPr>
            <a:r>
              <a:rPr sz="1050" b="1" i="0">
                <a:solidFill>
                  <a:srgbClr val="0E6B8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884391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panel-9">
            <a:extLst xmlns:a="http://schemas.openxmlformats.org/drawingml/2006/main">
              <a:ext uri="{FF2B5EF4-FFF2-40B4-BE49-F238E27FC236}">
                <a16:creationId xmlns:a16="http://schemas.microsoft.com/office/drawing/2014/main" id="{FED776CC-A170-4EA0-8F62-67549D7D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7E1E8E0A-8D4C-43B1-8623-3575B9EE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E6B83"/>
                </a:solidFill>
              </a:defRPr>
            </a:pPr>
            <a:r>
              <a:rPr sz="1200" b="1" i="0">
                <a:solidFill>
                  <a:srgbClr val="0E6B83"/>
                </a:solidFill>
              </a:rPr>
              <a:t>OPEN QUESTIONS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50AE6B72-8116-4CFB-933A-D76D55BC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28700"/>
            <a:ext cx="16802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0212B"/>
                </a:solidFill>
              </a:defRPr>
            </a:pPr>
            <a:r>
              <a:rPr sz="3900" b="1" i="0">
                <a:solidFill>
                  <a:srgbClr val="10212B"/>
                </a:solidFill>
              </a:rPr>
              <a:t>The minute nuances are where the tool earns trust.</a:t>
            </a:r>
          </a:p>
        </p:txBody>
      </p:sp>
      <p:sp>
        <p:nvSpPr>
          <p:cNvPr id="4" name="s9-body">
            <a:extLst xmlns:a="http://schemas.openxmlformats.org/drawingml/2006/main">
              <a:ext uri="{FF2B5EF4-FFF2-40B4-BE49-F238E27FC236}">
                <a16:creationId xmlns:a16="http://schemas.microsoft.com/office/drawing/2014/main" id="{9EFAEB6D-59A7-47D8-80C7-49597FE5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11696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3656D"/>
                </a:solidFill>
              </a:defRPr>
            </a:pPr>
            <a:r>
              <a:rPr sz="1875" b="0" i="0">
                <a:solidFill>
                  <a:srgbClr val="53656D"/>
                </a:solidFill>
              </a:rPr>
              <a:t>We can build a strong first version from generic operating knowledge. The best version will come from the tacit rules only operators know.</a:t>
            </a:r>
          </a:p>
        </p:txBody>
      </p:sp>
      <p:sp>
        <p:nvSpPr>
          <p:cNvPr id="5" name="s9-rule">
            <a:extLst xmlns:a="http://schemas.openxmlformats.org/drawingml/2006/main">
              <a:ext uri="{FF2B5EF4-FFF2-40B4-BE49-F238E27FC236}">
                <a16:creationId xmlns:a16="http://schemas.microsoft.com/office/drawing/2014/main" id="{3D588B2A-A534-4CA5-828C-4AF38275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83"/>
          </a:solidFill>
          <a:ln xmlns:a="http://schemas.openxmlformats.org/drawingml/2006/main" w="0">
            <a:solidFill>
              <a:srgbClr val="0E6B83"/>
            </a:solidFill>
            <a:prstDash val="solid"/>
          </a:ln>
        </p:spPr>
      </p:sp>
      <p:sp>
        <p:nvSpPr>
          <p:cNvPr id="6" name="s9-panel1">
            <a:extLst xmlns:a="http://schemas.openxmlformats.org/drawingml/2006/main">
              <a:ext uri="{FF2B5EF4-FFF2-40B4-BE49-F238E27FC236}">
                <a16:creationId xmlns:a16="http://schemas.microsoft.com/office/drawing/2014/main" id="{85592CE2-C01E-402B-8E6C-6C0C7EEB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7990"/>
            <a:ext cx="8267700" cy="1663700"/>
          </a:xfrm>
          <a:prstGeom xmlns:a="http://schemas.openxmlformats.org/drawingml/2006/main" prst="roundRect">
            <a:avLst>
              <a:gd name="adj" fmla="val 12595"/>
            </a:avLst>
          </a:prstGeom>
          <a:solidFill xmlns:a="http://schemas.openxmlformats.org/drawingml/2006/main">
            <a:srgbClr val="EAF0F1"/>
          </a:solidFill>
        </p:spPr>
      </p:sp>
      <p:sp>
        <p:nvSpPr>
          <p:cNvPr id="7" name="s9-k1">
            <a:extLst xmlns:a="http://schemas.openxmlformats.org/drawingml/2006/main">
              <a:ext uri="{FF2B5EF4-FFF2-40B4-BE49-F238E27FC236}">
                <a16:creationId xmlns:a16="http://schemas.microsoft.com/office/drawing/2014/main" id="{F6A4A595-CEFF-4B0C-81B7-2B5DA22F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784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E6B83"/>
                </a:solidFill>
              </a:defRPr>
            </a:pPr>
            <a:r>
              <a:rPr sz="1275" b="1" i="0">
                <a:solidFill>
                  <a:srgbClr val="0E6B83"/>
                </a:solidFill>
              </a:rPr>
              <a:t>CONSTRAINTS</a:t>
            </a:r>
          </a:p>
        </p:txBody>
      </p:sp>
      <p:sp>
        <p:nvSpPr>
          <p:cNvPr id="8" name="s9-q1">
            <a:extLst xmlns:a="http://schemas.openxmlformats.org/drawingml/2006/main">
              <a:ext uri="{FF2B5EF4-FFF2-40B4-BE49-F238E27FC236}">
                <a16:creationId xmlns:a16="http://schemas.microsoft.com/office/drawing/2014/main" id="{70391BE7-B3E2-43BE-AA31-1A55E2F1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7848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212B"/>
                </a:solidFill>
              </a:defRPr>
            </a:pPr>
            <a:r>
              <a:rPr sz="2100" b="0" i="0">
                <a:solidFill>
                  <a:srgbClr val="10212B"/>
                </a:solidFill>
              </a:rPr>
              <a:t>Which constraints are truly hard</a:t>
            </a:r>
          </a:p>
          <a:p xmlns:a="http://schemas.openxmlformats.org/drawingml/2006/main">
            <a:pPr>
              <a:defRPr sz="2100" b="0" i="0">
                <a:solidFill>
                  <a:srgbClr val="10212B"/>
                </a:solidFill>
              </a:defRPr>
            </a:pPr>
            <a:r>
              <a:rPr sz="2100" b="0" i="0">
                <a:solidFill>
                  <a:srgbClr val="10212B"/>
                </a:solidFill>
              </a:rPr>
              <a:t>—and which are negotiable in practice?</a:t>
            </a:r>
          </a:p>
        </p:txBody>
      </p:sp>
      <p:sp>
        <p:nvSpPr>
          <p:cNvPr id="9" name="s9-panel2">
            <a:extLst xmlns:a="http://schemas.openxmlformats.org/drawingml/2006/main">
              <a:ext uri="{FF2B5EF4-FFF2-40B4-BE49-F238E27FC236}">
                <a16:creationId xmlns:a16="http://schemas.microsoft.com/office/drawing/2014/main" id="{FE119070-246E-4992-8639-D61C19AA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67990"/>
            <a:ext cx="8267700" cy="1663700"/>
          </a:xfrm>
          <a:prstGeom xmlns:a="http://schemas.openxmlformats.org/drawingml/2006/main" prst="roundRect">
            <a:avLst>
              <a:gd name="adj" fmla="val 1259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s9-k2">
            <a:extLst xmlns:a="http://schemas.openxmlformats.org/drawingml/2006/main">
              <a:ext uri="{FF2B5EF4-FFF2-40B4-BE49-F238E27FC236}">
                <a16:creationId xmlns:a16="http://schemas.microsoft.com/office/drawing/2014/main" id="{89E47BC5-3876-4651-B43E-6BE3A010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62300"/>
            <a:ext cx="784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F8C73"/>
                </a:solidFill>
              </a:defRPr>
            </a:pPr>
            <a:r>
              <a:rPr sz="1275" b="1" i="0">
                <a:solidFill>
                  <a:srgbClr val="2F8C73"/>
                </a:solidFill>
              </a:rPr>
              <a:t>OVERRIDES</a:t>
            </a:r>
          </a:p>
        </p:txBody>
      </p:sp>
      <p:sp>
        <p:nvSpPr>
          <p:cNvPr id="11" name="s9-q2">
            <a:extLst xmlns:a="http://schemas.openxmlformats.org/drawingml/2006/main">
              <a:ext uri="{FF2B5EF4-FFF2-40B4-BE49-F238E27FC236}">
                <a16:creationId xmlns:a16="http://schemas.microsoft.com/office/drawing/2014/main" id="{8C131C0B-6C17-43F2-9215-03E6734D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10000"/>
            <a:ext cx="7848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212B"/>
                </a:solidFill>
              </a:defRPr>
            </a:pPr>
            <a:r>
              <a:rPr sz="2100" b="0" i="0">
                <a:solidFill>
                  <a:srgbClr val="10212B"/>
                </a:solidFill>
              </a:rPr>
              <a:t>What operator overrides recur often enough</a:t>
            </a:r>
          </a:p>
          <a:p xmlns:a="http://schemas.openxmlformats.org/drawingml/2006/main">
            <a:pPr>
              <a:defRPr sz="2100" b="0" i="0">
                <a:solidFill>
                  <a:srgbClr val="10212B"/>
                </a:solidFill>
              </a:defRPr>
            </a:pPr>
            <a:r>
              <a:rPr sz="2100" b="0" i="0">
                <a:solidFill>
                  <a:srgbClr val="10212B"/>
                </a:solidFill>
              </a:rPr>
              <a:t>to become product logic?</a:t>
            </a:r>
          </a:p>
        </p:txBody>
      </p:sp>
      <p:sp>
        <p:nvSpPr>
          <p:cNvPr id="12" name="s9-panel3">
            <a:extLst xmlns:a="http://schemas.openxmlformats.org/drawingml/2006/main">
              <a:ext uri="{FF2B5EF4-FFF2-40B4-BE49-F238E27FC236}">
                <a16:creationId xmlns:a16="http://schemas.microsoft.com/office/drawing/2014/main" id="{AE12F41E-29E1-4B65-973E-E1A5C4A0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3140"/>
            <a:ext cx="8267700" cy="1663700"/>
          </a:xfrm>
          <a:prstGeom xmlns:a="http://schemas.openxmlformats.org/drawingml/2006/main" prst="roundRect">
            <a:avLst>
              <a:gd name="adj" fmla="val 1259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s9-k3">
            <a:extLst xmlns:a="http://schemas.openxmlformats.org/drawingml/2006/main">
              <a:ext uri="{FF2B5EF4-FFF2-40B4-BE49-F238E27FC236}">
                <a16:creationId xmlns:a16="http://schemas.microsoft.com/office/drawing/2014/main" id="{AA6511AC-58F4-4952-B4EC-14D2628C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784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F8C73"/>
                </a:solidFill>
              </a:defRPr>
            </a:pPr>
            <a:r>
              <a:rPr sz="1275" b="1" i="0">
                <a:solidFill>
                  <a:srgbClr val="2F8C73"/>
                </a:solidFill>
              </a:rPr>
              <a:t>EVIDENCE</a:t>
            </a:r>
          </a:p>
        </p:txBody>
      </p:sp>
      <p:sp>
        <p:nvSpPr>
          <p:cNvPr id="14" name="s9-q3">
            <a:extLst xmlns:a="http://schemas.openxmlformats.org/drawingml/2006/main">
              <a:ext uri="{FF2B5EF4-FFF2-40B4-BE49-F238E27FC236}">
                <a16:creationId xmlns:a16="http://schemas.microsoft.com/office/drawing/2014/main" id="{191B580C-70D9-4295-89EB-E2FDA390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7848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212B"/>
                </a:solidFill>
              </a:defRPr>
            </a:pPr>
            <a:r>
              <a:rPr sz="2100" b="0" i="0">
                <a:solidFill>
                  <a:srgbClr val="10212B"/>
                </a:solidFill>
              </a:rPr>
              <a:t>How fresh must AIS / GPS evidence be</a:t>
            </a:r>
          </a:p>
          <a:p xmlns:a="http://schemas.openxmlformats.org/drawingml/2006/main">
            <a:pPr>
              <a:defRPr sz="2100" b="0" i="0">
                <a:solidFill>
                  <a:srgbClr val="10212B"/>
                </a:solidFill>
              </a:defRPr>
            </a:pPr>
            <a:r>
              <a:rPr sz="2100" b="0" i="0">
                <a:solidFill>
                  <a:srgbClr val="10212B"/>
                </a:solidFill>
              </a:rPr>
              <a:t>before dispatch trusts it?</a:t>
            </a:r>
          </a:p>
        </p:txBody>
      </p:sp>
      <p:sp>
        <p:nvSpPr>
          <p:cNvPr id="15" name="s9-panel4">
            <a:extLst xmlns:a="http://schemas.openxmlformats.org/drawingml/2006/main">
              <a:ext uri="{FF2B5EF4-FFF2-40B4-BE49-F238E27FC236}">
                <a16:creationId xmlns:a16="http://schemas.microsoft.com/office/drawing/2014/main" id="{7E46FC54-C0C2-4F41-9C24-EF3044FE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03140"/>
            <a:ext cx="8267700" cy="1663700"/>
          </a:xfrm>
          <a:prstGeom xmlns:a="http://schemas.openxmlformats.org/drawingml/2006/main" prst="roundRect">
            <a:avLst>
              <a:gd name="adj" fmla="val 12595"/>
            </a:avLst>
          </a:prstGeom>
          <a:solidFill xmlns:a="http://schemas.openxmlformats.org/drawingml/2006/main">
            <a:srgbClr val="EADFCF"/>
          </a:solidFill>
        </p:spPr>
      </p:sp>
      <p:sp>
        <p:nvSpPr>
          <p:cNvPr id="16" name="s9-k4">
            <a:extLst xmlns:a="http://schemas.openxmlformats.org/drawingml/2006/main">
              <a:ext uri="{FF2B5EF4-FFF2-40B4-BE49-F238E27FC236}">
                <a16:creationId xmlns:a16="http://schemas.microsoft.com/office/drawing/2014/main" id="{93C6C15E-A1A5-4021-9734-2AE3DBC5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91100"/>
            <a:ext cx="784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8852C"/>
                </a:solidFill>
              </a:defRPr>
            </a:pPr>
            <a:r>
              <a:rPr sz="1275" b="1" i="0">
                <a:solidFill>
                  <a:srgbClr val="C8852C"/>
                </a:solidFill>
              </a:rPr>
              <a:t>SIGNALS</a:t>
            </a:r>
          </a:p>
        </p:txBody>
      </p:sp>
      <p:sp>
        <p:nvSpPr>
          <p:cNvPr id="17" name="s9-q4">
            <a:extLst xmlns:a="http://schemas.openxmlformats.org/drawingml/2006/main">
              <a:ext uri="{FF2B5EF4-FFF2-40B4-BE49-F238E27FC236}">
                <a16:creationId xmlns:a16="http://schemas.microsoft.com/office/drawing/2014/main" id="{DEB60A17-AEE0-4C48-B15E-45C8CCA8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38800"/>
            <a:ext cx="7848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212B"/>
                </a:solidFill>
              </a:defRPr>
            </a:pPr>
            <a:r>
              <a:rPr sz="2100" b="0" i="0">
                <a:solidFill>
                  <a:srgbClr val="10212B"/>
                </a:solidFill>
              </a:rPr>
              <a:t>Which environmental or safety signals</a:t>
            </a:r>
          </a:p>
          <a:p xmlns:a="http://schemas.openxmlformats.org/drawingml/2006/main">
            <a:pPr>
              <a:defRPr sz="2100" b="0" i="0">
                <a:solidFill>
                  <a:srgbClr val="10212B"/>
                </a:solidFill>
              </a:defRPr>
            </a:pPr>
            <a:r>
              <a:rPr sz="2100" b="0" i="0">
                <a:solidFill>
                  <a:srgbClr val="10212B"/>
                </a:solidFill>
              </a:rPr>
              <a:t>change the plan, not just the ETA?</a:t>
            </a:r>
          </a:p>
        </p:txBody>
      </p:sp>
      <p:sp>
        <p:nvSpPr>
          <p:cNvPr id="18" name="s9-panel5">
            <a:extLst xmlns:a="http://schemas.openxmlformats.org/drawingml/2006/main">
              <a:ext uri="{FF2B5EF4-FFF2-40B4-BE49-F238E27FC236}">
                <a16:creationId xmlns:a16="http://schemas.microsoft.com/office/drawing/2014/main" id="{9E8212DC-EC05-406E-836F-621D4FF9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38290"/>
            <a:ext cx="8267700" cy="1663700"/>
          </a:xfrm>
          <a:prstGeom xmlns:a="http://schemas.openxmlformats.org/drawingml/2006/main" prst="roundRect">
            <a:avLst>
              <a:gd name="adj" fmla="val 12595"/>
            </a:avLst>
          </a:prstGeom>
          <a:solidFill xmlns:a="http://schemas.openxmlformats.org/drawingml/2006/main">
            <a:srgbClr val="EADFCF"/>
          </a:solidFill>
        </p:spPr>
      </p:sp>
      <p:sp>
        <p:nvSpPr>
          <p:cNvPr id="19" name="s9-k5">
            <a:extLst xmlns:a="http://schemas.openxmlformats.org/drawingml/2006/main">
              <a:ext uri="{FF2B5EF4-FFF2-40B4-BE49-F238E27FC236}">
                <a16:creationId xmlns:a16="http://schemas.microsoft.com/office/drawing/2014/main" id="{63EE572D-DFBF-4C40-AA7C-8335547E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19900"/>
            <a:ext cx="784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8852C"/>
                </a:solidFill>
              </a:defRPr>
            </a:pPr>
            <a:r>
              <a:rPr sz="1275" b="1" i="0">
                <a:solidFill>
                  <a:srgbClr val="C8852C"/>
                </a:solidFill>
              </a:rPr>
              <a:t>GOVERNANCE</a:t>
            </a:r>
          </a:p>
        </p:txBody>
      </p:sp>
      <p:sp>
        <p:nvSpPr>
          <p:cNvPr id="20" name="s9-q5">
            <a:extLst xmlns:a="http://schemas.openxmlformats.org/drawingml/2006/main">
              <a:ext uri="{FF2B5EF4-FFF2-40B4-BE49-F238E27FC236}">
                <a16:creationId xmlns:a16="http://schemas.microsoft.com/office/drawing/2014/main" id="{0C090A29-F532-487E-A2CB-E7BEECD2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67600"/>
            <a:ext cx="7848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0212B"/>
                </a:solidFill>
              </a:defRPr>
            </a:pPr>
            <a:r>
              <a:rPr sz="2100" b="0" i="0">
                <a:solidFill>
                  <a:srgbClr val="10212B"/>
                </a:solidFill>
              </a:rPr>
              <a:t>Where must human approval remain explicit,</a:t>
            </a:r>
          </a:p>
          <a:p xmlns:a="http://schemas.openxmlformats.org/drawingml/2006/main">
            <a:pPr>
              <a:defRPr sz="2100" b="0" i="0">
                <a:solidFill>
                  <a:srgbClr val="10212B"/>
                </a:solidFill>
              </a:defRPr>
            </a:pPr>
            <a:r>
              <a:rPr sz="2100" b="0" i="0">
                <a:solidFill>
                  <a:srgbClr val="10212B"/>
                </a:solidFill>
              </a:rPr>
              <a:t>even if the system recommends a move?</a:t>
            </a:r>
          </a:p>
        </p:txBody>
      </p:sp>
      <p:sp>
        <p:nvSpPr>
          <p:cNvPr id="21" name="s9-panel6">
            <a:extLst xmlns:a="http://schemas.openxmlformats.org/drawingml/2006/main">
              <a:ext uri="{FF2B5EF4-FFF2-40B4-BE49-F238E27FC236}">
                <a16:creationId xmlns:a16="http://schemas.microsoft.com/office/drawing/2014/main" id="{8B7F88B0-EA41-4069-8A9D-C2C79170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638290"/>
            <a:ext cx="8267700" cy="1663700"/>
          </a:xfrm>
          <a:prstGeom xmlns:a="http://schemas.openxmlformats.org/drawingml/2006/main" prst="roundRect">
            <a:avLst>
              <a:gd name="adj" fmla="val 12595"/>
            </a:avLst>
          </a:prstGeom>
          <a:solidFill xmlns:a="http://schemas.openxmlformats.org/drawingml/2006/main">
            <a:srgbClr val="EAF0F1"/>
          </a:solidFill>
        </p:spPr>
      </p:sp>
      <p:sp>
        <p:nvSpPr>
          <p:cNvPr id="22" name="s9-k6">
            <a:extLst xmlns:a="http://schemas.openxmlformats.org/drawingml/2006/main">
              <a:ext uri="{FF2B5EF4-FFF2-40B4-BE49-F238E27FC236}">
                <a16:creationId xmlns:a16="http://schemas.microsoft.com/office/drawing/2014/main" id="{61C6CEF4-4873-424E-8BD1-C6A1100B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819900"/>
            <a:ext cx="784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E6B83"/>
                </a:solidFill>
              </a:defRPr>
            </a:pPr>
            <a:r>
              <a:rPr sz="1275" b="1" i="0">
                <a:solidFill>
                  <a:srgbClr val="0E6B83"/>
                </a:solidFill>
              </a:rPr>
              <a:t>TRUST</a:t>
            </a:r>
          </a:p>
        </p:txBody>
      </p:sp>
      <p:sp>
        <p:nvSpPr>
          <p:cNvPr id="23" name="s9-q6">
            <a:extLst xmlns:a="http://schemas.openxmlformats.org/drawingml/2006/main">
              <a:ext uri="{FF2B5EF4-FFF2-40B4-BE49-F238E27FC236}">
                <a16:creationId xmlns:a16="http://schemas.microsoft.com/office/drawing/2014/main" id="{1BA36260-EC0D-4102-8C33-6FFA0FD0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467600"/>
            <a:ext cx="7848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0E6B83"/>
                </a:solidFill>
              </a:defRPr>
            </a:pPr>
            <a:r>
              <a:rPr sz="2100" b="0" i="0">
                <a:solidFill>
                  <a:srgbClr val="0E6B83"/>
                </a:solidFill>
              </a:rPr>
              <a:t>What would make this feel indispensable</a:t>
            </a:r>
          </a:p>
          <a:p xmlns:a="http://schemas.openxmlformats.org/drawingml/2006/main">
            <a:pPr>
              <a:defRPr sz="2100" b="0" i="0">
                <a:solidFill>
                  <a:srgbClr val="0E6B83"/>
                </a:solidFill>
              </a:defRPr>
            </a:pPr>
            <a:r>
              <a:rPr sz="2100" b="0" i="0">
                <a:solidFill>
                  <a:srgbClr val="0E6B83"/>
                </a:solidFill>
              </a:rPr>
              <a:t>on a difficult day—not just elegant on a normal one?</a:t>
            </a:r>
          </a:p>
        </p:txBody>
      </p:sp>
      <p:sp>
        <p:nvSpPr>
          <p:cNvPr id="24" name="spacer-9">
            <a:extLst xmlns:a="http://schemas.openxmlformats.org/drawingml/2006/main">
              <a:ext uri="{FF2B5EF4-FFF2-40B4-BE49-F238E27FC236}">
                <a16:creationId xmlns:a16="http://schemas.microsoft.com/office/drawing/2014/main" id="{8CC2EED8-ED75-4033-85A5-40EF71C0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34400"/>
            <a:ext cx="16840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</p:spPr>
      </p:sp>
      <p:sp>
        <p:nvSpPr>
          <p:cNvPr id="25" name="source-9">
            <a:extLst xmlns:a="http://schemas.openxmlformats.org/drawingml/2006/main">
              <a:ext uri="{FF2B5EF4-FFF2-40B4-BE49-F238E27FC236}">
                <a16:creationId xmlns:a16="http://schemas.microsoft.com/office/drawing/2014/main" id="{AAF3D072-BDDB-4034-97CC-FF02508C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44050"/>
            <a:ext cx="16211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53656D"/>
                </a:solidFill>
              </a:defRPr>
            </a:pPr>
            <a:r>
              <a:rPr sz="1050" b="0" i="0">
                <a:solidFill>
                  <a:srgbClr val="53656D"/>
                </a:solidFill>
              </a:rPr>
              <a:t>Source: project assumptions and current build scope.</a:t>
            </a:r>
          </a:p>
        </p:txBody>
      </p:sp>
      <p:sp>
        <p:nvSpPr>
          <p:cNvPr id="26" name="page-9">
            <a:extLst xmlns:a="http://schemas.openxmlformats.org/drawingml/2006/main">
              <a:ext uri="{FF2B5EF4-FFF2-40B4-BE49-F238E27FC236}">
                <a16:creationId xmlns:a16="http://schemas.microsoft.com/office/drawing/2014/main" id="{F7341AFD-4772-4045-B704-EBDC91BC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9544050"/>
            <a:ext cx="400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E6B83"/>
                </a:solidFill>
              </a:defRPr>
            </a:pPr>
            <a:r>
              <a:rPr sz="1050" b="1" i="0">
                <a:solidFill>
                  <a:srgbClr val="0E6B8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33312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2026-05-17T07:53:25.3370000Z</dcterms:created>
  <dcterms:modified xsi:type="dcterms:W3CDTF">2026-05-17T07:53:25.3370000Z</dcterms:modified>
</coreProperties>
</file>